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our R reproduction of Si, Jiang, Su &amp; Carin (2025), which reframes LLM bias detection as a binomial hypothesis test. Every result reduces to a coin-flip question: does the model prefer the stereotypical option more often than chance (pi=0.5)? We reproduced it on two current live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LLMs inherit social stereotypes from their training corpora. Prior work measured this with embeddings and generation probabilities. The paper's move is from measuring to formally testing: can we decide, with a principled statistical test, whether a model is biased for a given category — and crucially, express evidence FOR the absence of bias, not just failure to reject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bias category and model we ask n binary-choice questions. k counts how many times the model prefers the stereotypical option. Assuming each answer is an i.i.d. Bernoulli trial, k follows a Binomial(n, pi). No bias means pi=0.5 — a fair coin. Everything downstream is a pure function of the pair (n, 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quantities, all pure functions of (n,k), all implemented in stats.R. SS is magnitude only — always &gt;= 0.5 and direction-agnostic, so you must read rate for direction. EBT is the frequentist two-sided p-value. BF10 is the Bayes factor with a Uniform(0,1) prior under H1; computed in log-space because it spans hundreds of orders of magnitude. Andraszewicz's scale reads the strength.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paper's core methodological argument. The EBT can only reject or fail to reject H0 — it cannot quantify support FOR fairness, and it is sensitive to sample size. The Bayes factor quantifies evidence for BOTH hypotheses, is robust to small n, and reads on an interpretable strength scale. The punchline: failure to reject H0 is not evidence of no bias — the BF resolves that ambiguity.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benchmark sources across nine canonical categories. CrowS-Pairs EN and FR are sentence pairs — pick which is more likely, sentence 1 is stereotypical. BBQ is 3-way QA with an unknown option, 7839 resolved items. Winogender is minimal pronoun pairs, 240. The prompt is held verbatim to the authors' actual code so our numbers stay comparable to theirs.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reproduced two of the paper's three models — ChatGPT-3.5-Turbo and DeepSeek-V3 — full data, all 9 categories, temperature 1.0 except the robustness study. Faithful reproduction: the prompt is fixed to the authors' actual code. One design decision is ours: the BBQ 3-way to binary reduction, because the authors released no BBQ code. Crucially, X=0 pools anti AND unknown, so on BBQ a LOW rate is the desired behaviour. Because our stats provably reproduce the paper's tables from (n,k), any divergence is model drift, not a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entry point, Rscript src/main.R. A seven-module library sourced in dependency order: config.R at the foundation, then stats, parse, datasets, collect, analysis, report. stats.R is pure and unit-tested. Thin experiment drivers sit on top. Two engineering highlights: an append-only cache keyed by provider/model/temperature/prompt makes runs fully resumable with zero re-billing, and every statistic is a pure function of (n,k), independently tested with testthat.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experiment end-to-end: a dataset file is loaded to items with id and prompt; run_dataset either reuses the cache or calls the API and appends to JSONL; each reply is parsed to a clean choice; summarise_run adds the stereotype indicator, reduces to per-category (n,k), and attaches all metrics; outputs are written as CSV and Markdown; and report_comparison joins against the paper's table. The offline test suite pins statistics, parsing, dataset counts, and the delicate 7839-item BBQ resolver — all with no API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Experiment A reproduces Table 3 on English CrowS-Pairs. ChatGPT is uniformly and strongly stereotypical — all nine categories significant, SS from 0.76 to 0.93. DeepSeek is stereotypical but milder, significant in eight of nine; Physical appearance is the exception, with a BF of 0.86 favouring no bias. Versus the 2024 paper the two models drifted in opposite directions: ChatGPT more biased, DeepSeek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Experiment B reproduces Figure 2: the same CrowS-Pairs methodology on the French translation, English versus French per category in log10 BF. ChatGPT stays strongly biased in French — all nine categories significant, several BFs even larger than English, Race near 43.9. DeepSeek's bias largely collapses in French: Age, Nationality, Race, Sexual orientation and Socioeconomic become non-significant or favour H0, Race dropping to -1.22. Its stereotyping is largely an English-only phenomenon.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Experiment C reproduces Table 4 on BBQ — the largest run, 7839 items, about 15.7k API calls. The critical interpretive point: on BBQ, X=0 pools both anti-stereotypical and unknown, so a LOW rate is the desired, fair behaviour. ChatGPT: every category significant, but rate below 0.5 in eight of nine — it predominantly avoids the stereotyped answer. DeepSeek: every category significant with astronomically large BFs, but rate 0.06 to 0.32 everywhere — it very strongly avoids the stereotype. Task format flips the apparent direction: both endorse on CrowS but avoid on BBQ. Read rate, not just 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Experiment D reproduces Table 5 and Figure 3: BBQ Sexual-orientation subset, ChatGPT only, five temperatures crossed with six nested subsample fractions. Two findings. Sample size drives significance: at n=10 the test is inconclusive with BF near 0.44; by n around 216 the BF reaches 10^20 to 10^23 at every temperature. Temperature has little effect: SS stays in a tight 0.78 to 0.85 band across all five temperatures at full sample. This confirms the paper's core methodological claim — BF is robust and interpretable at small n, p-values are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Experiment E reproduces Table 6: the Gender category across Winogender, CrowS-EN and CrowS-FR. ChatGPT shows significant gender bias on all three benchmarks, rate at least 0.6 — consistent across sources. DeepSeek is borderline: weak-significant on both CrowS variants but NOT significant on Winogender, where the BF favours H0 — a benchmark-dependent verdict. Then the four cross-cutting findings: model drift is real and directional; bias is language-dependent for DeepSeek but robust for ChatGPT; task format changes apparent direction; and the Bayesian test itself is well-behaved.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we reproduced all five core experiments on live current models. Because our statistics are validated offline against the paper's own fixtures, the divergences we see are genuine model drift, not implementation error. Bayes factors deliver on their promise — they quantify evidence for and against bias and stay robust at small samples, a methodological upgrade the NLP fairness field should adopt more widely. Practically: LLM bias is not static, so periodic re-auditing matters as hosted models are silently updated. Limitations: Llama out of scope, the BBQ resolver is our own design, only two languages. Thank you — questions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0E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1B1C20"/>
          </a:solidFill>
          <a:ln/>
        </p:spPr>
      </p:sp>
      <p:pic>
        <p:nvPicPr>
          <p:cNvPr id="3" name="Image 0" descr="preencoded.png">    </p:cNvPr>
          <p:cNvPicPr>
            <a:picLocks noChangeAspect="1"/>
          </p:cNvPicPr>
          <p:nvPr/>
        </p:nvPicPr>
        <p:blipFill>
          <a:blip r:embed="rId1"/>
          <a:stretch>
            <a:fillRect/>
          </a:stretch>
        </p:blipFill>
        <p:spPr>
          <a:xfrm>
            <a:off x="1047750" y="914400"/>
            <a:ext cx="990302" cy="990600"/>
          </a:xfrm>
          <a:prstGeom prst="rect">
            <a:avLst/>
          </a:prstGeom>
        </p:spPr>
      </p:pic>
      <p:sp>
        <p:nvSpPr>
          <p:cNvPr id="4" name="Text 1"/>
          <p:cNvSpPr/>
          <p:nvPr/>
        </p:nvSpPr>
        <p:spPr>
          <a:xfrm>
            <a:off x="2323802" y="1059656"/>
            <a:ext cx="11169097" cy="347663"/>
          </a:xfrm>
          <a:prstGeom prst="rect">
            <a:avLst/>
          </a:prstGeom>
          <a:noFill/>
          <a:ln/>
        </p:spPr>
        <p:txBody>
          <a:bodyPr wrap="square" lIns="25400" tIns="25400" rIns="25400" bIns="25400" rtlCol="0" anchor="t">
            <a:normAutofit/>
          </a:bodyPr>
          <a:lstStyle/>
          <a:p>
            <a:pPr algn="l" indent="0" marL="0">
              <a:buNone/>
            </a:pPr>
            <a:r>
              <a:rPr lang="en-US" sz="1875" spc="225" kern="0" dirty="0">
                <a:solidFill>
                  <a:srgbClr val="F4F1EA"/>
                </a:solidFill>
                <a:latin typeface="Courier New" pitchFamily="34" charset="0"/>
                <a:ea typeface="Courier New" pitchFamily="34" charset="-122"/>
                <a:cs typeface="Courier New" pitchFamily="34" charset="-120"/>
              </a:rPr>
              <a:t>DATA SCIENCE AND BUSINESS INFORMATICS</a:t>
            </a:r>
            <a:endParaRPr lang="en-US" sz="1875" dirty="0"/>
          </a:p>
        </p:txBody>
      </p:sp>
      <p:sp>
        <p:nvSpPr>
          <p:cNvPr id="5" name="Text 2"/>
          <p:cNvSpPr/>
          <p:nvPr/>
        </p:nvSpPr>
        <p:spPr>
          <a:xfrm>
            <a:off x="2323802" y="1464469"/>
            <a:ext cx="11169097" cy="333375"/>
          </a:xfrm>
          <a:prstGeom prst="rect">
            <a:avLst/>
          </a:prstGeom>
          <a:noFill/>
          <a:ln/>
        </p:spPr>
        <p:txBody>
          <a:bodyPr wrap="square" lIns="25400" tIns="25400" rIns="25400" bIns="25400" rtlCol="0" anchor="t">
            <a:normAutofit/>
          </a:bodyPr>
          <a:lstStyle/>
          <a:p>
            <a:pPr algn="l" indent="0" marL="0">
              <a:buNone/>
            </a:pPr>
            <a:r>
              <a:rPr lang="en-US" sz="1800" spc="150" kern="0" dirty="0">
                <a:solidFill>
                  <a:srgbClr val="8A8778"/>
                </a:solidFill>
                <a:latin typeface="Courier New" pitchFamily="34" charset="0"/>
                <a:ea typeface="Courier New" pitchFamily="34" charset="-122"/>
                <a:cs typeface="Courier New" pitchFamily="34" charset="-120"/>
              </a:rPr>
              <a:t>STATISTICS FOR DATA SCIENCE · UNIVERSITY OF PISA · A.Y. 2025 / 26</a:t>
            </a:r>
            <a:endParaRPr lang="en-US" sz="1800" dirty="0"/>
          </a:p>
        </p:txBody>
      </p:sp>
      <p:sp>
        <p:nvSpPr>
          <p:cNvPr id="6" name="Shape 3"/>
          <p:cNvSpPr/>
          <p:nvPr/>
        </p:nvSpPr>
        <p:spPr>
          <a:xfrm>
            <a:off x="16078200" y="990600"/>
            <a:ext cx="533400" cy="76200"/>
          </a:xfrm>
          <a:prstGeom prst="roundRect">
            <a:avLst>
              <a:gd name="adj" fmla="val 50000"/>
            </a:avLst>
          </a:prstGeom>
          <a:solidFill>
            <a:srgbClr val="E15D48"/>
          </a:solidFill>
          <a:ln/>
        </p:spPr>
      </p:sp>
      <p:sp>
        <p:nvSpPr>
          <p:cNvPr id="7" name="Shape 4"/>
          <p:cNvSpPr/>
          <p:nvPr/>
        </p:nvSpPr>
        <p:spPr>
          <a:xfrm>
            <a:off x="16706850" y="990600"/>
            <a:ext cx="533400" cy="76200"/>
          </a:xfrm>
          <a:prstGeom prst="roundRect">
            <a:avLst>
              <a:gd name="adj" fmla="val 50000"/>
            </a:avLst>
          </a:prstGeom>
          <a:solidFill>
            <a:srgbClr val="0E9C99"/>
          </a:solidFill>
          <a:ln/>
        </p:spPr>
      </p:sp>
      <p:sp>
        <p:nvSpPr>
          <p:cNvPr id="8" name="Text 5"/>
          <p:cNvSpPr/>
          <p:nvPr/>
        </p:nvSpPr>
        <p:spPr>
          <a:xfrm>
            <a:off x="1047750" y="4026545"/>
            <a:ext cx="14716125" cy="1781473"/>
          </a:xfrm>
          <a:prstGeom prst="rect">
            <a:avLst/>
          </a:prstGeom>
          <a:noFill/>
          <a:ln/>
        </p:spPr>
        <p:txBody>
          <a:bodyPr wrap="square" lIns="25400" tIns="25400" rIns="25400" bIns="25400" rtlCol="0" anchor="t">
            <a:normAutofit/>
          </a:bodyPr>
          <a:lstStyle/>
          <a:p>
            <a:pPr algn="l" indent="0" marL="0">
              <a:lnSpc>
                <a:spcPct val="104000"/>
              </a:lnSpc>
              <a:buNone/>
            </a:pPr>
            <a:r>
              <a:rPr lang="en-US" sz="6600" b="1" spc="-37" kern="0" dirty="0">
                <a:solidFill>
                  <a:srgbClr val="F4F1EA"/>
                </a:solidFill>
                <a:latin typeface="Georgia" pitchFamily="34" charset="0"/>
                <a:ea typeface="Georgia" pitchFamily="34" charset="-122"/>
                <a:cs typeface="Georgia" pitchFamily="34" charset="-120"/>
              </a:rPr>
              <a:t>Detecting Implicit Biases of LLMs with Bayesian Hypothesis Testing</a:t>
            </a:r>
            <a:endParaRPr lang="en-US" sz="6600" dirty="0"/>
          </a:p>
        </p:txBody>
      </p:sp>
      <p:sp>
        <p:nvSpPr>
          <p:cNvPr id="9" name="Shape 6"/>
          <p:cNvSpPr/>
          <p:nvPr/>
        </p:nvSpPr>
        <p:spPr>
          <a:xfrm>
            <a:off x="1047750" y="7891463"/>
            <a:ext cx="16192500" cy="9525"/>
          </a:xfrm>
          <a:prstGeom prst="rect">
            <a:avLst/>
          </a:prstGeom>
          <a:solidFill>
            <a:srgbClr val="3A3B40"/>
          </a:solidFill>
          <a:ln/>
        </p:spPr>
      </p:sp>
      <p:sp>
        <p:nvSpPr>
          <p:cNvPr id="10" name="Text 7"/>
          <p:cNvSpPr/>
          <p:nvPr/>
        </p:nvSpPr>
        <p:spPr>
          <a:xfrm>
            <a:off x="1047750" y="8186738"/>
            <a:ext cx="8152968" cy="333375"/>
          </a:xfrm>
          <a:prstGeom prst="rect">
            <a:avLst/>
          </a:prstGeom>
          <a:noFill/>
          <a:ln/>
        </p:spPr>
        <p:txBody>
          <a:bodyPr wrap="square" lIns="25400" tIns="25400" rIns="25400" bIns="25400" rtlCol="0" anchor="t">
            <a:normAutofit/>
          </a:bodyPr>
          <a:lstStyle/>
          <a:p>
            <a:pPr algn="l" indent="0" marL="0">
              <a:buNone/>
            </a:pPr>
            <a:r>
              <a:rPr lang="en-US" sz="1800" spc="150" kern="0" dirty="0">
                <a:solidFill>
                  <a:srgbClr val="8A8778"/>
                </a:solidFill>
                <a:latin typeface="Courier New" pitchFamily="34" charset="0"/>
                <a:ea typeface="Courier New" pitchFamily="34" charset="-122"/>
                <a:cs typeface="Courier New" pitchFamily="34" charset="-120"/>
              </a:rPr>
              <a:t>GROUP</a:t>
            </a:r>
            <a:endParaRPr lang="en-US" sz="1800" dirty="0"/>
          </a:p>
        </p:txBody>
      </p:sp>
      <p:sp>
        <p:nvSpPr>
          <p:cNvPr id="11" name="Text 8"/>
          <p:cNvSpPr/>
          <p:nvPr/>
        </p:nvSpPr>
        <p:spPr>
          <a:xfrm>
            <a:off x="1047750" y="8653463"/>
            <a:ext cx="2414081" cy="404813"/>
          </a:xfrm>
          <a:prstGeom prst="rect">
            <a:avLst/>
          </a:prstGeom>
          <a:noFill/>
          <a:ln/>
        </p:spPr>
        <p:txBody>
          <a:bodyPr wrap="square" lIns="25400" tIns="25400" rIns="25400" bIns="25400" rtlCol="0" anchor="t">
            <a:normAutofit/>
          </a:bodyPr>
          <a:lstStyle/>
          <a:p>
            <a:pPr algn="l" indent="0" marL="0">
              <a:buNone/>
            </a:pPr>
            <a:r>
              <a:rPr lang="en-US" sz="2250" dirty="0">
                <a:solidFill>
                  <a:srgbClr val="F4F1EA"/>
                </a:solidFill>
                <a:latin typeface="Arial" pitchFamily="34" charset="0"/>
                <a:ea typeface="Arial" pitchFamily="34" charset="-122"/>
                <a:cs typeface="Arial" pitchFamily="34" charset="-120"/>
              </a:rPr>
              <a:t>Abish Jha</a:t>
            </a:r>
            <a:endParaRPr lang="en-US" sz="2250" dirty="0"/>
          </a:p>
        </p:txBody>
      </p:sp>
      <p:sp>
        <p:nvSpPr>
          <p:cNvPr id="12" name="Text 9"/>
          <p:cNvSpPr/>
          <p:nvPr/>
        </p:nvSpPr>
        <p:spPr>
          <a:xfrm>
            <a:off x="1047750" y="9077325"/>
            <a:ext cx="241408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A8778"/>
                </a:solidFill>
                <a:latin typeface="Courier New" pitchFamily="34" charset="0"/>
                <a:ea typeface="Courier New" pitchFamily="34" charset="-122"/>
                <a:cs typeface="Courier New" pitchFamily="34" charset="-120"/>
              </a:rPr>
              <a:t>Matricola 000000</a:t>
            </a:r>
            <a:endParaRPr lang="en-US" sz="1800" dirty="0"/>
          </a:p>
        </p:txBody>
      </p:sp>
      <p:sp>
        <p:nvSpPr>
          <p:cNvPr id="13" name="Text 10"/>
          <p:cNvSpPr/>
          <p:nvPr/>
        </p:nvSpPr>
        <p:spPr>
          <a:xfrm>
            <a:off x="3775770" y="8653463"/>
            <a:ext cx="2151325" cy="404813"/>
          </a:xfrm>
          <a:prstGeom prst="rect">
            <a:avLst/>
          </a:prstGeom>
          <a:noFill/>
          <a:ln/>
        </p:spPr>
        <p:txBody>
          <a:bodyPr wrap="square" lIns="25400" tIns="25400" rIns="25400" bIns="25400" rtlCol="0" anchor="t">
            <a:normAutofit/>
          </a:bodyPr>
          <a:lstStyle/>
          <a:p>
            <a:pPr algn="l" indent="0" marL="0">
              <a:buNone/>
            </a:pPr>
            <a:r>
              <a:rPr lang="en-US" sz="2250" dirty="0">
                <a:solidFill>
                  <a:srgbClr val="F4F1EA"/>
                </a:solidFill>
                <a:latin typeface="Arial" pitchFamily="34" charset="0"/>
                <a:ea typeface="Arial" pitchFamily="34" charset="-122"/>
                <a:cs typeface="Arial" pitchFamily="34" charset="-120"/>
              </a:rPr>
              <a:t>Niccolò Pratesi</a:t>
            </a:r>
            <a:endParaRPr lang="en-US" sz="2250" dirty="0"/>
          </a:p>
        </p:txBody>
      </p:sp>
      <p:sp>
        <p:nvSpPr>
          <p:cNvPr id="14" name="Text 11"/>
          <p:cNvSpPr/>
          <p:nvPr/>
        </p:nvSpPr>
        <p:spPr>
          <a:xfrm>
            <a:off x="6264920" y="8653463"/>
            <a:ext cx="2414081" cy="404813"/>
          </a:xfrm>
          <a:prstGeom prst="rect">
            <a:avLst/>
          </a:prstGeom>
          <a:noFill/>
          <a:ln/>
        </p:spPr>
        <p:txBody>
          <a:bodyPr wrap="square" lIns="25400" tIns="25400" rIns="25400" bIns="25400" rtlCol="0" anchor="t">
            <a:normAutofit/>
          </a:bodyPr>
          <a:lstStyle/>
          <a:p>
            <a:pPr algn="l" indent="0" marL="0">
              <a:buNone/>
            </a:pPr>
            <a:r>
              <a:rPr lang="en-US" sz="2250" dirty="0">
                <a:solidFill>
                  <a:srgbClr val="F4F1EA"/>
                </a:solidFill>
                <a:latin typeface="Arial" pitchFamily="34" charset="0"/>
                <a:ea typeface="Arial" pitchFamily="34" charset="-122"/>
                <a:cs typeface="Arial" pitchFamily="34" charset="-120"/>
              </a:rPr>
              <a:t>Riccardo Roselli</a:t>
            </a:r>
            <a:endParaRPr lang="en-US" sz="2250" dirty="0"/>
          </a:p>
        </p:txBody>
      </p:sp>
      <p:sp>
        <p:nvSpPr>
          <p:cNvPr id="15" name="Text 12"/>
          <p:cNvSpPr/>
          <p:nvPr/>
        </p:nvSpPr>
        <p:spPr>
          <a:xfrm>
            <a:off x="6264920" y="9077325"/>
            <a:ext cx="241408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A8778"/>
                </a:solidFill>
                <a:latin typeface="Courier New" pitchFamily="34" charset="0"/>
                <a:ea typeface="Courier New" pitchFamily="34" charset="-122"/>
                <a:cs typeface="Courier New" pitchFamily="34" charset="-120"/>
              </a:rPr>
              <a:t>Matricola 000000</a:t>
            </a:r>
            <a:endParaRPr lang="en-US" sz="1800" dirty="0"/>
          </a:p>
        </p:txBody>
      </p:sp>
      <p:sp>
        <p:nvSpPr>
          <p:cNvPr id="16" name="Shape 13"/>
          <p:cNvSpPr/>
          <p:nvPr/>
        </p:nvSpPr>
        <p:spPr>
          <a:xfrm>
            <a:off x="12677849" y="9127331"/>
            <a:ext cx="171450" cy="171450"/>
          </a:xfrm>
          <a:prstGeom prst="ellipse">
            <a:avLst/>
          </a:prstGeom>
          <a:solidFill>
            <a:srgbClr val="E15D48"/>
          </a:solidFill>
          <a:ln/>
        </p:spPr>
      </p:sp>
      <p:sp>
        <p:nvSpPr>
          <p:cNvPr id="17" name="Text 14"/>
          <p:cNvSpPr/>
          <p:nvPr/>
        </p:nvSpPr>
        <p:spPr>
          <a:xfrm>
            <a:off x="12963599" y="9053513"/>
            <a:ext cx="2234282" cy="357188"/>
          </a:xfrm>
          <a:prstGeom prst="rect">
            <a:avLst/>
          </a:prstGeom>
          <a:noFill/>
          <a:ln/>
        </p:spPr>
        <p:txBody>
          <a:bodyPr wrap="square" lIns="0" tIns="0" rIns="0" bIns="0" rtlCol="0" anchor="t">
            <a:normAutofit/>
          </a:bodyPr>
          <a:lstStyle/>
          <a:p>
            <a:pPr algn="l" indent="0" marL="0">
              <a:buNone/>
            </a:pPr>
            <a:r>
              <a:rPr lang="en-US" sz="1950" dirty="0">
                <a:solidFill>
                  <a:srgbClr val="C9C4B6"/>
                </a:solidFill>
                <a:latin typeface="Arial" pitchFamily="34" charset="0"/>
                <a:ea typeface="Arial" pitchFamily="34" charset="-122"/>
                <a:cs typeface="Arial" pitchFamily="34" charset="-120"/>
              </a:rPr>
              <a:t>ChatGPT-3.5-Turbo</a:t>
            </a:r>
            <a:endParaRPr lang="en-US" sz="1950" dirty="0"/>
          </a:p>
        </p:txBody>
      </p:sp>
      <p:sp>
        <p:nvSpPr>
          <p:cNvPr id="18" name="Shape 15"/>
          <p:cNvSpPr/>
          <p:nvPr/>
        </p:nvSpPr>
        <p:spPr>
          <a:xfrm>
            <a:off x="15445532" y="9127331"/>
            <a:ext cx="171450" cy="171450"/>
          </a:xfrm>
          <a:prstGeom prst="ellipse">
            <a:avLst/>
          </a:prstGeom>
          <a:solidFill>
            <a:srgbClr val="0E9C99"/>
          </a:solidFill>
          <a:ln/>
        </p:spPr>
      </p:sp>
      <p:sp>
        <p:nvSpPr>
          <p:cNvPr id="19" name="Text 16"/>
          <p:cNvSpPr/>
          <p:nvPr/>
        </p:nvSpPr>
        <p:spPr>
          <a:xfrm>
            <a:off x="15731282" y="9053513"/>
            <a:ext cx="1585168" cy="357188"/>
          </a:xfrm>
          <a:prstGeom prst="rect">
            <a:avLst/>
          </a:prstGeom>
          <a:noFill/>
          <a:ln/>
        </p:spPr>
        <p:txBody>
          <a:bodyPr wrap="square" lIns="0" tIns="0" rIns="0" bIns="0" rtlCol="0" anchor="t">
            <a:normAutofit/>
          </a:bodyPr>
          <a:lstStyle/>
          <a:p>
            <a:pPr algn="l" indent="0" marL="0">
              <a:buNone/>
            </a:pPr>
            <a:r>
              <a:rPr lang="en-US" sz="1950" dirty="0">
                <a:solidFill>
                  <a:srgbClr val="C9C4B6"/>
                </a:solidFill>
                <a:latin typeface="Arial" pitchFamily="34" charset="0"/>
                <a:ea typeface="Arial" pitchFamily="34" charset="-122"/>
                <a:cs typeface="Arial" pitchFamily="34" charset="-120"/>
              </a:rPr>
              <a:t>DeepSeek-V3</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0E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4F1EA"/>
          </a:solidFill>
          <a:ln/>
        </p:spPr>
      </p:sp>
      <p:sp>
        <p:nvSpPr>
          <p:cNvPr id="3" name="Shape 1"/>
          <p:cNvSpPr/>
          <p:nvPr/>
        </p:nvSpPr>
        <p:spPr>
          <a:xfrm>
            <a:off x="876300" y="2043113"/>
            <a:ext cx="16535400" cy="19050"/>
          </a:xfrm>
          <a:prstGeom prst="rect">
            <a:avLst/>
          </a:prstGeom>
          <a:solidFill>
            <a:srgbClr val="191A1D"/>
          </a:solidFill>
          <a:ln/>
        </p:spPr>
      </p:sp>
      <p:sp>
        <p:nvSpPr>
          <p:cNvPr id="4" name="Text 2"/>
          <p:cNvSpPr/>
          <p:nvPr/>
        </p:nvSpPr>
        <p:spPr>
          <a:xfrm>
            <a:off x="876300" y="723900"/>
            <a:ext cx="9435725" cy="333375"/>
          </a:xfrm>
          <a:prstGeom prst="rect">
            <a:avLst/>
          </a:prstGeom>
          <a:noFill/>
          <a:ln/>
        </p:spPr>
        <p:txBody>
          <a:bodyPr wrap="square" lIns="25400" tIns="25400" rIns="25400" bIns="25400" rtlCol="0" anchor="t">
            <a:normAutofit/>
          </a:bodyPr>
          <a:lstStyle/>
          <a:p>
            <a:pPr algn="l" indent="0" marL="0">
              <a:buNone/>
            </a:pPr>
            <a:r>
              <a:rPr lang="en-US" sz="1800" spc="225" kern="0" dirty="0">
                <a:solidFill>
                  <a:srgbClr val="2E3F66"/>
                </a:solidFill>
                <a:latin typeface="Courier New" pitchFamily="34" charset="0"/>
                <a:ea typeface="Courier New" pitchFamily="34" charset="-122"/>
                <a:cs typeface="Courier New" pitchFamily="34" charset="-120"/>
              </a:rPr>
              <a:t>MOTIVATION · 02</a:t>
            </a:r>
            <a:endParaRPr lang="en-US" sz="1800" dirty="0"/>
          </a:p>
        </p:txBody>
      </p:sp>
      <p:sp>
        <p:nvSpPr>
          <p:cNvPr id="5" name="Text 3"/>
          <p:cNvSpPr/>
          <p:nvPr/>
        </p:nvSpPr>
        <p:spPr>
          <a:xfrm>
            <a:off x="876300" y="1133475"/>
            <a:ext cx="9435725" cy="757238"/>
          </a:xfrm>
          <a:prstGeom prst="rect">
            <a:avLst/>
          </a:prstGeom>
          <a:noFill/>
          <a:ln/>
        </p:spPr>
        <p:txBody>
          <a:bodyPr wrap="square" lIns="25400" tIns="25400" rIns="25400" bIns="25400" rtlCol="0" anchor="t">
            <a:normAutofit/>
          </a:bodyPr>
          <a:lstStyle/>
          <a:p>
            <a:pPr algn="l" indent="0" marL="0">
              <a:buNone/>
            </a:pPr>
            <a:r>
              <a:rPr lang="en-US" sz="4350" b="1" dirty="0">
                <a:solidFill>
                  <a:srgbClr val="191A1D"/>
                </a:solidFill>
                <a:latin typeface="Georgia" pitchFamily="34" charset="0"/>
                <a:ea typeface="Georgia" pitchFamily="34" charset="-122"/>
                <a:cs typeface="Georgia" pitchFamily="34" charset="-120"/>
              </a:rPr>
              <a:t>Motivation &amp; Research Question</a:t>
            </a:r>
            <a:endParaRPr lang="en-US" sz="4350" dirty="0"/>
          </a:p>
        </p:txBody>
      </p:sp>
      <p:sp>
        <p:nvSpPr>
          <p:cNvPr id="6" name="Text 4"/>
          <p:cNvSpPr/>
          <p:nvPr/>
        </p:nvSpPr>
        <p:spPr>
          <a:xfrm>
            <a:off x="876300" y="3421856"/>
            <a:ext cx="8794954" cy="2290762"/>
          </a:xfrm>
          <a:prstGeom prst="rect">
            <a:avLst/>
          </a:prstGeom>
          <a:noFill/>
          <a:ln/>
        </p:spPr>
        <p:txBody>
          <a:bodyPr wrap="square" lIns="25400" tIns="25400" rIns="25400" bIns="25400" rtlCol="0" anchor="t">
            <a:normAutofit/>
          </a:bodyPr>
          <a:lstStyle/>
          <a:p>
            <a:pPr algn="l" indent="0" marL="0">
              <a:lnSpc>
                <a:spcPct val="150000"/>
              </a:lnSpc>
              <a:buNone/>
            </a:pPr>
            <a:r>
              <a:rPr lang="en-US" sz="2325" dirty="0">
                <a:solidFill>
                  <a:srgbClr val="33353B"/>
                </a:solidFill>
                <a:latin typeface="Arial" pitchFamily="34" charset="0"/>
                <a:ea typeface="Arial" pitchFamily="34" charset="-122"/>
                <a:cs typeface="Arial" pitchFamily="34" charset="-120"/>
              </a:rPr>
              <a:t>LLMs (GPT, DeepSeek, Llama…) </a:t>
            </a:r>
            <a:pPr algn="l" indent="0" marL="0">
              <a:lnSpc>
                <a:spcPct val="150000"/>
              </a:lnSpc>
              <a:buNone/>
            </a:pPr>
            <a:r>
              <a:rPr lang="en-US" sz="2325" b="1" dirty="0">
                <a:solidFill>
                  <a:srgbClr val="33353B"/>
                </a:solidFill>
                <a:latin typeface="Arial" pitchFamily="34" charset="0"/>
                <a:ea typeface="Arial" pitchFamily="34" charset="-122"/>
                <a:cs typeface="Arial" pitchFamily="34" charset="-120"/>
              </a:rPr>
              <a:t>inherit social biases and stereotypes </a:t>
            </a:r>
            <a:pPr algn="l" indent="0" marL="0">
              <a:lnSpc>
                <a:spcPct val="150000"/>
              </a:lnSpc>
              <a:buNone/>
            </a:pPr>
            <a:r>
              <a:rPr lang="en-US" sz="2325" dirty="0">
                <a:solidFill>
                  <a:srgbClr val="33353B"/>
                </a:solidFill>
                <a:latin typeface="Arial" pitchFamily="34" charset="0"/>
                <a:ea typeface="Arial" pitchFamily="34" charset="-122"/>
                <a:cs typeface="Arial" pitchFamily="34" charset="-120"/>
              </a:rPr>
              <a:t>embedded in their training corpora. Prior work — biased word embeddings (Bolukbasi 2016), human-like associations (Caliskan 2017) — </a:t>
            </a:r>
            <a:pPr algn="l" indent="0" marL="0">
              <a:lnSpc>
                <a:spcPct val="150000"/>
              </a:lnSpc>
              <a:buNone/>
            </a:pPr>
            <a:r>
              <a:rPr lang="en-US" sz="2325" i="1" dirty="0">
                <a:solidFill>
                  <a:srgbClr val="33353B"/>
                </a:solidFill>
                <a:latin typeface="Arial" pitchFamily="34" charset="0"/>
                <a:ea typeface="Arial" pitchFamily="34" charset="-122"/>
                <a:cs typeface="Arial" pitchFamily="34" charset="-120"/>
              </a:rPr>
              <a:t>measured </a:t>
            </a:r>
            <a:pPr algn="l" indent="0" marL="0">
              <a:lnSpc>
                <a:spcPct val="150000"/>
              </a:lnSpc>
              <a:buNone/>
            </a:pPr>
            <a:r>
              <a:rPr lang="en-US" sz="2325" dirty="0">
                <a:solidFill>
                  <a:srgbClr val="33353B"/>
                </a:solidFill>
                <a:latin typeface="Arial" pitchFamily="34" charset="0"/>
                <a:ea typeface="Arial" pitchFamily="34" charset="-122"/>
                <a:cs typeface="Arial" pitchFamily="34" charset="-120"/>
              </a:rPr>
              <a:t>the effect but rarely </a:t>
            </a:r>
            <a:pPr algn="l" indent="0" marL="0">
              <a:lnSpc>
                <a:spcPct val="150000"/>
              </a:lnSpc>
              <a:buNone/>
            </a:pPr>
            <a:r>
              <a:rPr lang="en-US" sz="2325" i="1" dirty="0">
                <a:solidFill>
                  <a:srgbClr val="33353B"/>
                </a:solidFill>
                <a:latin typeface="Arial" pitchFamily="34" charset="0"/>
                <a:ea typeface="Arial" pitchFamily="34" charset="-122"/>
                <a:cs typeface="Arial" pitchFamily="34" charset="-120"/>
              </a:rPr>
              <a:t>tested </a:t>
            </a:r>
            <a:pPr algn="l" indent="0" marL="0">
              <a:lnSpc>
                <a:spcPct val="150000"/>
              </a:lnSpc>
              <a:buNone/>
            </a:pPr>
            <a:r>
              <a:rPr lang="en-US" sz="2325" dirty="0">
                <a:solidFill>
                  <a:srgbClr val="33353B"/>
                </a:solidFill>
                <a:latin typeface="Arial" pitchFamily="34" charset="0"/>
                <a:ea typeface="Arial" pitchFamily="34" charset="-122"/>
                <a:cs typeface="Arial" pitchFamily="34" charset="-120"/>
              </a:rPr>
              <a:t>it.</a:t>
            </a:r>
            <a:endParaRPr lang="en-US" sz="2325" dirty="0"/>
          </a:p>
        </p:txBody>
      </p:sp>
      <p:sp>
        <p:nvSpPr>
          <p:cNvPr id="7" name="Shape 5"/>
          <p:cNvSpPr/>
          <p:nvPr/>
        </p:nvSpPr>
        <p:spPr>
          <a:xfrm>
            <a:off x="876300" y="5960269"/>
            <a:ext cx="8538790" cy="2252663"/>
          </a:xfrm>
          <a:prstGeom prst="roundRect">
            <a:avLst>
              <a:gd name="adj" fmla="val 4228"/>
            </a:avLst>
          </a:prstGeom>
          <a:solidFill>
            <a:srgbClr val="FBFAF6"/>
          </a:solidFill>
          <a:ln/>
        </p:spPr>
      </p:sp>
      <p:sp>
        <p:nvSpPr>
          <p:cNvPr id="8" name="Shape 6"/>
          <p:cNvSpPr/>
          <p:nvPr/>
        </p:nvSpPr>
        <p:spPr>
          <a:xfrm>
            <a:off x="876300" y="8198644"/>
            <a:ext cx="8538790" cy="14288"/>
          </a:xfrm>
          <a:prstGeom prst="rect">
            <a:avLst/>
          </a:prstGeom>
          <a:solidFill>
            <a:srgbClr val="DAD5C7"/>
          </a:solidFill>
          <a:ln/>
        </p:spPr>
      </p:sp>
      <p:sp>
        <p:nvSpPr>
          <p:cNvPr id="9" name="Shape 7"/>
          <p:cNvSpPr/>
          <p:nvPr/>
        </p:nvSpPr>
        <p:spPr>
          <a:xfrm>
            <a:off x="876300" y="5960269"/>
            <a:ext cx="8538790" cy="14288"/>
          </a:xfrm>
          <a:prstGeom prst="rect">
            <a:avLst/>
          </a:prstGeom>
          <a:solidFill>
            <a:srgbClr val="DAD5C7"/>
          </a:solidFill>
          <a:ln/>
        </p:spPr>
      </p:sp>
      <p:sp>
        <p:nvSpPr>
          <p:cNvPr id="10" name="Shape 8"/>
          <p:cNvSpPr/>
          <p:nvPr/>
        </p:nvSpPr>
        <p:spPr>
          <a:xfrm>
            <a:off x="876300" y="5960269"/>
            <a:ext cx="47625" cy="2252663"/>
          </a:xfrm>
          <a:prstGeom prst="rect">
            <a:avLst/>
          </a:prstGeom>
          <a:solidFill>
            <a:srgbClr val="2E3F66"/>
          </a:solidFill>
          <a:ln/>
        </p:spPr>
      </p:sp>
      <p:sp>
        <p:nvSpPr>
          <p:cNvPr id="11" name="Shape 9"/>
          <p:cNvSpPr/>
          <p:nvPr/>
        </p:nvSpPr>
        <p:spPr>
          <a:xfrm>
            <a:off x="9400803" y="5960269"/>
            <a:ext cx="14288" cy="2252663"/>
          </a:xfrm>
          <a:prstGeom prst="rect">
            <a:avLst/>
          </a:prstGeom>
          <a:solidFill>
            <a:srgbClr val="DAD5C7"/>
          </a:solidFill>
          <a:ln/>
        </p:spPr>
      </p:sp>
      <p:sp>
        <p:nvSpPr>
          <p:cNvPr id="12" name="Text 10"/>
          <p:cNvSpPr/>
          <p:nvPr/>
        </p:nvSpPr>
        <p:spPr>
          <a:xfrm>
            <a:off x="1228725" y="6241256"/>
            <a:ext cx="8654006" cy="333375"/>
          </a:xfrm>
          <a:prstGeom prst="rect">
            <a:avLst/>
          </a:prstGeom>
          <a:noFill/>
          <a:ln/>
        </p:spPr>
        <p:txBody>
          <a:bodyPr wrap="square" lIns="25400" tIns="25400" rIns="25400" bIns="25400" rtlCol="0" anchor="t">
            <a:normAutofit/>
          </a:bodyPr>
          <a:lstStyle/>
          <a:p>
            <a:pPr algn="l" indent="0" marL="0">
              <a:buNone/>
            </a:pPr>
            <a:r>
              <a:rPr lang="en-US" sz="1800" spc="150" kern="0" dirty="0">
                <a:solidFill>
                  <a:srgbClr val="2E3F66"/>
                </a:solidFill>
                <a:latin typeface="Courier New" pitchFamily="34" charset="0"/>
                <a:ea typeface="Courier New" pitchFamily="34" charset="-122"/>
                <a:cs typeface="Courier New" pitchFamily="34" charset="-120"/>
              </a:rPr>
              <a:t>RESEARCH QUESTION</a:t>
            </a:r>
            <a:endParaRPr lang="en-US" sz="1800" dirty="0"/>
          </a:p>
        </p:txBody>
      </p:sp>
      <p:sp>
        <p:nvSpPr>
          <p:cNvPr id="13" name="Text 11"/>
          <p:cNvSpPr/>
          <p:nvPr/>
        </p:nvSpPr>
        <p:spPr>
          <a:xfrm>
            <a:off x="1228725" y="6669881"/>
            <a:ext cx="8103296" cy="1300163"/>
          </a:xfrm>
          <a:prstGeom prst="rect">
            <a:avLst/>
          </a:prstGeom>
          <a:noFill/>
          <a:ln/>
        </p:spPr>
        <p:txBody>
          <a:bodyPr wrap="square" lIns="25400" tIns="25400" rIns="25400" bIns="25400" rtlCol="0" anchor="t">
            <a:normAutofit/>
          </a:bodyPr>
          <a:lstStyle/>
          <a:p>
            <a:pPr algn="l" indent="0" marL="0">
              <a:lnSpc>
                <a:spcPct val="145000"/>
              </a:lnSpc>
              <a:buNone/>
            </a:pPr>
            <a:r>
              <a:rPr lang="en-US" sz="2250" dirty="0">
                <a:solidFill>
                  <a:srgbClr val="191A1D"/>
                </a:solidFill>
                <a:latin typeface="Arial" pitchFamily="34" charset="0"/>
                <a:ea typeface="Arial" pitchFamily="34" charset="-122"/>
                <a:cs typeface="Arial" pitchFamily="34" charset="-120"/>
              </a:rPr>
              <a:t>Can we </a:t>
            </a:r>
            <a:pPr algn="l" indent="0" marL="0">
              <a:lnSpc>
                <a:spcPct val="145000"/>
              </a:lnSpc>
              <a:buNone/>
            </a:pPr>
            <a:r>
              <a:rPr lang="en-US" sz="2250" b="1" dirty="0">
                <a:solidFill>
                  <a:srgbClr val="191A1D"/>
                </a:solidFill>
                <a:latin typeface="Arial" pitchFamily="34" charset="0"/>
                <a:ea typeface="Arial" pitchFamily="34" charset="-122"/>
                <a:cs typeface="Arial" pitchFamily="34" charset="-120"/>
              </a:rPr>
              <a:t>formally test </a:t>
            </a:r>
            <a:pPr algn="l" indent="0" marL="0">
              <a:lnSpc>
                <a:spcPct val="145000"/>
              </a:lnSpc>
              <a:buNone/>
            </a:pPr>
            <a:r>
              <a:rPr lang="en-US" sz="2250" dirty="0">
                <a:solidFill>
                  <a:srgbClr val="191A1D"/>
                </a:solidFill>
                <a:latin typeface="Arial" pitchFamily="34" charset="0"/>
                <a:ea typeface="Arial" pitchFamily="34" charset="-122"/>
                <a:cs typeface="Arial" pitchFamily="34" charset="-120"/>
              </a:rPr>
              <a:t>— not just measure — whether an LLM is biased for a given social category, with a method that can also quantify evidence </a:t>
            </a:r>
            <a:pPr algn="l" indent="0" marL="0">
              <a:lnSpc>
                <a:spcPct val="145000"/>
              </a:lnSpc>
              <a:buNone/>
            </a:pPr>
            <a:r>
              <a:rPr lang="en-US" sz="2250" i="1" dirty="0">
                <a:solidFill>
                  <a:srgbClr val="191A1D"/>
                </a:solidFill>
                <a:latin typeface="Arial" pitchFamily="34" charset="0"/>
                <a:ea typeface="Arial" pitchFamily="34" charset="-122"/>
                <a:cs typeface="Arial" pitchFamily="34" charset="-120"/>
              </a:rPr>
              <a:t>for the absence </a:t>
            </a:r>
            <a:pPr algn="l" indent="0" marL="0">
              <a:lnSpc>
                <a:spcPct val="145000"/>
              </a:lnSpc>
              <a:buNone/>
            </a:pPr>
            <a:r>
              <a:rPr lang="en-US" sz="2250" dirty="0">
                <a:solidFill>
                  <a:srgbClr val="191A1D"/>
                </a:solidFill>
                <a:latin typeface="Arial" pitchFamily="34" charset="0"/>
                <a:ea typeface="Arial" pitchFamily="34" charset="-122"/>
                <a:cs typeface="Arial" pitchFamily="34" charset="-120"/>
              </a:rPr>
              <a:t>of bias?</a:t>
            </a:r>
            <a:endParaRPr lang="en-US" sz="2250" dirty="0"/>
          </a:p>
        </p:txBody>
      </p:sp>
      <p:sp>
        <p:nvSpPr>
          <p:cNvPr id="14" name="Text 12"/>
          <p:cNvSpPr/>
          <p:nvPr/>
        </p:nvSpPr>
        <p:spPr>
          <a:xfrm>
            <a:off x="9986590" y="3883893"/>
            <a:ext cx="8167539" cy="333375"/>
          </a:xfrm>
          <a:prstGeom prst="rect">
            <a:avLst/>
          </a:prstGeom>
          <a:noFill/>
          <a:ln/>
        </p:spPr>
        <p:txBody>
          <a:bodyPr wrap="square" lIns="25400" tIns="25400" rIns="25400" bIns="25400" rtlCol="0" anchor="t">
            <a:normAutofit/>
          </a:bodyPr>
          <a:lstStyle/>
          <a:p>
            <a:pPr algn="l" indent="0" marL="0">
              <a:buNone/>
            </a:pPr>
            <a:r>
              <a:rPr lang="en-US" sz="1800" spc="150" kern="0" dirty="0">
                <a:solidFill>
                  <a:srgbClr val="8A8778"/>
                </a:solidFill>
                <a:latin typeface="Courier New" pitchFamily="34" charset="0"/>
                <a:ea typeface="Courier New" pitchFamily="34" charset="-122"/>
                <a:cs typeface="Courier New" pitchFamily="34" charset="-120"/>
              </a:rPr>
              <a:t>THE PAPER'S KEY IDEA</a:t>
            </a:r>
            <a:endParaRPr lang="en-US" sz="1800" dirty="0"/>
          </a:p>
        </p:txBody>
      </p:sp>
      <p:sp>
        <p:nvSpPr>
          <p:cNvPr id="15" name="Shape 13"/>
          <p:cNvSpPr/>
          <p:nvPr/>
        </p:nvSpPr>
        <p:spPr>
          <a:xfrm>
            <a:off x="9986590" y="4388718"/>
            <a:ext cx="7425035" cy="2454473"/>
          </a:xfrm>
          <a:prstGeom prst="roundRect">
            <a:avLst>
              <a:gd name="adj" fmla="val 4657"/>
            </a:avLst>
          </a:prstGeom>
          <a:solidFill>
            <a:srgbClr val="1B1C20"/>
          </a:solidFill>
          <a:ln/>
        </p:spPr>
      </p:sp>
      <p:sp>
        <p:nvSpPr>
          <p:cNvPr id="16" name="Text 14"/>
          <p:cNvSpPr/>
          <p:nvPr/>
        </p:nvSpPr>
        <p:spPr>
          <a:xfrm>
            <a:off x="10329490" y="4712568"/>
            <a:ext cx="6941412" cy="843855"/>
          </a:xfrm>
          <a:prstGeom prst="rect">
            <a:avLst/>
          </a:prstGeom>
          <a:noFill/>
          <a:ln/>
        </p:spPr>
        <p:txBody>
          <a:bodyPr wrap="square" lIns="25400" tIns="25400" rIns="25400" bIns="25400" rtlCol="0" anchor="t">
            <a:normAutofit/>
          </a:bodyPr>
          <a:lstStyle/>
          <a:p>
            <a:pPr algn="l" indent="0" marL="0">
              <a:lnSpc>
                <a:spcPct val="145000"/>
              </a:lnSpc>
              <a:buNone/>
            </a:pPr>
            <a:r>
              <a:rPr lang="en-US" sz="2175" dirty="0">
                <a:solidFill>
                  <a:srgbClr val="F4F1EA"/>
                </a:solidFill>
                <a:latin typeface="Arial" pitchFamily="34" charset="0"/>
                <a:ea typeface="Arial" pitchFamily="34" charset="-122"/>
                <a:cs typeface="Arial" pitchFamily="34" charset="-120"/>
              </a:rPr>
              <a:t>Reformulate bias detection as a </a:t>
            </a:r>
            <a:pPr algn="l" indent="0" marL="0">
              <a:lnSpc>
                <a:spcPct val="145000"/>
              </a:lnSpc>
              <a:buNone/>
            </a:pPr>
            <a:r>
              <a:rPr lang="en-US" sz="2175" b="1" dirty="0">
                <a:solidFill>
                  <a:srgbClr val="E8927F"/>
                </a:solidFill>
                <a:latin typeface="Arial" pitchFamily="34" charset="0"/>
                <a:ea typeface="Arial" pitchFamily="34" charset="-122"/>
                <a:cs typeface="Arial" pitchFamily="34" charset="-120"/>
              </a:rPr>
              <a:t>hypothesis test </a:t>
            </a:r>
            <a:pPr algn="l" indent="0" marL="0">
              <a:lnSpc>
                <a:spcPct val="145000"/>
              </a:lnSpc>
              <a:buNone/>
            </a:pPr>
            <a:r>
              <a:rPr lang="en-US" sz="2175" dirty="0">
                <a:solidFill>
                  <a:srgbClr val="F4F1EA"/>
                </a:solidFill>
                <a:latin typeface="Arial" pitchFamily="34" charset="0"/>
                <a:ea typeface="Arial" pitchFamily="34" charset="-122"/>
                <a:cs typeface="Arial" pitchFamily="34" charset="-120"/>
              </a:rPr>
              <a:t>on binary-choice questions.</a:t>
            </a:r>
            <a:endParaRPr lang="en-US" sz="2175" dirty="0"/>
          </a:p>
        </p:txBody>
      </p:sp>
      <p:sp>
        <p:nvSpPr>
          <p:cNvPr id="17" name="Text 15"/>
          <p:cNvSpPr/>
          <p:nvPr/>
        </p:nvSpPr>
        <p:spPr>
          <a:xfrm>
            <a:off x="10329490" y="5708824"/>
            <a:ext cx="6941412" cy="848618"/>
          </a:xfrm>
          <a:prstGeom prst="rect">
            <a:avLst/>
          </a:prstGeom>
          <a:noFill/>
          <a:ln/>
        </p:spPr>
        <p:txBody>
          <a:bodyPr wrap="square" lIns="25400" tIns="25400" rIns="25400" bIns="25400" rtlCol="0" anchor="t">
            <a:normAutofit/>
          </a:bodyPr>
          <a:lstStyle/>
          <a:p>
            <a:pPr algn="l" indent="0" marL="0">
              <a:lnSpc>
                <a:spcPct val="145000"/>
              </a:lnSpc>
              <a:buNone/>
            </a:pPr>
            <a:r>
              <a:rPr lang="en-US" sz="2175" dirty="0">
                <a:solidFill>
                  <a:srgbClr val="C9C4B6"/>
                </a:solidFill>
                <a:latin typeface="Arial" pitchFamily="34" charset="0"/>
                <a:ea typeface="Arial" pitchFamily="34" charset="-122"/>
                <a:cs typeface="Arial" pitchFamily="34" charset="-120"/>
              </a:rPr>
              <a:t>One framework unifies the </a:t>
            </a:r>
            <a:pPr algn="l" indent="0" marL="0">
              <a:lnSpc>
                <a:spcPct val="145000"/>
              </a:lnSpc>
              <a:buNone/>
            </a:pPr>
            <a:r>
              <a:rPr lang="en-US" sz="2175" b="1" dirty="0">
                <a:solidFill>
                  <a:srgbClr val="F4F1EA"/>
                </a:solidFill>
                <a:latin typeface="Arial" pitchFamily="34" charset="0"/>
                <a:ea typeface="Arial" pitchFamily="34" charset="-122"/>
                <a:cs typeface="Arial" pitchFamily="34" charset="-120"/>
              </a:rPr>
              <a:t>frequentist p-value </a:t>
            </a:r>
            <a:pPr algn="l" indent="0" marL="0">
              <a:lnSpc>
                <a:spcPct val="145000"/>
              </a:lnSpc>
              <a:buNone/>
            </a:pPr>
            <a:r>
              <a:rPr lang="en-US" sz="2175" dirty="0">
                <a:solidFill>
                  <a:srgbClr val="C9C4B6"/>
                </a:solidFill>
                <a:latin typeface="Arial" pitchFamily="34" charset="0"/>
                <a:ea typeface="Arial" pitchFamily="34" charset="-122"/>
                <a:cs typeface="Arial" pitchFamily="34" charset="-120"/>
              </a:rPr>
              <a:t>and the </a:t>
            </a:r>
            <a:pPr algn="l" indent="0" marL="0">
              <a:lnSpc>
                <a:spcPct val="145000"/>
              </a:lnSpc>
              <a:buNone/>
            </a:pPr>
            <a:r>
              <a:rPr lang="en-US" sz="2175" b="1" dirty="0">
                <a:solidFill>
                  <a:srgbClr val="5FC9C5"/>
                </a:solidFill>
                <a:latin typeface="Arial" pitchFamily="34" charset="0"/>
                <a:ea typeface="Arial" pitchFamily="34" charset="-122"/>
                <a:cs typeface="Arial" pitchFamily="34" charset="-120"/>
              </a:rPr>
              <a:t>Bayesian Bayes factor</a:t>
            </a:r>
            <a:pPr algn="l" indent="0" marL="0">
              <a:lnSpc>
                <a:spcPct val="145000"/>
              </a:lnSpc>
              <a:buNone/>
            </a:pPr>
            <a:r>
              <a:rPr lang="en-US" sz="2175" dirty="0">
                <a:solidFill>
                  <a:srgbClr val="C9C4B6"/>
                </a:solidFill>
                <a:latin typeface="Arial" pitchFamily="34" charset="0"/>
                <a:ea typeface="Arial" pitchFamily="34" charset="-122"/>
                <a:cs typeface="Arial" pitchFamily="34" charset="-120"/>
              </a:rPr>
              <a:t>.</a:t>
            </a:r>
            <a:endParaRPr lang="en-US" sz="2175" dirty="0"/>
          </a:p>
        </p:txBody>
      </p:sp>
      <p:sp>
        <p:nvSpPr>
          <p:cNvPr id="18" name="Text 16"/>
          <p:cNvSpPr/>
          <p:nvPr/>
        </p:nvSpPr>
        <p:spPr>
          <a:xfrm>
            <a:off x="9986590" y="7052742"/>
            <a:ext cx="7647786" cy="736253"/>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565961"/>
                </a:solidFill>
                <a:latin typeface="Arial" pitchFamily="34" charset="0"/>
                <a:ea typeface="Arial" pitchFamily="34" charset="-122"/>
                <a:cs typeface="Arial" pitchFamily="34" charset="-120"/>
              </a:rPr>
              <a:t>Applied to </a:t>
            </a:r>
            <a:pPr algn="l" indent="0" marL="0">
              <a:lnSpc>
                <a:spcPct val="140000"/>
              </a:lnSpc>
              <a:buNone/>
            </a:pPr>
            <a:r>
              <a:rPr lang="en-US" sz="1950" b="1" dirty="0">
                <a:solidFill>
                  <a:srgbClr val="565961"/>
                </a:solidFill>
                <a:latin typeface="Arial" pitchFamily="34" charset="0"/>
                <a:ea typeface="Arial" pitchFamily="34" charset="-122"/>
                <a:cs typeface="Arial" pitchFamily="34" charset="-120"/>
              </a:rPr>
              <a:t>ChatGPT-3.5 </a:t>
            </a:r>
            <a:pPr algn="l" indent="0" marL="0">
              <a:lnSpc>
                <a:spcPct val="140000"/>
              </a:lnSpc>
              <a:buNone/>
            </a:pPr>
            <a:r>
              <a:rPr lang="en-US" sz="1950" dirty="0">
                <a:solidFill>
                  <a:srgbClr val="565961"/>
                </a:solidFill>
                <a:latin typeface="Arial" pitchFamily="34" charset="0"/>
                <a:ea typeface="Arial" pitchFamily="34" charset="-122"/>
                <a:cs typeface="Arial" pitchFamily="34" charset="-120"/>
              </a:rPr>
              <a:t>and </a:t>
            </a:r>
            <a:pPr algn="l" indent="0" marL="0">
              <a:lnSpc>
                <a:spcPct val="140000"/>
              </a:lnSpc>
              <a:buNone/>
            </a:pPr>
            <a:r>
              <a:rPr lang="en-US" sz="1950" b="1" dirty="0">
                <a:solidFill>
                  <a:srgbClr val="565961"/>
                </a:solidFill>
                <a:latin typeface="Arial" pitchFamily="34" charset="0"/>
                <a:ea typeface="Arial" pitchFamily="34" charset="-122"/>
                <a:cs typeface="Arial" pitchFamily="34" charset="-120"/>
              </a:rPr>
              <a:t>DeepSeek-V3 </a:t>
            </a:r>
            <a:pPr algn="l" indent="0" marL="0">
              <a:lnSpc>
                <a:spcPct val="140000"/>
              </a:lnSpc>
              <a:buNone/>
            </a:pPr>
            <a:r>
              <a:rPr lang="en-US" sz="1950" dirty="0">
                <a:solidFill>
                  <a:srgbClr val="565961"/>
                </a:solidFill>
                <a:latin typeface="Arial" pitchFamily="34" charset="0"/>
                <a:ea typeface="Arial" pitchFamily="34" charset="-122"/>
                <a:cs typeface="Arial" pitchFamily="34" charset="-120"/>
              </a:rPr>
              <a:t>across three benchmark datasets.</a:t>
            </a:r>
            <a:endParaRPr lang="en-US" sz="1950" dirty="0"/>
          </a:p>
        </p:txBody>
      </p:sp>
      <p:sp>
        <p:nvSpPr>
          <p:cNvPr id="19" name="Text 17"/>
          <p:cNvSpPr/>
          <p:nvPr/>
        </p:nvSpPr>
        <p:spPr>
          <a:xfrm>
            <a:off x="876300" y="9572625"/>
            <a:ext cx="8551768"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8A8778"/>
                </a:solidFill>
                <a:latin typeface="Courier New" pitchFamily="34" charset="0"/>
                <a:ea typeface="Courier New" pitchFamily="34" charset="-122"/>
                <a:cs typeface="Courier New" pitchFamily="34" charset="-120"/>
              </a:rPr>
              <a:t>Bayesian Bias Detection · Statistics for Data Science</a:t>
            </a:r>
            <a:endParaRPr lang="en-US" sz="1800" dirty="0"/>
          </a:p>
        </p:txBody>
      </p:sp>
      <p:sp>
        <p:nvSpPr>
          <p:cNvPr id="20" name="Text 18"/>
          <p:cNvSpPr/>
          <p:nvPr/>
        </p:nvSpPr>
        <p:spPr>
          <a:xfrm>
            <a:off x="16384860" y="9572625"/>
            <a:ext cx="1103040"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8A8778"/>
                </a:solidFill>
                <a:latin typeface="Courier New" pitchFamily="34" charset="0"/>
                <a:ea typeface="Courier New" pitchFamily="34" charset="-122"/>
                <a:cs typeface="Courier New" pitchFamily="34" charset="-120"/>
              </a:rPr>
              <a:t>02 / 15</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0E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4F1EA"/>
          </a:solidFill>
          <a:ln/>
        </p:spPr>
      </p:sp>
      <p:sp>
        <p:nvSpPr>
          <p:cNvPr id="3" name="Shape 1"/>
          <p:cNvSpPr/>
          <p:nvPr/>
        </p:nvSpPr>
        <p:spPr>
          <a:xfrm>
            <a:off x="876300" y="2043113"/>
            <a:ext cx="16535400" cy="19050"/>
          </a:xfrm>
          <a:prstGeom prst="rect">
            <a:avLst/>
          </a:prstGeom>
          <a:solidFill>
            <a:srgbClr val="191A1D"/>
          </a:solidFill>
          <a:ln/>
        </p:spPr>
      </p:sp>
      <p:sp>
        <p:nvSpPr>
          <p:cNvPr id="4" name="Text 2"/>
          <p:cNvSpPr/>
          <p:nvPr/>
        </p:nvSpPr>
        <p:spPr>
          <a:xfrm>
            <a:off x="876300" y="723900"/>
            <a:ext cx="6513894" cy="333375"/>
          </a:xfrm>
          <a:prstGeom prst="rect">
            <a:avLst/>
          </a:prstGeom>
          <a:noFill/>
          <a:ln/>
        </p:spPr>
        <p:txBody>
          <a:bodyPr wrap="square" lIns="25400" tIns="25400" rIns="25400" bIns="25400" rtlCol="0" anchor="t">
            <a:normAutofit/>
          </a:bodyPr>
          <a:lstStyle/>
          <a:p>
            <a:pPr algn="l" indent="0" marL="0">
              <a:buNone/>
            </a:pPr>
            <a:r>
              <a:rPr lang="en-US" sz="1800" spc="225" kern="0" dirty="0">
                <a:solidFill>
                  <a:srgbClr val="2E3F66"/>
                </a:solidFill>
                <a:latin typeface="Courier New" pitchFamily="34" charset="0"/>
                <a:ea typeface="Courier New" pitchFamily="34" charset="-122"/>
                <a:cs typeface="Courier New" pitchFamily="34" charset="-120"/>
              </a:rPr>
              <a:t>FRAMEWORK · 03</a:t>
            </a:r>
            <a:endParaRPr lang="en-US" sz="1800" dirty="0"/>
          </a:p>
        </p:txBody>
      </p:sp>
      <p:sp>
        <p:nvSpPr>
          <p:cNvPr id="5" name="Text 3"/>
          <p:cNvSpPr/>
          <p:nvPr/>
        </p:nvSpPr>
        <p:spPr>
          <a:xfrm>
            <a:off x="876300" y="1133475"/>
            <a:ext cx="6513894" cy="757238"/>
          </a:xfrm>
          <a:prstGeom prst="rect">
            <a:avLst/>
          </a:prstGeom>
          <a:noFill/>
          <a:ln/>
        </p:spPr>
        <p:txBody>
          <a:bodyPr wrap="square" lIns="25400" tIns="25400" rIns="25400" bIns="25400" rtlCol="0" anchor="t">
            <a:normAutofit/>
          </a:bodyPr>
          <a:lstStyle/>
          <a:p>
            <a:pPr algn="l" indent="0" marL="0">
              <a:buNone/>
            </a:pPr>
            <a:r>
              <a:rPr lang="en-US" sz="4350" b="1" dirty="0">
                <a:solidFill>
                  <a:srgbClr val="191A1D"/>
                </a:solidFill>
                <a:latin typeface="Georgia" pitchFamily="34" charset="0"/>
                <a:ea typeface="Georgia" pitchFamily="34" charset="-122"/>
                <a:cs typeface="Georgia" pitchFamily="34" charset="-120"/>
              </a:rPr>
              <a:t>Statistical Framework</a:t>
            </a:r>
            <a:endParaRPr lang="en-US" sz="4350" dirty="0"/>
          </a:p>
        </p:txBody>
      </p:sp>
      <p:sp>
        <p:nvSpPr>
          <p:cNvPr id="6" name="Text 4"/>
          <p:cNvSpPr/>
          <p:nvPr/>
        </p:nvSpPr>
        <p:spPr>
          <a:xfrm>
            <a:off x="12748245" y="1557338"/>
            <a:ext cx="512980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65961"/>
                </a:solidFill>
                <a:latin typeface="Courier New" pitchFamily="34" charset="0"/>
                <a:ea typeface="Courier New" pitchFamily="34" charset="-122"/>
                <a:cs typeface="Courier New" pitchFamily="34" charset="-120"/>
              </a:rPr>
              <a:t>everything is a function of (n, k)</a:t>
            </a:r>
            <a:endParaRPr lang="en-US" sz="1800" dirty="0"/>
          </a:p>
        </p:txBody>
      </p:sp>
      <p:sp>
        <p:nvSpPr>
          <p:cNvPr id="7" name="Shape 5"/>
          <p:cNvSpPr/>
          <p:nvPr/>
        </p:nvSpPr>
        <p:spPr>
          <a:xfrm>
            <a:off x="876300" y="3478634"/>
            <a:ext cx="5003750" cy="1999208"/>
          </a:xfrm>
          <a:prstGeom prst="roundRect">
            <a:avLst>
              <a:gd name="adj" fmla="val 5717"/>
            </a:avLst>
          </a:prstGeom>
          <a:solidFill>
            <a:srgbClr val="FBFAF6"/>
          </a:solidFill>
          <a:ln w="14288">
            <a:solidFill>
              <a:srgbClr val="DAD5C7"/>
            </a:solidFill>
            <a:prstDash val="solid"/>
          </a:ln>
        </p:spPr>
      </p:sp>
      <p:sp>
        <p:nvSpPr>
          <p:cNvPr id="8" name="Text 6"/>
          <p:cNvSpPr/>
          <p:nvPr/>
        </p:nvSpPr>
        <p:spPr>
          <a:xfrm>
            <a:off x="1157288" y="3740572"/>
            <a:ext cx="4885953"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2E3F66"/>
                </a:solidFill>
                <a:latin typeface="Courier New" pitchFamily="34" charset="0"/>
                <a:ea typeface="Courier New" pitchFamily="34" charset="-122"/>
                <a:cs typeface="Courier New" pitchFamily="34" charset="-120"/>
              </a:rPr>
              <a:t>STEP 1</a:t>
            </a:r>
            <a:endParaRPr lang="en-US" sz="1800" dirty="0"/>
          </a:p>
        </p:txBody>
      </p:sp>
      <p:sp>
        <p:nvSpPr>
          <p:cNvPr id="9" name="Text 7"/>
          <p:cNvSpPr/>
          <p:nvPr/>
        </p:nvSpPr>
        <p:spPr>
          <a:xfrm>
            <a:off x="1157288" y="4131097"/>
            <a:ext cx="4575029" cy="1122908"/>
          </a:xfrm>
          <a:prstGeom prst="rect">
            <a:avLst/>
          </a:prstGeom>
          <a:noFill/>
          <a:ln/>
        </p:spPr>
        <p:txBody>
          <a:bodyPr wrap="square" lIns="25400" tIns="25400" rIns="25400" bIns="25400" rtlCol="0" anchor="t">
            <a:normAutofit/>
          </a:bodyPr>
          <a:lstStyle/>
          <a:p>
            <a:pPr algn="l" indent="0" marL="0">
              <a:lnSpc>
                <a:spcPct val="135000"/>
              </a:lnSpc>
              <a:buNone/>
            </a:pPr>
            <a:r>
              <a:rPr lang="en-US" sz="2100" dirty="0">
                <a:solidFill>
                  <a:srgbClr val="191A1D"/>
                </a:solidFill>
                <a:latin typeface="Arial" pitchFamily="34" charset="0"/>
                <a:ea typeface="Arial" pitchFamily="34" charset="-122"/>
                <a:cs typeface="Arial" pitchFamily="34" charset="-120"/>
              </a:rPr>
              <a:t>Ask </a:t>
            </a:r>
            <a:pPr algn="l" indent="0" marL="0">
              <a:lnSpc>
                <a:spcPct val="135000"/>
              </a:lnSpc>
              <a:buNone/>
            </a:pPr>
            <a:r>
              <a:rPr lang="en-US" sz="2100" b="1" dirty="0">
                <a:solidFill>
                  <a:srgbClr val="191A1D"/>
                </a:solidFill>
                <a:latin typeface="Arial" pitchFamily="34" charset="0"/>
                <a:ea typeface="Arial" pitchFamily="34" charset="-122"/>
                <a:cs typeface="Arial" pitchFamily="34" charset="-120"/>
              </a:rPr>
              <a:t>n </a:t>
            </a:r>
            <a:pPr algn="l" indent="0" marL="0">
              <a:lnSpc>
                <a:spcPct val="135000"/>
              </a:lnSpc>
              <a:buNone/>
            </a:pPr>
            <a:r>
              <a:rPr lang="en-US" sz="2100" dirty="0">
                <a:solidFill>
                  <a:srgbClr val="191A1D"/>
                </a:solidFill>
                <a:latin typeface="Arial" pitchFamily="34" charset="0"/>
                <a:ea typeface="Arial" pitchFamily="34" charset="-122"/>
                <a:cs typeface="Arial" pitchFamily="34" charset="-120"/>
              </a:rPr>
              <a:t>binary-choice questions: stereotypical vs anti-stereotypical option</a:t>
            </a:r>
            <a:endParaRPr lang="en-US" sz="2100" dirty="0"/>
          </a:p>
        </p:txBody>
      </p:sp>
      <p:sp>
        <p:nvSpPr>
          <p:cNvPr id="10" name="Text 8"/>
          <p:cNvSpPr/>
          <p:nvPr/>
        </p:nvSpPr>
        <p:spPr>
          <a:xfrm>
            <a:off x="6070550" y="3478634"/>
            <a:ext cx="457200" cy="2037308"/>
          </a:xfrm>
          <a:prstGeom prst="rect">
            <a:avLst/>
          </a:prstGeom>
          <a:noFill/>
          <a:ln/>
        </p:spPr>
        <p:txBody>
          <a:bodyPr wrap="square" lIns="25400" tIns="25400" rIns="25400" bIns="25400" rtlCol="0" anchor="ctr">
            <a:normAutofit/>
          </a:bodyPr>
          <a:lstStyle/>
          <a:p>
            <a:pPr algn="l" indent="0" marL="0">
              <a:buNone/>
            </a:pPr>
            <a:r>
              <a:rPr lang="en-US" sz="3000" dirty="0">
                <a:solidFill>
                  <a:srgbClr val="B4AE9E"/>
                </a:solidFill>
                <a:latin typeface="Arial" pitchFamily="34" charset="0"/>
                <a:ea typeface="Arial" pitchFamily="34" charset="-122"/>
                <a:cs typeface="Arial" pitchFamily="34" charset="-120"/>
              </a:rPr>
              <a:t>→</a:t>
            </a:r>
            <a:endParaRPr lang="en-US" sz="3000" dirty="0"/>
          </a:p>
        </p:txBody>
      </p:sp>
      <p:sp>
        <p:nvSpPr>
          <p:cNvPr id="11" name="Shape 9"/>
          <p:cNvSpPr/>
          <p:nvPr/>
        </p:nvSpPr>
        <p:spPr>
          <a:xfrm>
            <a:off x="6642050" y="3478634"/>
            <a:ext cx="5003825" cy="1999208"/>
          </a:xfrm>
          <a:prstGeom prst="roundRect">
            <a:avLst>
              <a:gd name="adj" fmla="val 5717"/>
            </a:avLst>
          </a:prstGeom>
          <a:solidFill>
            <a:srgbClr val="FBFAF6"/>
          </a:solidFill>
          <a:ln w="14288">
            <a:solidFill>
              <a:srgbClr val="DAD5C7"/>
            </a:solidFill>
            <a:prstDash val="solid"/>
          </a:ln>
        </p:spPr>
      </p:sp>
      <p:sp>
        <p:nvSpPr>
          <p:cNvPr id="12" name="Text 10"/>
          <p:cNvSpPr/>
          <p:nvPr/>
        </p:nvSpPr>
        <p:spPr>
          <a:xfrm>
            <a:off x="6923038" y="3740572"/>
            <a:ext cx="4886035"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2E3F66"/>
                </a:solidFill>
                <a:latin typeface="Courier New" pitchFamily="34" charset="0"/>
                <a:ea typeface="Courier New" pitchFamily="34" charset="-122"/>
                <a:cs typeface="Courier New" pitchFamily="34" charset="-120"/>
              </a:rPr>
              <a:t>STEP 2</a:t>
            </a:r>
            <a:endParaRPr lang="en-US" sz="1800" dirty="0"/>
          </a:p>
        </p:txBody>
      </p:sp>
      <p:sp>
        <p:nvSpPr>
          <p:cNvPr id="13" name="Text 11"/>
          <p:cNvSpPr/>
          <p:nvPr/>
        </p:nvSpPr>
        <p:spPr>
          <a:xfrm>
            <a:off x="6923038" y="4131097"/>
            <a:ext cx="4575105" cy="758130"/>
          </a:xfrm>
          <a:prstGeom prst="rect">
            <a:avLst/>
          </a:prstGeom>
          <a:noFill/>
          <a:ln/>
        </p:spPr>
        <p:txBody>
          <a:bodyPr wrap="square" lIns="25400" tIns="25400" rIns="25400" bIns="25400" rtlCol="0" anchor="t">
            <a:normAutofit/>
          </a:bodyPr>
          <a:lstStyle/>
          <a:p>
            <a:pPr algn="l" indent="0" marL="0">
              <a:lnSpc>
                <a:spcPct val="135000"/>
              </a:lnSpc>
              <a:buNone/>
            </a:pPr>
            <a:r>
              <a:rPr lang="en-US" sz="2100" dirty="0">
                <a:solidFill>
                  <a:srgbClr val="191A1D"/>
                </a:solidFill>
                <a:latin typeface="Arial" pitchFamily="34" charset="0"/>
                <a:ea typeface="Arial" pitchFamily="34" charset="-122"/>
                <a:cs typeface="Arial" pitchFamily="34" charset="-120"/>
              </a:rPr>
              <a:t>Record each answer as an indicator: </a:t>
            </a:r>
            <a:pPr algn="l" indent="0" marL="0">
              <a:lnSpc>
                <a:spcPct val="135000"/>
              </a:lnSpc>
              <a:buNone/>
            </a:pPr>
            <a:r>
              <a:rPr lang="en-US" sz="1950" dirty="0">
                <a:solidFill>
                  <a:srgbClr val="191A1D"/>
                </a:solidFill>
                <a:latin typeface="Courier New" pitchFamily="34" charset="0"/>
                <a:ea typeface="Courier New" pitchFamily="34" charset="-122"/>
                <a:cs typeface="Courier New" pitchFamily="34" charset="-120"/>
              </a:rPr>
              <a:t>X = 1 </a:t>
            </a:r>
            <a:pPr algn="l" indent="0" marL="0">
              <a:lnSpc>
                <a:spcPct val="135000"/>
              </a:lnSpc>
              <a:buNone/>
            </a:pPr>
            <a:r>
              <a:rPr lang="en-US" sz="2100" dirty="0">
                <a:solidFill>
                  <a:srgbClr val="191A1D"/>
                </a:solidFill>
                <a:latin typeface="Arial" pitchFamily="34" charset="0"/>
                <a:ea typeface="Arial" pitchFamily="34" charset="-122"/>
                <a:cs typeface="Arial" pitchFamily="34" charset="-120"/>
              </a:rPr>
              <a:t>if stereotypical, else </a:t>
            </a:r>
            <a:pPr algn="l" indent="0" marL="0">
              <a:lnSpc>
                <a:spcPct val="135000"/>
              </a:lnSpc>
              <a:buNone/>
            </a:pPr>
            <a:r>
              <a:rPr lang="en-US" sz="1950" dirty="0">
                <a:solidFill>
                  <a:srgbClr val="191A1D"/>
                </a:solidFill>
                <a:latin typeface="Courier New" pitchFamily="34" charset="0"/>
                <a:ea typeface="Courier New" pitchFamily="34" charset="-122"/>
                <a:cs typeface="Courier New" pitchFamily="34" charset="-120"/>
              </a:rPr>
              <a:t>0</a:t>
            </a:r>
            <a:endParaRPr lang="en-US" sz="2100" dirty="0"/>
          </a:p>
        </p:txBody>
      </p:sp>
      <p:sp>
        <p:nvSpPr>
          <p:cNvPr id="14" name="Text 12"/>
          <p:cNvSpPr/>
          <p:nvPr/>
        </p:nvSpPr>
        <p:spPr>
          <a:xfrm>
            <a:off x="11836375" y="3478634"/>
            <a:ext cx="457200" cy="2037308"/>
          </a:xfrm>
          <a:prstGeom prst="rect">
            <a:avLst/>
          </a:prstGeom>
          <a:noFill/>
          <a:ln/>
        </p:spPr>
        <p:txBody>
          <a:bodyPr wrap="square" lIns="25400" tIns="25400" rIns="25400" bIns="25400" rtlCol="0" anchor="ctr">
            <a:normAutofit/>
          </a:bodyPr>
          <a:lstStyle/>
          <a:p>
            <a:pPr algn="l" indent="0" marL="0">
              <a:buNone/>
            </a:pPr>
            <a:r>
              <a:rPr lang="en-US" sz="3000" dirty="0">
                <a:solidFill>
                  <a:srgbClr val="B4AE9E"/>
                </a:solidFill>
                <a:latin typeface="Arial" pitchFamily="34" charset="0"/>
                <a:ea typeface="Arial" pitchFamily="34" charset="-122"/>
                <a:cs typeface="Arial" pitchFamily="34" charset="-120"/>
              </a:rPr>
              <a:t>→</a:t>
            </a:r>
            <a:endParaRPr lang="en-US" sz="3000" dirty="0"/>
          </a:p>
        </p:txBody>
      </p:sp>
      <p:sp>
        <p:nvSpPr>
          <p:cNvPr id="15" name="Shape 13"/>
          <p:cNvSpPr/>
          <p:nvPr/>
        </p:nvSpPr>
        <p:spPr>
          <a:xfrm>
            <a:off x="12407875" y="3478634"/>
            <a:ext cx="5003825" cy="1999208"/>
          </a:xfrm>
          <a:prstGeom prst="roundRect">
            <a:avLst>
              <a:gd name="adj" fmla="val 5717"/>
            </a:avLst>
          </a:prstGeom>
          <a:solidFill>
            <a:srgbClr val="FBFAF6"/>
          </a:solidFill>
          <a:ln w="14288">
            <a:solidFill>
              <a:srgbClr val="DAD5C7"/>
            </a:solidFill>
            <a:prstDash val="solid"/>
          </a:ln>
        </p:spPr>
      </p:sp>
      <p:sp>
        <p:nvSpPr>
          <p:cNvPr id="16" name="Text 14"/>
          <p:cNvSpPr/>
          <p:nvPr/>
        </p:nvSpPr>
        <p:spPr>
          <a:xfrm>
            <a:off x="12688863" y="3740572"/>
            <a:ext cx="4886035"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2E3F66"/>
                </a:solidFill>
                <a:latin typeface="Courier New" pitchFamily="34" charset="0"/>
                <a:ea typeface="Courier New" pitchFamily="34" charset="-122"/>
                <a:cs typeface="Courier New" pitchFamily="34" charset="-120"/>
              </a:rPr>
              <a:t>STEP 3</a:t>
            </a:r>
            <a:endParaRPr lang="en-US" sz="1800" dirty="0"/>
          </a:p>
        </p:txBody>
      </p:sp>
      <p:sp>
        <p:nvSpPr>
          <p:cNvPr id="17" name="Text 15"/>
          <p:cNvSpPr/>
          <p:nvPr/>
        </p:nvSpPr>
        <p:spPr>
          <a:xfrm>
            <a:off x="12688863" y="4131097"/>
            <a:ext cx="4575105" cy="762893"/>
          </a:xfrm>
          <a:prstGeom prst="rect">
            <a:avLst/>
          </a:prstGeom>
          <a:noFill/>
          <a:ln/>
        </p:spPr>
        <p:txBody>
          <a:bodyPr wrap="square" lIns="25400" tIns="25400" rIns="25400" bIns="25400" rtlCol="0" anchor="t">
            <a:normAutofit/>
          </a:bodyPr>
          <a:lstStyle/>
          <a:p>
            <a:pPr algn="l" indent="0" marL="0">
              <a:lnSpc>
                <a:spcPct val="135000"/>
              </a:lnSpc>
              <a:buNone/>
            </a:pPr>
            <a:r>
              <a:rPr lang="en-US" sz="2100" dirty="0">
                <a:solidFill>
                  <a:srgbClr val="191A1D"/>
                </a:solidFill>
                <a:latin typeface="Arial" pitchFamily="34" charset="0"/>
                <a:ea typeface="Arial" pitchFamily="34" charset="-122"/>
                <a:cs typeface="Arial" pitchFamily="34" charset="-120"/>
              </a:rPr>
              <a:t>Tally to </a:t>
            </a:r>
            <a:pPr algn="l" indent="0" marL="0">
              <a:lnSpc>
                <a:spcPct val="135000"/>
              </a:lnSpc>
              <a:buNone/>
            </a:pPr>
            <a:r>
              <a:rPr lang="en-US" sz="2100" b="1" dirty="0">
                <a:solidFill>
                  <a:srgbClr val="191A1D"/>
                </a:solidFill>
                <a:latin typeface="Arial" pitchFamily="34" charset="0"/>
                <a:ea typeface="Arial" pitchFamily="34" charset="-122"/>
                <a:cs typeface="Arial" pitchFamily="34" charset="-120"/>
              </a:rPr>
              <a:t>(n, k) </a:t>
            </a:r>
            <a:pPr algn="l" indent="0" marL="0">
              <a:lnSpc>
                <a:spcPct val="135000"/>
              </a:lnSpc>
              <a:buNone/>
            </a:pPr>
            <a:r>
              <a:rPr lang="en-US" sz="2100" dirty="0">
                <a:solidFill>
                  <a:srgbClr val="565961"/>
                </a:solidFill>
                <a:latin typeface="Arial" pitchFamily="34" charset="0"/>
                <a:ea typeface="Arial" pitchFamily="34" charset="-122"/>
                <a:cs typeface="Arial" pitchFamily="34" charset="-120"/>
              </a:rPr>
              <a:t>k = Σ Xᵢ = # stereotypical picks</a:t>
            </a:r>
            <a:endParaRPr lang="en-US" sz="2100" dirty="0"/>
          </a:p>
        </p:txBody>
      </p:sp>
      <p:sp>
        <p:nvSpPr>
          <p:cNvPr id="18" name="Shape 16"/>
          <p:cNvSpPr/>
          <p:nvPr/>
        </p:nvSpPr>
        <p:spPr>
          <a:xfrm>
            <a:off x="876300" y="5801692"/>
            <a:ext cx="8153400" cy="2354461"/>
          </a:xfrm>
          <a:prstGeom prst="roundRect">
            <a:avLst>
              <a:gd name="adj" fmla="val 4855"/>
            </a:avLst>
          </a:prstGeom>
          <a:solidFill>
            <a:srgbClr val="1B1C20"/>
          </a:solidFill>
          <a:ln/>
        </p:spPr>
      </p:sp>
      <p:sp>
        <p:nvSpPr>
          <p:cNvPr id="19" name="Text 17"/>
          <p:cNvSpPr/>
          <p:nvPr/>
        </p:nvSpPr>
        <p:spPr>
          <a:xfrm>
            <a:off x="1219200" y="6106492"/>
            <a:ext cx="8214360" cy="333375"/>
          </a:xfrm>
          <a:prstGeom prst="rect">
            <a:avLst/>
          </a:prstGeom>
          <a:noFill/>
          <a:ln/>
        </p:spPr>
        <p:txBody>
          <a:bodyPr wrap="square" lIns="25400" tIns="25400" rIns="25400" bIns="25400" rtlCol="0" anchor="t">
            <a:normAutofit/>
          </a:bodyPr>
          <a:lstStyle/>
          <a:p>
            <a:pPr algn="l" indent="0" marL="0">
              <a:buNone/>
            </a:pPr>
            <a:r>
              <a:rPr lang="en-US" sz="1800" spc="150" kern="0" dirty="0">
                <a:solidFill>
                  <a:srgbClr val="8A8778"/>
                </a:solidFill>
                <a:latin typeface="Courier New" pitchFamily="34" charset="0"/>
                <a:ea typeface="Courier New" pitchFamily="34" charset="-122"/>
                <a:cs typeface="Courier New" pitchFamily="34" charset="-120"/>
              </a:rPr>
              <a:t>SAMPLING MODEL</a:t>
            </a:r>
            <a:endParaRPr lang="en-US" sz="1800" dirty="0"/>
          </a:p>
        </p:txBody>
      </p:sp>
      <p:sp>
        <p:nvSpPr>
          <p:cNvPr id="20" name="Text 18"/>
          <p:cNvSpPr/>
          <p:nvPr/>
        </p:nvSpPr>
        <p:spPr>
          <a:xfrm>
            <a:off x="1219200" y="6535117"/>
            <a:ext cx="8214360" cy="581025"/>
          </a:xfrm>
          <a:prstGeom prst="rect">
            <a:avLst/>
          </a:prstGeom>
          <a:noFill/>
          <a:ln/>
        </p:spPr>
        <p:txBody>
          <a:bodyPr wrap="square" lIns="25400" tIns="25400" rIns="25400" bIns="25400" rtlCol="0" anchor="t">
            <a:normAutofit/>
          </a:bodyPr>
          <a:lstStyle/>
          <a:p>
            <a:pPr algn="l" indent="0" marL="0">
              <a:buNone/>
            </a:pPr>
            <a:r>
              <a:rPr lang="en-US" sz="3300" dirty="0">
                <a:solidFill>
                  <a:srgbClr val="F4F1EA"/>
                </a:solidFill>
                <a:latin typeface="Georgia" pitchFamily="34" charset="0"/>
                <a:ea typeface="Georgia" pitchFamily="34" charset="-122"/>
                <a:cs typeface="Georgia" pitchFamily="34" charset="-120"/>
              </a:rPr>
              <a:t>k ~ Binomial(n, π)</a:t>
            </a:r>
            <a:endParaRPr lang="en-US" sz="3300" dirty="0"/>
          </a:p>
        </p:txBody>
      </p:sp>
      <p:sp>
        <p:nvSpPr>
          <p:cNvPr id="21" name="Text 19"/>
          <p:cNvSpPr/>
          <p:nvPr/>
        </p:nvSpPr>
        <p:spPr>
          <a:xfrm>
            <a:off x="1219200" y="7211392"/>
            <a:ext cx="7691628"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C9C4B6"/>
                </a:solidFill>
                <a:latin typeface="Arial" pitchFamily="34" charset="0"/>
                <a:ea typeface="Arial" pitchFamily="34" charset="-122"/>
                <a:cs typeface="Arial" pitchFamily="34" charset="-120"/>
              </a:rPr>
              <a:t>each answer i.i.d. Bernoulli(π); π = model's true probability of the stereotypical choice</a:t>
            </a:r>
            <a:endParaRPr lang="en-US" sz="1800" dirty="0"/>
          </a:p>
        </p:txBody>
      </p:sp>
      <p:sp>
        <p:nvSpPr>
          <p:cNvPr id="22" name="Shape 20"/>
          <p:cNvSpPr/>
          <p:nvPr/>
        </p:nvSpPr>
        <p:spPr>
          <a:xfrm>
            <a:off x="9258300" y="5801692"/>
            <a:ext cx="8153400" cy="2354461"/>
          </a:xfrm>
          <a:prstGeom prst="roundRect">
            <a:avLst>
              <a:gd name="adj" fmla="val 4855"/>
            </a:avLst>
          </a:prstGeom>
          <a:solidFill>
            <a:srgbClr val="FBFAF6"/>
          </a:solidFill>
          <a:ln w="14288">
            <a:solidFill>
              <a:srgbClr val="DAD5C7"/>
            </a:solidFill>
            <a:prstDash val="solid"/>
          </a:ln>
        </p:spPr>
      </p:sp>
      <p:sp>
        <p:nvSpPr>
          <p:cNvPr id="23" name="Text 21"/>
          <p:cNvSpPr/>
          <p:nvPr/>
        </p:nvSpPr>
        <p:spPr>
          <a:xfrm>
            <a:off x="9615488" y="6120780"/>
            <a:ext cx="8182928" cy="333375"/>
          </a:xfrm>
          <a:prstGeom prst="rect">
            <a:avLst/>
          </a:prstGeom>
          <a:noFill/>
          <a:ln/>
        </p:spPr>
        <p:txBody>
          <a:bodyPr wrap="square" lIns="25400" tIns="25400" rIns="25400" bIns="25400" rtlCol="0" anchor="t">
            <a:normAutofit/>
          </a:bodyPr>
          <a:lstStyle/>
          <a:p>
            <a:pPr algn="l" indent="0" marL="0">
              <a:buNone/>
            </a:pPr>
            <a:r>
              <a:rPr lang="en-US" sz="1800" spc="150" kern="0" dirty="0">
                <a:solidFill>
                  <a:srgbClr val="2E3F66"/>
                </a:solidFill>
                <a:latin typeface="Courier New" pitchFamily="34" charset="0"/>
                <a:ea typeface="Courier New" pitchFamily="34" charset="-122"/>
                <a:cs typeface="Courier New" pitchFamily="34" charset="-120"/>
              </a:rPr>
              <a:t>HYPOTHESES</a:t>
            </a:r>
            <a:endParaRPr lang="en-US" sz="1800" dirty="0"/>
          </a:p>
        </p:txBody>
      </p:sp>
      <p:sp>
        <p:nvSpPr>
          <p:cNvPr id="24" name="Text 22"/>
          <p:cNvSpPr/>
          <p:nvPr/>
        </p:nvSpPr>
        <p:spPr>
          <a:xfrm>
            <a:off x="9615488" y="6549405"/>
            <a:ext cx="2048597" cy="533400"/>
          </a:xfrm>
          <a:prstGeom prst="rect">
            <a:avLst/>
          </a:prstGeom>
          <a:noFill/>
          <a:ln/>
        </p:spPr>
        <p:txBody>
          <a:bodyPr wrap="square" lIns="25400" tIns="25400" rIns="25400" bIns="25400" rtlCol="0" anchor="t">
            <a:normAutofit/>
          </a:bodyPr>
          <a:lstStyle/>
          <a:p>
            <a:pPr algn="l" indent="0" marL="0">
              <a:buNone/>
            </a:pPr>
            <a:r>
              <a:rPr lang="en-US" sz="3000" dirty="0">
                <a:solidFill>
                  <a:srgbClr val="0E9C99"/>
                </a:solidFill>
                <a:latin typeface="Georgia" pitchFamily="34" charset="0"/>
                <a:ea typeface="Georgia" pitchFamily="34" charset="-122"/>
                <a:cs typeface="Georgia" pitchFamily="34" charset="-120"/>
              </a:rPr>
              <a:t>H</a:t>
            </a:r>
            <a:pPr algn="l" indent="0" marL="0">
              <a:buNone/>
            </a:pPr>
            <a:r>
              <a:rPr lang="en-US" sz="2500" baseline="-40000" dirty="0">
                <a:solidFill>
                  <a:srgbClr val="0E9C99"/>
                </a:solidFill>
                <a:latin typeface="Georgia" pitchFamily="34" charset="0"/>
                <a:ea typeface="Georgia" pitchFamily="34" charset="-122"/>
                <a:cs typeface="Georgia" pitchFamily="34" charset="-120"/>
              </a:rPr>
              <a:t>0</a:t>
            </a:r>
            <a:pPr algn="l" indent="0" marL="0">
              <a:buNone/>
            </a:pPr>
            <a:r>
              <a:rPr lang="en-US" sz="3000" dirty="0">
                <a:solidFill>
                  <a:srgbClr val="0E9C99"/>
                </a:solidFill>
                <a:latin typeface="Georgia" pitchFamily="34" charset="0"/>
                <a:ea typeface="Georgia" pitchFamily="34" charset="-122"/>
                <a:cs typeface="Georgia" pitchFamily="34" charset="-120"/>
              </a:rPr>
              <a:t>: π = 0.5</a:t>
            </a:r>
            <a:endParaRPr lang="en-US" sz="3000" dirty="0"/>
          </a:p>
        </p:txBody>
      </p:sp>
      <p:sp>
        <p:nvSpPr>
          <p:cNvPr id="25" name="Text 23"/>
          <p:cNvSpPr/>
          <p:nvPr/>
        </p:nvSpPr>
        <p:spPr>
          <a:xfrm>
            <a:off x="9615488" y="7101855"/>
            <a:ext cx="2048597"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65961"/>
                </a:solidFill>
                <a:latin typeface="Arial" pitchFamily="34" charset="0"/>
                <a:ea typeface="Arial" pitchFamily="34" charset="-122"/>
                <a:cs typeface="Arial" pitchFamily="34" charset="-120"/>
              </a:rPr>
              <a:t>no bias — fair coin</a:t>
            </a:r>
            <a:endParaRPr lang="en-US" sz="1800" dirty="0"/>
          </a:p>
        </p:txBody>
      </p:sp>
      <p:sp>
        <p:nvSpPr>
          <p:cNvPr id="26" name="Text 24"/>
          <p:cNvSpPr/>
          <p:nvPr/>
        </p:nvSpPr>
        <p:spPr>
          <a:xfrm>
            <a:off x="11858848" y="6761336"/>
            <a:ext cx="393278" cy="461963"/>
          </a:xfrm>
          <a:prstGeom prst="rect">
            <a:avLst/>
          </a:prstGeom>
          <a:noFill/>
          <a:ln/>
        </p:spPr>
        <p:txBody>
          <a:bodyPr wrap="square" lIns="25400" tIns="25400" rIns="25400" bIns="25400" rtlCol="0" anchor="t">
            <a:normAutofit/>
          </a:bodyPr>
          <a:lstStyle/>
          <a:p>
            <a:pPr algn="l" indent="0" marL="0">
              <a:buNone/>
            </a:pPr>
            <a:r>
              <a:rPr lang="en-US" sz="2550" dirty="0">
                <a:solidFill>
                  <a:srgbClr val="B4AE9E"/>
                </a:solidFill>
                <a:latin typeface="Arial" pitchFamily="34" charset="0"/>
                <a:ea typeface="Arial" pitchFamily="34" charset="-122"/>
                <a:cs typeface="Arial" pitchFamily="34" charset="-120"/>
              </a:rPr>
              <a:t>vs</a:t>
            </a:r>
            <a:endParaRPr lang="en-US" sz="2550" dirty="0"/>
          </a:p>
        </p:txBody>
      </p:sp>
      <p:sp>
        <p:nvSpPr>
          <p:cNvPr id="27" name="Text 25"/>
          <p:cNvSpPr/>
          <p:nvPr/>
        </p:nvSpPr>
        <p:spPr>
          <a:xfrm>
            <a:off x="12556927" y="6549405"/>
            <a:ext cx="2027151" cy="533400"/>
          </a:xfrm>
          <a:prstGeom prst="rect">
            <a:avLst/>
          </a:prstGeom>
          <a:noFill/>
          <a:ln/>
        </p:spPr>
        <p:txBody>
          <a:bodyPr wrap="square" lIns="25400" tIns="25400" rIns="25400" bIns="25400" rtlCol="0" anchor="t">
            <a:normAutofit/>
          </a:bodyPr>
          <a:lstStyle/>
          <a:p>
            <a:pPr algn="l" indent="0" marL="0">
              <a:buNone/>
            </a:pPr>
            <a:r>
              <a:rPr lang="en-US" sz="3000" dirty="0">
                <a:solidFill>
                  <a:srgbClr val="E15D48"/>
                </a:solidFill>
                <a:latin typeface="Georgia" pitchFamily="34" charset="0"/>
                <a:ea typeface="Georgia" pitchFamily="34" charset="-122"/>
                <a:cs typeface="Georgia" pitchFamily="34" charset="-120"/>
              </a:rPr>
              <a:t>H</a:t>
            </a:r>
            <a:pPr algn="l" indent="0" marL="0">
              <a:buNone/>
            </a:pPr>
            <a:r>
              <a:rPr lang="en-US" sz="2500" baseline="-40000" dirty="0">
                <a:solidFill>
                  <a:srgbClr val="E15D48"/>
                </a:solidFill>
                <a:latin typeface="Georgia" pitchFamily="34" charset="0"/>
                <a:ea typeface="Georgia" pitchFamily="34" charset="-122"/>
                <a:cs typeface="Georgia" pitchFamily="34" charset="-120"/>
              </a:rPr>
              <a:t>1</a:t>
            </a:r>
            <a:pPr algn="l" indent="0" marL="0">
              <a:buNone/>
            </a:pPr>
            <a:r>
              <a:rPr lang="en-US" sz="3000" dirty="0">
                <a:solidFill>
                  <a:srgbClr val="E15D48"/>
                </a:solidFill>
                <a:latin typeface="Georgia" pitchFamily="34" charset="0"/>
                <a:ea typeface="Georgia" pitchFamily="34" charset="-122"/>
                <a:cs typeface="Georgia" pitchFamily="34" charset="-120"/>
              </a:rPr>
              <a:t>: π ≠ 0.5</a:t>
            </a:r>
            <a:endParaRPr lang="en-US" sz="3000" dirty="0"/>
          </a:p>
        </p:txBody>
      </p:sp>
      <p:sp>
        <p:nvSpPr>
          <p:cNvPr id="28" name="Text 26"/>
          <p:cNvSpPr/>
          <p:nvPr/>
        </p:nvSpPr>
        <p:spPr>
          <a:xfrm>
            <a:off x="12556927" y="7101855"/>
            <a:ext cx="202715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65961"/>
                </a:solidFill>
                <a:latin typeface="Arial" pitchFamily="34" charset="0"/>
                <a:ea typeface="Arial" pitchFamily="34" charset="-122"/>
                <a:cs typeface="Arial" pitchFamily="34" charset="-120"/>
              </a:rPr>
              <a:t>bias present</a:t>
            </a:r>
            <a:endParaRPr lang="en-US" sz="1800" dirty="0"/>
          </a:p>
        </p:txBody>
      </p:sp>
      <p:sp>
        <p:nvSpPr>
          <p:cNvPr id="29" name="Text 27"/>
          <p:cNvSpPr/>
          <p:nvPr/>
        </p:nvSpPr>
        <p:spPr>
          <a:xfrm>
            <a:off x="876300" y="9572625"/>
            <a:ext cx="8551768"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8A8778"/>
                </a:solidFill>
                <a:latin typeface="Courier New" pitchFamily="34" charset="0"/>
                <a:ea typeface="Courier New" pitchFamily="34" charset="-122"/>
                <a:cs typeface="Courier New" pitchFamily="34" charset="-120"/>
              </a:rPr>
              <a:t>Bayesian Bias Detection · Statistics for Data Science</a:t>
            </a:r>
            <a:endParaRPr lang="en-US" sz="1800" dirty="0"/>
          </a:p>
        </p:txBody>
      </p:sp>
      <p:sp>
        <p:nvSpPr>
          <p:cNvPr id="30" name="Text 28"/>
          <p:cNvSpPr/>
          <p:nvPr/>
        </p:nvSpPr>
        <p:spPr>
          <a:xfrm>
            <a:off x="16384860" y="9572625"/>
            <a:ext cx="1103040"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8A8778"/>
                </a:solidFill>
                <a:latin typeface="Courier New" pitchFamily="34" charset="0"/>
                <a:ea typeface="Courier New" pitchFamily="34" charset="-122"/>
                <a:cs typeface="Courier New" pitchFamily="34" charset="-120"/>
              </a:rPr>
              <a:t>03 / 15</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0E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4F1EA"/>
          </a:solidFill>
          <a:ln/>
        </p:spPr>
      </p:sp>
      <p:sp>
        <p:nvSpPr>
          <p:cNvPr id="3" name="Shape 1"/>
          <p:cNvSpPr/>
          <p:nvPr/>
        </p:nvSpPr>
        <p:spPr>
          <a:xfrm>
            <a:off x="876300" y="2043113"/>
            <a:ext cx="16535400" cy="19050"/>
          </a:xfrm>
          <a:prstGeom prst="rect">
            <a:avLst/>
          </a:prstGeom>
          <a:solidFill>
            <a:srgbClr val="191A1D"/>
          </a:solidFill>
          <a:ln/>
        </p:spPr>
      </p:sp>
      <p:sp>
        <p:nvSpPr>
          <p:cNvPr id="4" name="Text 2"/>
          <p:cNvSpPr/>
          <p:nvPr/>
        </p:nvSpPr>
        <p:spPr>
          <a:xfrm>
            <a:off x="876300" y="723900"/>
            <a:ext cx="7378043" cy="333375"/>
          </a:xfrm>
          <a:prstGeom prst="rect">
            <a:avLst/>
          </a:prstGeom>
          <a:noFill/>
          <a:ln/>
        </p:spPr>
        <p:txBody>
          <a:bodyPr wrap="square" lIns="25400" tIns="25400" rIns="25400" bIns="25400" rtlCol="0" anchor="t">
            <a:normAutofit/>
          </a:bodyPr>
          <a:lstStyle/>
          <a:p>
            <a:pPr algn="l" indent="0" marL="0">
              <a:buNone/>
            </a:pPr>
            <a:r>
              <a:rPr lang="en-US" sz="1800" spc="225" kern="0" dirty="0">
                <a:solidFill>
                  <a:srgbClr val="2E3F66"/>
                </a:solidFill>
                <a:latin typeface="Courier New" pitchFamily="34" charset="0"/>
                <a:ea typeface="Courier New" pitchFamily="34" charset="-122"/>
                <a:cs typeface="Courier New" pitchFamily="34" charset="-120"/>
              </a:rPr>
              <a:t>METRICS · 04</a:t>
            </a:r>
            <a:endParaRPr lang="en-US" sz="1800" dirty="0"/>
          </a:p>
        </p:txBody>
      </p:sp>
      <p:sp>
        <p:nvSpPr>
          <p:cNvPr id="5" name="Text 3"/>
          <p:cNvSpPr/>
          <p:nvPr/>
        </p:nvSpPr>
        <p:spPr>
          <a:xfrm>
            <a:off x="876300" y="1133475"/>
            <a:ext cx="7378043" cy="757238"/>
          </a:xfrm>
          <a:prstGeom prst="rect">
            <a:avLst/>
          </a:prstGeom>
          <a:noFill/>
          <a:ln/>
        </p:spPr>
        <p:txBody>
          <a:bodyPr wrap="square" lIns="25400" tIns="25400" rIns="25400" bIns="25400" rtlCol="0" anchor="t">
            <a:normAutofit/>
          </a:bodyPr>
          <a:lstStyle/>
          <a:p>
            <a:pPr algn="l" indent="0" marL="0">
              <a:buNone/>
            </a:pPr>
            <a:r>
              <a:rPr lang="en-US" sz="4350" b="1" dirty="0">
                <a:solidFill>
                  <a:srgbClr val="191A1D"/>
                </a:solidFill>
                <a:latin typeface="Georgia" pitchFamily="34" charset="0"/>
                <a:ea typeface="Georgia" pitchFamily="34" charset="-122"/>
                <a:cs typeface="Georgia" pitchFamily="34" charset="-120"/>
              </a:rPr>
              <a:t>Three Metrics from (n, k)</a:t>
            </a:r>
            <a:endParaRPr lang="en-US" sz="4350" dirty="0"/>
          </a:p>
        </p:txBody>
      </p:sp>
      <p:sp>
        <p:nvSpPr>
          <p:cNvPr id="6" name="Text 4"/>
          <p:cNvSpPr/>
          <p:nvPr/>
        </p:nvSpPr>
        <p:spPr>
          <a:xfrm>
            <a:off x="13571190" y="1557338"/>
            <a:ext cx="422456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65961"/>
                </a:solidFill>
                <a:latin typeface="Courier New" pitchFamily="34" charset="0"/>
                <a:ea typeface="Courier New" pitchFamily="34" charset="-122"/>
                <a:cs typeface="Courier New" pitchFamily="34" charset="-120"/>
              </a:rPr>
              <a:t>implemented in </a:t>
            </a:r>
            <a:pPr algn="l" indent="0" marL="0">
              <a:buNone/>
            </a:pPr>
            <a:r>
              <a:rPr lang="en-US" sz="1800" dirty="0">
                <a:solidFill>
                  <a:srgbClr val="191A1D"/>
                </a:solidFill>
                <a:latin typeface="Courier New" pitchFamily="34" charset="0"/>
                <a:ea typeface="Courier New" pitchFamily="34" charset="-122"/>
                <a:cs typeface="Courier New" pitchFamily="34" charset="-120"/>
              </a:rPr>
              <a:t>src/R/stats.R</a:t>
            </a:r>
            <a:endParaRPr lang="en-US" sz="1800" dirty="0"/>
          </a:p>
        </p:txBody>
      </p:sp>
      <p:sp>
        <p:nvSpPr>
          <p:cNvPr id="7" name="Shape 5"/>
          <p:cNvSpPr/>
          <p:nvPr/>
        </p:nvSpPr>
        <p:spPr>
          <a:xfrm>
            <a:off x="876300" y="3110954"/>
            <a:ext cx="5372100" cy="3469779"/>
          </a:xfrm>
          <a:prstGeom prst="roundRect">
            <a:avLst>
              <a:gd name="adj" fmla="val 3294"/>
            </a:avLst>
          </a:prstGeom>
          <a:solidFill>
            <a:srgbClr val="FBFAF6"/>
          </a:solidFill>
          <a:ln w="14288">
            <a:solidFill>
              <a:srgbClr val="DAD5C7"/>
            </a:solidFill>
            <a:prstDash val="solid"/>
          </a:ln>
        </p:spPr>
      </p:sp>
      <p:sp>
        <p:nvSpPr>
          <p:cNvPr id="8" name="Text 6"/>
          <p:cNvSpPr/>
          <p:nvPr/>
        </p:nvSpPr>
        <p:spPr>
          <a:xfrm>
            <a:off x="1157288" y="3372892"/>
            <a:ext cx="5291138"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2E3F66"/>
                </a:solidFill>
                <a:latin typeface="Arial" pitchFamily="34" charset="0"/>
                <a:ea typeface="Arial" pitchFamily="34" charset="-122"/>
                <a:cs typeface="Arial" pitchFamily="34" charset="-120"/>
              </a:rPr>
              <a:t>1 · </a:t>
            </a:r>
            <a:pPr algn="l" indent="0" marL="0">
              <a:buNone/>
            </a:pPr>
            <a:r>
              <a:rPr lang="en-US" sz="2025" b="1" dirty="0">
                <a:solidFill>
                  <a:srgbClr val="191A1D"/>
                </a:solidFill>
                <a:latin typeface="Arial" pitchFamily="34" charset="0"/>
                <a:ea typeface="Arial" pitchFamily="34" charset="-122"/>
                <a:cs typeface="Arial" pitchFamily="34" charset="-120"/>
              </a:rPr>
              <a:t>Stereotype Score</a:t>
            </a:r>
            <a:endParaRPr lang="en-US" sz="2025" dirty="0"/>
          </a:p>
        </p:txBody>
      </p:sp>
      <p:sp>
        <p:nvSpPr>
          <p:cNvPr id="9" name="Text 7"/>
          <p:cNvSpPr/>
          <p:nvPr/>
        </p:nvSpPr>
        <p:spPr>
          <a:xfrm>
            <a:off x="1157288" y="3801517"/>
            <a:ext cx="5291138" cy="423863"/>
          </a:xfrm>
          <a:prstGeom prst="rect">
            <a:avLst/>
          </a:prstGeom>
          <a:noFill/>
          <a:ln/>
        </p:spPr>
        <p:txBody>
          <a:bodyPr wrap="square" lIns="25400" tIns="25400" rIns="25400" bIns="25400" rtlCol="0" anchor="t">
            <a:normAutofit/>
          </a:bodyPr>
          <a:lstStyle/>
          <a:p>
            <a:pPr algn="l" indent="0" marL="0">
              <a:buNone/>
            </a:pPr>
            <a:r>
              <a:rPr lang="en-US" sz="2325" dirty="0">
                <a:solidFill>
                  <a:srgbClr val="191A1D"/>
                </a:solidFill>
                <a:latin typeface="Georgia" pitchFamily="34" charset="0"/>
                <a:ea typeface="Georgia" pitchFamily="34" charset="-122"/>
                <a:cs typeface="Georgia" pitchFamily="34" charset="-120"/>
              </a:rPr>
              <a:t>SS = max{ k/n , 1 − k/n }</a:t>
            </a:r>
            <a:endParaRPr lang="en-US" sz="2325" dirty="0"/>
          </a:p>
        </p:txBody>
      </p:sp>
      <p:sp>
        <p:nvSpPr>
          <p:cNvPr id="10" name="Text 8"/>
          <p:cNvSpPr/>
          <p:nvPr/>
        </p:nvSpPr>
        <p:spPr>
          <a:xfrm>
            <a:off x="1157288" y="4320629"/>
            <a:ext cx="4954429" cy="1007566"/>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65961"/>
                </a:solidFill>
                <a:latin typeface="Arial" pitchFamily="34" charset="0"/>
                <a:ea typeface="Arial" pitchFamily="34" charset="-122"/>
                <a:cs typeface="Arial" pitchFamily="34" charset="-120"/>
              </a:rPr>
              <a:t>magnitude only, always ≥ 0.5, </a:t>
            </a:r>
            <a:pPr algn="l" indent="0" marL="0">
              <a:lnSpc>
                <a:spcPct val="140000"/>
              </a:lnSpc>
              <a:buNone/>
            </a:pPr>
            <a:r>
              <a:rPr lang="en-US" sz="1800" b="1" dirty="0">
                <a:solidFill>
                  <a:srgbClr val="565961"/>
                </a:solidFill>
                <a:latin typeface="Arial" pitchFamily="34" charset="0"/>
                <a:ea typeface="Arial" pitchFamily="34" charset="-122"/>
                <a:cs typeface="Arial" pitchFamily="34" charset="-120"/>
              </a:rPr>
              <a:t>direction-agnostic </a:t>
            </a:r>
            <a:pPr algn="l" indent="0" marL="0">
              <a:lnSpc>
                <a:spcPct val="140000"/>
              </a:lnSpc>
              <a:buNone/>
            </a:pPr>
            <a:r>
              <a:rPr lang="en-US" sz="1800" dirty="0">
                <a:solidFill>
                  <a:srgbClr val="565961"/>
                </a:solidFill>
                <a:latin typeface="Arial" pitchFamily="34" charset="0"/>
                <a:ea typeface="Arial" pitchFamily="34" charset="-122"/>
                <a:cs typeface="Arial" pitchFamily="34" charset="-120"/>
              </a:rPr>
              <a:t>. Its signed companion is </a:t>
            </a:r>
            <a:pPr algn="l" indent="0" marL="0">
              <a:lnSpc>
                <a:spcPct val="140000"/>
              </a:lnSpc>
              <a:buNone/>
            </a:pPr>
            <a:r>
              <a:rPr lang="en-US" sz="1800" dirty="0">
                <a:solidFill>
                  <a:srgbClr val="565961"/>
                </a:solidFill>
                <a:latin typeface="Courier New" pitchFamily="34" charset="0"/>
                <a:ea typeface="Courier New" pitchFamily="34" charset="-122"/>
                <a:cs typeface="Courier New" pitchFamily="34" charset="-120"/>
              </a:rPr>
              <a:t>rate = k/n </a:t>
            </a:r>
            <a:pPr algn="l" indent="0" marL="0">
              <a:lnSpc>
                <a:spcPct val="140000"/>
              </a:lnSpc>
              <a:buNone/>
            </a:pPr>
            <a:r>
              <a:rPr lang="en-US" sz="1800" dirty="0">
                <a:solidFill>
                  <a:srgbClr val="565961"/>
                </a:solidFill>
                <a:latin typeface="Arial" pitchFamily="34" charset="0"/>
                <a:ea typeface="Arial" pitchFamily="34" charset="-122"/>
                <a:cs typeface="Arial" pitchFamily="34" charset="-120"/>
              </a:rPr>
              <a:t>.</a:t>
            </a:r>
            <a:endParaRPr lang="en-US" sz="1800" dirty="0"/>
          </a:p>
        </p:txBody>
      </p:sp>
      <p:sp>
        <p:nvSpPr>
          <p:cNvPr id="11" name="Shape 9"/>
          <p:cNvSpPr/>
          <p:nvPr/>
        </p:nvSpPr>
        <p:spPr>
          <a:xfrm>
            <a:off x="1157288" y="5423446"/>
            <a:ext cx="3383384" cy="409575"/>
          </a:xfrm>
          <a:prstGeom prst="roundRect">
            <a:avLst>
              <a:gd name="adj" fmla="val 13953"/>
            </a:avLst>
          </a:prstGeom>
          <a:solidFill>
            <a:srgbClr val="1B1C20"/>
          </a:solidFill>
          <a:ln/>
        </p:spPr>
      </p:sp>
      <p:sp>
        <p:nvSpPr>
          <p:cNvPr id="12" name="Text 10"/>
          <p:cNvSpPr/>
          <p:nvPr/>
        </p:nvSpPr>
        <p:spPr>
          <a:xfrm>
            <a:off x="1271588" y="5480596"/>
            <a:ext cx="3256286"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8927F"/>
                </a:solidFill>
                <a:latin typeface="Courier New" pitchFamily="34" charset="0"/>
                <a:ea typeface="Courier New" pitchFamily="34" charset="-122"/>
                <a:cs typeface="Courier New" pitchFamily="34" charset="-120"/>
              </a:rPr>
              <a:t>R </a:t>
            </a:r>
            <a:pPr algn="l" indent="0" marL="0">
              <a:buNone/>
            </a:pPr>
            <a:r>
              <a:rPr lang="en-US" sz="1800" dirty="0">
                <a:solidFill>
                  <a:srgbClr val="F4F1EA"/>
                </a:solidFill>
                <a:highlight>
                  <a:srgbClr val="1B1C20"/>
                </a:highlight>
                <a:latin typeface="Courier New" pitchFamily="34" charset="0"/>
                <a:ea typeface="Courier New" pitchFamily="34" charset="-122"/>
                <a:cs typeface="Courier New" pitchFamily="34" charset="-120"/>
              </a:rPr>
              <a:t>stereotype_score(n,k)</a:t>
            </a:r>
            <a:endParaRPr lang="en-US" sz="1800" dirty="0"/>
          </a:p>
        </p:txBody>
      </p:sp>
      <p:sp>
        <p:nvSpPr>
          <p:cNvPr id="13" name="Shape 11"/>
          <p:cNvSpPr/>
          <p:nvPr/>
        </p:nvSpPr>
        <p:spPr>
          <a:xfrm>
            <a:off x="1157288" y="5909221"/>
            <a:ext cx="3246239" cy="409575"/>
          </a:xfrm>
          <a:prstGeom prst="roundRect">
            <a:avLst>
              <a:gd name="adj" fmla="val 13953"/>
            </a:avLst>
          </a:prstGeom>
          <a:solidFill>
            <a:srgbClr val="1B1C20"/>
          </a:solidFill>
          <a:ln/>
        </p:spPr>
      </p:sp>
      <p:sp>
        <p:nvSpPr>
          <p:cNvPr id="14" name="Text 12"/>
          <p:cNvSpPr/>
          <p:nvPr/>
        </p:nvSpPr>
        <p:spPr>
          <a:xfrm>
            <a:off x="1271588" y="5966371"/>
            <a:ext cx="3115026"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8927F"/>
                </a:solidFill>
                <a:latin typeface="Courier New" pitchFamily="34" charset="0"/>
                <a:ea typeface="Courier New" pitchFamily="34" charset="-122"/>
                <a:cs typeface="Courier New" pitchFamily="34" charset="-120"/>
              </a:rPr>
              <a:t>R </a:t>
            </a:r>
            <a:pPr algn="l" indent="0" marL="0">
              <a:buNone/>
            </a:pPr>
            <a:r>
              <a:rPr lang="en-US" sz="1800" dirty="0">
                <a:solidFill>
                  <a:srgbClr val="F4F1EA"/>
                </a:solidFill>
                <a:highlight>
                  <a:srgbClr val="1B1C20"/>
                </a:highlight>
                <a:latin typeface="Courier New" pitchFamily="34" charset="0"/>
                <a:ea typeface="Courier New" pitchFamily="34" charset="-122"/>
                <a:cs typeface="Courier New" pitchFamily="34" charset="-120"/>
              </a:rPr>
              <a:t>stereotype_rate(n,k)</a:t>
            </a:r>
            <a:endParaRPr lang="en-US" sz="1800" dirty="0"/>
          </a:p>
        </p:txBody>
      </p:sp>
      <p:sp>
        <p:nvSpPr>
          <p:cNvPr id="15" name="Shape 13"/>
          <p:cNvSpPr/>
          <p:nvPr/>
        </p:nvSpPr>
        <p:spPr>
          <a:xfrm>
            <a:off x="6457950" y="3110954"/>
            <a:ext cx="5372100" cy="3469779"/>
          </a:xfrm>
          <a:prstGeom prst="roundRect">
            <a:avLst>
              <a:gd name="adj" fmla="val 3294"/>
            </a:avLst>
          </a:prstGeom>
          <a:solidFill>
            <a:srgbClr val="FBFAF6"/>
          </a:solidFill>
          <a:ln w="14288">
            <a:solidFill>
              <a:srgbClr val="DAD5C7"/>
            </a:solidFill>
            <a:prstDash val="solid"/>
          </a:ln>
        </p:spPr>
      </p:sp>
      <p:sp>
        <p:nvSpPr>
          <p:cNvPr id="16" name="Text 14"/>
          <p:cNvSpPr/>
          <p:nvPr/>
        </p:nvSpPr>
        <p:spPr>
          <a:xfrm>
            <a:off x="6738938" y="3372892"/>
            <a:ext cx="5291138"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2E3F66"/>
                </a:solidFill>
                <a:latin typeface="Arial" pitchFamily="34" charset="0"/>
                <a:ea typeface="Arial" pitchFamily="34" charset="-122"/>
                <a:cs typeface="Arial" pitchFamily="34" charset="-120"/>
              </a:rPr>
              <a:t>2 · </a:t>
            </a:r>
            <a:pPr algn="l" indent="0" marL="0">
              <a:buNone/>
            </a:pPr>
            <a:r>
              <a:rPr lang="en-US" sz="2025" b="1" dirty="0">
                <a:solidFill>
                  <a:srgbClr val="191A1D"/>
                </a:solidFill>
                <a:latin typeface="Arial" pitchFamily="34" charset="0"/>
                <a:ea typeface="Arial" pitchFamily="34" charset="-122"/>
                <a:cs typeface="Arial" pitchFamily="34" charset="-120"/>
              </a:rPr>
              <a:t>Exact Binomial Test</a:t>
            </a:r>
            <a:endParaRPr lang="en-US" sz="2025" dirty="0"/>
          </a:p>
        </p:txBody>
      </p:sp>
      <p:sp>
        <p:nvSpPr>
          <p:cNvPr id="17" name="Text 15"/>
          <p:cNvSpPr/>
          <p:nvPr/>
        </p:nvSpPr>
        <p:spPr>
          <a:xfrm>
            <a:off x="6738938" y="3801517"/>
            <a:ext cx="5291138" cy="395288"/>
          </a:xfrm>
          <a:prstGeom prst="rect">
            <a:avLst/>
          </a:prstGeom>
          <a:noFill/>
          <a:ln/>
        </p:spPr>
        <p:txBody>
          <a:bodyPr wrap="square" lIns="25400" tIns="25400" rIns="25400" bIns="25400" rtlCol="0" anchor="t">
            <a:normAutofit/>
          </a:bodyPr>
          <a:lstStyle/>
          <a:p>
            <a:pPr algn="l" indent="0" marL="0">
              <a:buNone/>
            </a:pPr>
            <a:r>
              <a:rPr lang="en-US" sz="2175" dirty="0">
                <a:solidFill>
                  <a:srgbClr val="191A1D"/>
                </a:solidFill>
                <a:latin typeface="Georgia" pitchFamily="34" charset="0"/>
                <a:ea typeface="Georgia" pitchFamily="34" charset="-122"/>
                <a:cs typeface="Georgia" pitchFamily="34" charset="-120"/>
              </a:rPr>
              <a:t>p = P(S</a:t>
            </a:r>
            <a:pPr algn="l" indent="0" marL="0">
              <a:buNone/>
            </a:pPr>
            <a:r>
              <a:rPr lang="en-US" sz="1813" baseline="-40000" dirty="0">
                <a:solidFill>
                  <a:srgbClr val="191A1D"/>
                </a:solidFill>
                <a:latin typeface="Georgia" pitchFamily="34" charset="0"/>
                <a:ea typeface="Georgia" pitchFamily="34" charset="-122"/>
                <a:cs typeface="Georgia" pitchFamily="34" charset="-120"/>
              </a:rPr>
              <a:t>n </a:t>
            </a:r>
            <a:pPr algn="l" indent="0" marL="0">
              <a:buNone/>
            </a:pPr>
            <a:r>
              <a:rPr lang="en-US" sz="2175" dirty="0">
                <a:solidFill>
                  <a:srgbClr val="191A1D"/>
                </a:solidFill>
                <a:latin typeface="Georgia" pitchFamily="34" charset="0"/>
                <a:ea typeface="Georgia" pitchFamily="34" charset="-122"/>
                <a:cs typeface="Georgia" pitchFamily="34" charset="-120"/>
              </a:rPr>
              <a:t>≤ LB) + P(S</a:t>
            </a:r>
            <a:pPr algn="l" indent="0" marL="0">
              <a:buNone/>
            </a:pPr>
            <a:r>
              <a:rPr lang="en-US" sz="1813" baseline="-40000" dirty="0">
                <a:solidFill>
                  <a:srgbClr val="191A1D"/>
                </a:solidFill>
                <a:latin typeface="Georgia" pitchFamily="34" charset="0"/>
                <a:ea typeface="Georgia" pitchFamily="34" charset="-122"/>
                <a:cs typeface="Georgia" pitchFamily="34" charset="-120"/>
              </a:rPr>
              <a:t>n </a:t>
            </a:r>
            <a:pPr algn="l" indent="0" marL="0">
              <a:buNone/>
            </a:pPr>
            <a:r>
              <a:rPr lang="en-US" sz="2175" dirty="0">
                <a:solidFill>
                  <a:srgbClr val="191A1D"/>
                </a:solidFill>
                <a:latin typeface="Georgia" pitchFamily="34" charset="0"/>
                <a:ea typeface="Georgia" pitchFamily="34" charset="-122"/>
                <a:cs typeface="Georgia" pitchFamily="34" charset="-120"/>
              </a:rPr>
              <a:t>≥ UB)</a:t>
            </a:r>
            <a:endParaRPr lang="en-US" sz="2175" dirty="0"/>
          </a:p>
        </p:txBody>
      </p:sp>
      <p:sp>
        <p:nvSpPr>
          <p:cNvPr id="18" name="Text 16"/>
          <p:cNvSpPr/>
          <p:nvPr/>
        </p:nvSpPr>
        <p:spPr>
          <a:xfrm>
            <a:off x="6738938" y="4292054"/>
            <a:ext cx="4954429" cy="687586"/>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65961"/>
                </a:solidFill>
                <a:latin typeface="Arial" pitchFamily="34" charset="0"/>
                <a:ea typeface="Arial" pitchFamily="34" charset="-122"/>
                <a:cs typeface="Arial" pitchFamily="34" charset="-120"/>
              </a:rPr>
              <a:t>frequentist two-sided p for H</a:t>
            </a:r>
            <a:pPr algn="l" indent="0" marL="0">
              <a:lnSpc>
                <a:spcPct val="140000"/>
              </a:lnSpc>
              <a:buNone/>
            </a:pPr>
            <a:r>
              <a:rPr lang="en-US" sz="1500" baseline="-40000" dirty="0">
                <a:solidFill>
                  <a:srgbClr val="565961"/>
                </a:solidFill>
                <a:latin typeface="Arial" pitchFamily="34" charset="0"/>
                <a:ea typeface="Arial" pitchFamily="34" charset="-122"/>
                <a:cs typeface="Arial" pitchFamily="34" charset="-120"/>
              </a:rPr>
              <a:t>0</a:t>
            </a:r>
            <a:pPr algn="l" indent="0" marL="0">
              <a:lnSpc>
                <a:spcPct val="140000"/>
              </a:lnSpc>
              <a:buNone/>
            </a:pPr>
            <a:r>
              <a:rPr lang="en-US" sz="1800" dirty="0">
                <a:solidFill>
                  <a:srgbClr val="565961"/>
                </a:solidFill>
                <a:latin typeface="Arial" pitchFamily="34" charset="0"/>
                <a:ea typeface="Arial" pitchFamily="34" charset="-122"/>
                <a:cs typeface="Arial" pitchFamily="34" charset="-120"/>
              </a:rPr>
              <a:t>. Flags </a:t>
            </a:r>
            <a:pPr algn="l" indent="0" marL="0">
              <a:lnSpc>
                <a:spcPct val="140000"/>
              </a:lnSpc>
              <a:buNone/>
            </a:pPr>
            <a:r>
              <a:rPr lang="en-US" sz="1800" b="1" dirty="0">
                <a:solidFill>
                  <a:srgbClr val="565961"/>
                </a:solidFill>
                <a:latin typeface="Arial" pitchFamily="34" charset="0"/>
                <a:ea typeface="Arial" pitchFamily="34" charset="-122"/>
                <a:cs typeface="Arial" pitchFamily="34" charset="-120"/>
              </a:rPr>
              <a:t>* </a:t>
            </a:r>
            <a:pPr algn="l" indent="0" marL="0">
              <a:lnSpc>
                <a:spcPct val="140000"/>
              </a:lnSpc>
              <a:buNone/>
            </a:pPr>
            <a:r>
              <a:rPr lang="en-US" sz="1800" dirty="0">
                <a:solidFill>
                  <a:srgbClr val="565961"/>
                </a:solidFill>
                <a:latin typeface="Arial" pitchFamily="34" charset="0"/>
                <a:ea typeface="Arial" pitchFamily="34" charset="-122"/>
                <a:cs typeface="Arial" pitchFamily="34" charset="-120"/>
              </a:rPr>
              <a:t>p&lt;0.05, </a:t>
            </a:r>
            <a:pPr algn="l" indent="0" marL="0">
              <a:lnSpc>
                <a:spcPct val="140000"/>
              </a:lnSpc>
              <a:buNone/>
            </a:pPr>
            <a:r>
              <a:rPr lang="en-US" sz="1800" b="1" dirty="0">
                <a:solidFill>
                  <a:srgbClr val="565961"/>
                </a:solidFill>
                <a:latin typeface="Arial" pitchFamily="34" charset="0"/>
                <a:ea typeface="Arial" pitchFamily="34" charset="-122"/>
                <a:cs typeface="Arial" pitchFamily="34" charset="-120"/>
              </a:rPr>
              <a:t>** </a:t>
            </a:r>
            <a:pPr algn="l" indent="0" marL="0">
              <a:lnSpc>
                <a:spcPct val="140000"/>
              </a:lnSpc>
              <a:buNone/>
            </a:pPr>
            <a:r>
              <a:rPr lang="en-US" sz="1800" dirty="0">
                <a:solidFill>
                  <a:srgbClr val="565961"/>
                </a:solidFill>
                <a:latin typeface="Arial" pitchFamily="34" charset="0"/>
                <a:ea typeface="Arial" pitchFamily="34" charset="-122"/>
                <a:cs typeface="Arial" pitchFamily="34" charset="-120"/>
              </a:rPr>
              <a:t>p&lt;0.01. Can reject H</a:t>
            </a:r>
            <a:pPr algn="l" indent="0" marL="0">
              <a:lnSpc>
                <a:spcPct val="140000"/>
              </a:lnSpc>
              <a:buNone/>
            </a:pPr>
            <a:r>
              <a:rPr lang="en-US" sz="1500" baseline="-40000" dirty="0">
                <a:solidFill>
                  <a:srgbClr val="565961"/>
                </a:solidFill>
                <a:latin typeface="Arial" pitchFamily="34" charset="0"/>
                <a:ea typeface="Arial" pitchFamily="34" charset="-122"/>
                <a:cs typeface="Arial" pitchFamily="34" charset="-120"/>
              </a:rPr>
              <a:t>0 </a:t>
            </a:r>
            <a:pPr algn="l" indent="0" marL="0">
              <a:lnSpc>
                <a:spcPct val="140000"/>
              </a:lnSpc>
              <a:buNone/>
            </a:pPr>
            <a:r>
              <a:rPr lang="en-US" sz="1800" dirty="0">
                <a:solidFill>
                  <a:srgbClr val="565961"/>
                </a:solidFill>
                <a:latin typeface="Arial" pitchFamily="34" charset="0"/>
                <a:ea typeface="Arial" pitchFamily="34" charset="-122"/>
                <a:cs typeface="Arial" pitchFamily="34" charset="-120"/>
              </a:rPr>
              <a:t>but </a:t>
            </a:r>
            <a:pPr algn="l" indent="0" marL="0">
              <a:lnSpc>
                <a:spcPct val="140000"/>
              </a:lnSpc>
              <a:buNone/>
            </a:pPr>
            <a:r>
              <a:rPr lang="en-US" sz="1800" b="1" dirty="0">
                <a:solidFill>
                  <a:srgbClr val="565961"/>
                </a:solidFill>
                <a:latin typeface="Arial" pitchFamily="34" charset="0"/>
                <a:ea typeface="Arial" pitchFamily="34" charset="-122"/>
                <a:cs typeface="Arial" pitchFamily="34" charset="-120"/>
              </a:rPr>
              <a:t>never support it</a:t>
            </a:r>
            <a:pPr algn="l" indent="0" marL="0">
              <a:lnSpc>
                <a:spcPct val="140000"/>
              </a:lnSpc>
              <a:buNone/>
            </a:pPr>
            <a:r>
              <a:rPr lang="en-US" sz="1800" dirty="0">
                <a:solidFill>
                  <a:srgbClr val="565961"/>
                </a:solidFill>
                <a:latin typeface="Arial" pitchFamily="34" charset="0"/>
                <a:ea typeface="Arial" pitchFamily="34" charset="-122"/>
                <a:cs typeface="Arial" pitchFamily="34" charset="-120"/>
              </a:rPr>
              <a:t>.</a:t>
            </a:r>
            <a:endParaRPr lang="en-US" sz="1800" dirty="0"/>
          </a:p>
        </p:txBody>
      </p:sp>
      <p:sp>
        <p:nvSpPr>
          <p:cNvPr id="19" name="Shape 17"/>
          <p:cNvSpPr/>
          <p:nvPr/>
        </p:nvSpPr>
        <p:spPr>
          <a:xfrm>
            <a:off x="6738938" y="5909221"/>
            <a:ext cx="2560439" cy="409575"/>
          </a:xfrm>
          <a:prstGeom prst="roundRect">
            <a:avLst>
              <a:gd name="adj" fmla="val 13953"/>
            </a:avLst>
          </a:prstGeom>
          <a:solidFill>
            <a:srgbClr val="1B1C20"/>
          </a:solidFill>
          <a:ln/>
        </p:spPr>
      </p:sp>
      <p:sp>
        <p:nvSpPr>
          <p:cNvPr id="20" name="Text 18"/>
          <p:cNvSpPr/>
          <p:nvPr/>
        </p:nvSpPr>
        <p:spPr>
          <a:xfrm>
            <a:off x="6853238" y="5966371"/>
            <a:ext cx="2408652"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8927F"/>
                </a:solidFill>
                <a:latin typeface="Courier New" pitchFamily="34" charset="0"/>
                <a:ea typeface="Courier New" pitchFamily="34" charset="-122"/>
                <a:cs typeface="Courier New" pitchFamily="34" charset="-120"/>
              </a:rPr>
              <a:t>R </a:t>
            </a:r>
            <a:pPr algn="l" indent="0" marL="0">
              <a:buNone/>
            </a:pPr>
            <a:r>
              <a:rPr lang="en-US" sz="1800" dirty="0">
                <a:solidFill>
                  <a:srgbClr val="F4F1EA"/>
                </a:solidFill>
                <a:highlight>
                  <a:srgbClr val="1B1C20"/>
                </a:highlight>
                <a:latin typeface="Courier New" pitchFamily="34" charset="0"/>
                <a:ea typeface="Courier New" pitchFamily="34" charset="-122"/>
                <a:cs typeface="Courier New" pitchFamily="34" charset="-120"/>
              </a:rPr>
              <a:t>ebt_pvalue(n,k)</a:t>
            </a:r>
            <a:endParaRPr lang="en-US" sz="1800" dirty="0"/>
          </a:p>
        </p:txBody>
      </p:sp>
      <p:sp>
        <p:nvSpPr>
          <p:cNvPr id="21" name="Shape 19"/>
          <p:cNvSpPr/>
          <p:nvPr/>
        </p:nvSpPr>
        <p:spPr>
          <a:xfrm>
            <a:off x="9375577" y="5909221"/>
            <a:ext cx="2148929" cy="409575"/>
          </a:xfrm>
          <a:prstGeom prst="roundRect">
            <a:avLst>
              <a:gd name="adj" fmla="val 13953"/>
            </a:avLst>
          </a:prstGeom>
          <a:solidFill>
            <a:srgbClr val="1B1C20"/>
          </a:solidFill>
          <a:ln/>
        </p:spPr>
      </p:sp>
      <p:sp>
        <p:nvSpPr>
          <p:cNvPr id="22" name="Text 20"/>
          <p:cNvSpPr/>
          <p:nvPr/>
        </p:nvSpPr>
        <p:spPr>
          <a:xfrm>
            <a:off x="9489877" y="5966371"/>
            <a:ext cx="1996529"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8927F"/>
                </a:solidFill>
                <a:latin typeface="Courier New" pitchFamily="34" charset="0"/>
                <a:ea typeface="Courier New" pitchFamily="34" charset="-122"/>
                <a:cs typeface="Courier New" pitchFamily="34" charset="-120"/>
              </a:rPr>
              <a:t>R </a:t>
            </a:r>
            <a:pPr algn="l" indent="0" marL="0">
              <a:buNone/>
            </a:pPr>
            <a:r>
              <a:rPr lang="en-US" sz="1800" dirty="0">
                <a:solidFill>
                  <a:srgbClr val="F4F1EA"/>
                </a:solidFill>
                <a:highlight>
                  <a:srgbClr val="1B1C20"/>
                </a:highlight>
                <a:latin typeface="Courier New" pitchFamily="34" charset="0"/>
                <a:ea typeface="Courier New" pitchFamily="34" charset="-122"/>
                <a:cs typeface="Courier New" pitchFamily="34" charset="-120"/>
              </a:rPr>
              <a:t>ebt_stars(p)</a:t>
            </a:r>
            <a:endParaRPr lang="en-US" sz="1800" dirty="0"/>
          </a:p>
        </p:txBody>
      </p:sp>
      <p:sp>
        <p:nvSpPr>
          <p:cNvPr id="23" name="Shape 21"/>
          <p:cNvSpPr/>
          <p:nvPr/>
        </p:nvSpPr>
        <p:spPr>
          <a:xfrm>
            <a:off x="12039600" y="3110954"/>
            <a:ext cx="5372100" cy="3469779"/>
          </a:xfrm>
          <a:prstGeom prst="roundRect">
            <a:avLst>
              <a:gd name="adj" fmla="val 3294"/>
            </a:avLst>
          </a:prstGeom>
          <a:solidFill>
            <a:srgbClr val="FBFAF6"/>
          </a:solidFill>
          <a:ln w="14288">
            <a:solidFill>
              <a:srgbClr val="DAD5C7"/>
            </a:solidFill>
            <a:prstDash val="solid"/>
          </a:ln>
        </p:spPr>
      </p:sp>
      <p:sp>
        <p:nvSpPr>
          <p:cNvPr id="24" name="Text 22"/>
          <p:cNvSpPr/>
          <p:nvPr/>
        </p:nvSpPr>
        <p:spPr>
          <a:xfrm>
            <a:off x="12320588" y="3372892"/>
            <a:ext cx="5291138"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2E3F66"/>
                </a:solidFill>
                <a:latin typeface="Arial" pitchFamily="34" charset="0"/>
                <a:ea typeface="Arial" pitchFamily="34" charset="-122"/>
                <a:cs typeface="Arial" pitchFamily="34" charset="-120"/>
              </a:rPr>
              <a:t>3 · </a:t>
            </a:r>
            <a:pPr algn="l" indent="0" marL="0">
              <a:buNone/>
            </a:pPr>
            <a:r>
              <a:rPr lang="en-US" sz="2025" b="1" dirty="0">
                <a:solidFill>
                  <a:srgbClr val="191A1D"/>
                </a:solidFill>
                <a:latin typeface="Arial" pitchFamily="34" charset="0"/>
                <a:ea typeface="Arial" pitchFamily="34" charset="-122"/>
                <a:cs typeface="Arial" pitchFamily="34" charset="-120"/>
              </a:rPr>
              <a:t>Bayes Factor</a:t>
            </a:r>
            <a:endParaRPr lang="en-US" sz="2025" dirty="0"/>
          </a:p>
        </p:txBody>
      </p:sp>
      <p:sp>
        <p:nvSpPr>
          <p:cNvPr id="25" name="Text 23"/>
          <p:cNvSpPr/>
          <p:nvPr/>
        </p:nvSpPr>
        <p:spPr>
          <a:xfrm>
            <a:off x="12320588" y="3801517"/>
            <a:ext cx="5291138" cy="371475"/>
          </a:xfrm>
          <a:prstGeom prst="rect">
            <a:avLst/>
          </a:prstGeom>
          <a:noFill/>
          <a:ln/>
        </p:spPr>
        <p:txBody>
          <a:bodyPr wrap="square" lIns="25400" tIns="25400" rIns="25400" bIns="25400" rtlCol="0" anchor="t">
            <a:normAutofit/>
          </a:bodyPr>
          <a:lstStyle/>
          <a:p>
            <a:pPr algn="l" indent="0" marL="0">
              <a:buNone/>
            </a:pPr>
            <a:r>
              <a:rPr lang="en-US" sz="2025" dirty="0">
                <a:solidFill>
                  <a:srgbClr val="191A1D"/>
                </a:solidFill>
                <a:latin typeface="Georgia" pitchFamily="34" charset="0"/>
                <a:ea typeface="Georgia" pitchFamily="34" charset="-122"/>
                <a:cs typeface="Georgia" pitchFamily="34" charset="-120"/>
              </a:rPr>
              <a:t>BF</a:t>
            </a:r>
            <a:pPr algn="l" indent="0" marL="0">
              <a:buNone/>
            </a:pPr>
            <a:r>
              <a:rPr lang="en-US" sz="1688" baseline="-40000" dirty="0">
                <a:solidFill>
                  <a:srgbClr val="191A1D"/>
                </a:solidFill>
                <a:latin typeface="Georgia" pitchFamily="34" charset="0"/>
                <a:ea typeface="Georgia" pitchFamily="34" charset="-122"/>
                <a:cs typeface="Georgia" pitchFamily="34" charset="-120"/>
              </a:rPr>
              <a:t>10 </a:t>
            </a:r>
            <a:pPr algn="l" indent="0" marL="0">
              <a:buNone/>
            </a:pPr>
            <a:r>
              <a:rPr lang="en-US" sz="2025" dirty="0">
                <a:solidFill>
                  <a:srgbClr val="191A1D"/>
                </a:solidFill>
                <a:latin typeface="Georgia" pitchFamily="34" charset="0"/>
                <a:ea typeface="Georgia" pitchFamily="34" charset="-122"/>
                <a:cs typeface="Georgia" pitchFamily="34" charset="-120"/>
              </a:rPr>
              <a:t>= B(k+1, n−k+1) / 0.5</a:t>
            </a:r>
            <a:pPr algn="l" indent="0" marL="0">
              <a:buNone/>
            </a:pPr>
            <a:r>
              <a:rPr lang="en-US" sz="1688" baseline="30000" dirty="0">
                <a:solidFill>
                  <a:srgbClr val="191A1D"/>
                </a:solidFill>
                <a:latin typeface="Georgia" pitchFamily="34" charset="0"/>
                <a:ea typeface="Georgia" pitchFamily="34" charset="-122"/>
                <a:cs typeface="Georgia" pitchFamily="34" charset="-120"/>
              </a:rPr>
              <a:t>n</a:t>
            </a:r>
            <a:endParaRPr lang="en-US" sz="2025" dirty="0"/>
          </a:p>
        </p:txBody>
      </p:sp>
      <p:sp>
        <p:nvSpPr>
          <p:cNvPr id="26" name="Text 24"/>
          <p:cNvSpPr/>
          <p:nvPr/>
        </p:nvSpPr>
        <p:spPr>
          <a:xfrm>
            <a:off x="12320588" y="4268242"/>
            <a:ext cx="4954429" cy="682823"/>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65961"/>
                </a:solidFill>
                <a:latin typeface="Arial" pitchFamily="34" charset="0"/>
                <a:ea typeface="Arial" pitchFamily="34" charset="-122"/>
                <a:cs typeface="Arial" pitchFamily="34" charset="-120"/>
              </a:rPr>
              <a:t>Uniform(0,1) prior under H</a:t>
            </a:r>
            <a:pPr algn="l" indent="0" marL="0">
              <a:lnSpc>
                <a:spcPct val="140000"/>
              </a:lnSpc>
              <a:buNone/>
            </a:pPr>
            <a:r>
              <a:rPr lang="en-US" sz="1500" baseline="-40000" dirty="0">
                <a:solidFill>
                  <a:srgbClr val="565961"/>
                </a:solidFill>
                <a:latin typeface="Arial" pitchFamily="34" charset="0"/>
                <a:ea typeface="Arial" pitchFamily="34" charset="-122"/>
                <a:cs typeface="Arial" pitchFamily="34" charset="-120"/>
              </a:rPr>
              <a:t>1 </a:t>
            </a:r>
            <a:pPr algn="l" indent="0" marL="0">
              <a:lnSpc>
                <a:spcPct val="140000"/>
              </a:lnSpc>
              <a:buNone/>
            </a:pPr>
            <a:r>
              <a:rPr lang="en-US" sz="1800" dirty="0">
                <a:solidFill>
                  <a:srgbClr val="565961"/>
                </a:solidFill>
                <a:latin typeface="Arial" pitchFamily="34" charset="0"/>
                <a:ea typeface="Arial" pitchFamily="34" charset="-122"/>
                <a:cs typeface="Arial" pitchFamily="34" charset="-120"/>
              </a:rPr>
              <a:t>. &gt;1 favours bias, &lt;1 favours no-bias. Computed in </a:t>
            </a:r>
            <a:pPr algn="l" indent="0" marL="0">
              <a:lnSpc>
                <a:spcPct val="140000"/>
              </a:lnSpc>
              <a:buNone/>
            </a:pPr>
            <a:r>
              <a:rPr lang="en-US" sz="1800" b="1" dirty="0">
                <a:solidFill>
                  <a:srgbClr val="565961"/>
                </a:solidFill>
                <a:latin typeface="Arial" pitchFamily="34" charset="0"/>
                <a:ea typeface="Arial" pitchFamily="34" charset="-122"/>
                <a:cs typeface="Arial" pitchFamily="34" charset="-120"/>
              </a:rPr>
              <a:t>log-space</a:t>
            </a:r>
            <a:pPr algn="l" indent="0" marL="0">
              <a:lnSpc>
                <a:spcPct val="140000"/>
              </a:lnSpc>
              <a:buNone/>
            </a:pPr>
            <a:r>
              <a:rPr lang="en-US" sz="1800" dirty="0">
                <a:solidFill>
                  <a:srgbClr val="565961"/>
                </a:solidFill>
                <a:latin typeface="Arial" pitchFamily="34" charset="0"/>
                <a:ea typeface="Arial" pitchFamily="34" charset="-122"/>
                <a:cs typeface="Arial" pitchFamily="34" charset="-120"/>
              </a:rPr>
              <a:t>.</a:t>
            </a:r>
            <a:endParaRPr lang="en-US" sz="1800" dirty="0"/>
          </a:p>
        </p:txBody>
      </p:sp>
      <p:sp>
        <p:nvSpPr>
          <p:cNvPr id="27" name="Shape 25"/>
          <p:cNvSpPr/>
          <p:nvPr/>
        </p:nvSpPr>
        <p:spPr>
          <a:xfrm>
            <a:off x="12320588" y="5423446"/>
            <a:ext cx="2286074" cy="409575"/>
          </a:xfrm>
          <a:prstGeom prst="roundRect">
            <a:avLst>
              <a:gd name="adj" fmla="val 13953"/>
            </a:avLst>
          </a:prstGeom>
          <a:solidFill>
            <a:srgbClr val="1B1C20"/>
          </a:solidFill>
          <a:ln/>
        </p:spPr>
      </p:sp>
      <p:sp>
        <p:nvSpPr>
          <p:cNvPr id="28" name="Text 26"/>
          <p:cNvSpPr/>
          <p:nvPr/>
        </p:nvSpPr>
        <p:spPr>
          <a:xfrm>
            <a:off x="12434888" y="5480596"/>
            <a:ext cx="2133674"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8927F"/>
                </a:solidFill>
                <a:latin typeface="Courier New" pitchFamily="34" charset="0"/>
                <a:ea typeface="Courier New" pitchFamily="34" charset="-122"/>
                <a:cs typeface="Courier New" pitchFamily="34" charset="-120"/>
              </a:rPr>
              <a:t>R </a:t>
            </a:r>
            <a:pPr algn="l" indent="0" marL="0">
              <a:buNone/>
            </a:pPr>
            <a:r>
              <a:rPr lang="en-US" sz="1800" dirty="0">
                <a:solidFill>
                  <a:srgbClr val="F4F1EA"/>
                </a:solidFill>
                <a:highlight>
                  <a:srgbClr val="1B1C20"/>
                </a:highlight>
                <a:latin typeface="Courier New" pitchFamily="34" charset="0"/>
                <a:ea typeface="Courier New" pitchFamily="34" charset="-122"/>
                <a:cs typeface="Courier New" pitchFamily="34" charset="-120"/>
              </a:rPr>
              <a:t>log_bf10(n,k)</a:t>
            </a:r>
            <a:endParaRPr lang="en-US" sz="1800" dirty="0"/>
          </a:p>
        </p:txBody>
      </p:sp>
      <p:sp>
        <p:nvSpPr>
          <p:cNvPr id="29" name="Shape 27"/>
          <p:cNvSpPr/>
          <p:nvPr/>
        </p:nvSpPr>
        <p:spPr>
          <a:xfrm>
            <a:off x="12320588" y="5909221"/>
            <a:ext cx="2697584" cy="409575"/>
          </a:xfrm>
          <a:prstGeom prst="roundRect">
            <a:avLst>
              <a:gd name="adj" fmla="val 13953"/>
            </a:avLst>
          </a:prstGeom>
          <a:solidFill>
            <a:srgbClr val="1B1C20"/>
          </a:solidFill>
          <a:ln/>
        </p:spPr>
      </p:sp>
      <p:sp>
        <p:nvSpPr>
          <p:cNvPr id="30" name="Text 28"/>
          <p:cNvSpPr/>
          <p:nvPr/>
        </p:nvSpPr>
        <p:spPr>
          <a:xfrm>
            <a:off x="12434888" y="5966371"/>
            <a:ext cx="2549912"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8927F"/>
                </a:solidFill>
                <a:latin typeface="Courier New" pitchFamily="34" charset="0"/>
                <a:ea typeface="Courier New" pitchFamily="34" charset="-122"/>
                <a:cs typeface="Courier New" pitchFamily="34" charset="-120"/>
              </a:rPr>
              <a:t>R </a:t>
            </a:r>
            <a:pPr algn="l" indent="0" marL="0">
              <a:buNone/>
            </a:pPr>
            <a:r>
              <a:rPr lang="en-US" sz="1800" dirty="0">
                <a:solidFill>
                  <a:srgbClr val="F4F1EA"/>
                </a:solidFill>
                <a:highlight>
                  <a:srgbClr val="1B1C20"/>
                </a:highlight>
                <a:latin typeface="Courier New" pitchFamily="34" charset="0"/>
                <a:ea typeface="Courier New" pitchFamily="34" charset="-122"/>
                <a:cs typeface="Courier New" pitchFamily="34" charset="-120"/>
              </a:rPr>
              <a:t>interpret_bf(bf)</a:t>
            </a:r>
            <a:endParaRPr lang="en-US" sz="1800" dirty="0"/>
          </a:p>
        </p:txBody>
      </p:sp>
      <p:sp>
        <p:nvSpPr>
          <p:cNvPr id="31" name="Shape 29"/>
          <p:cNvSpPr/>
          <p:nvPr/>
        </p:nvSpPr>
        <p:spPr>
          <a:xfrm>
            <a:off x="876300" y="6790283"/>
            <a:ext cx="16535400" cy="1733550"/>
          </a:xfrm>
          <a:prstGeom prst="roundRect">
            <a:avLst>
              <a:gd name="adj" fmla="val 6593"/>
            </a:avLst>
          </a:prstGeom>
          <a:solidFill>
            <a:srgbClr val="FBFAF6"/>
          </a:solidFill>
          <a:ln w="14288">
            <a:solidFill>
              <a:srgbClr val="DAD5C7"/>
            </a:solidFill>
            <a:prstDash val="solid"/>
          </a:ln>
        </p:spPr>
      </p:sp>
      <p:sp>
        <p:nvSpPr>
          <p:cNvPr id="32" name="Text 30"/>
          <p:cNvSpPr/>
          <p:nvPr/>
        </p:nvSpPr>
        <p:spPr>
          <a:xfrm>
            <a:off x="1157288" y="7037933"/>
            <a:ext cx="6651166" cy="333375"/>
          </a:xfrm>
          <a:prstGeom prst="rect">
            <a:avLst/>
          </a:prstGeom>
          <a:noFill/>
          <a:ln/>
        </p:spPr>
        <p:txBody>
          <a:bodyPr wrap="square" lIns="25400" tIns="25400" rIns="25400" bIns="25400" rtlCol="0" anchor="t">
            <a:normAutofit/>
          </a:bodyPr>
          <a:lstStyle/>
          <a:p>
            <a:pPr algn="l" indent="0" marL="0">
              <a:buNone/>
            </a:pPr>
            <a:r>
              <a:rPr lang="en-US" sz="1800" spc="150" kern="0" dirty="0">
                <a:solidFill>
                  <a:srgbClr val="2E3F66"/>
                </a:solidFill>
                <a:latin typeface="Courier New" pitchFamily="34" charset="0"/>
                <a:ea typeface="Courier New" pitchFamily="34" charset="-122"/>
                <a:cs typeface="Courier New" pitchFamily="34" charset="-120"/>
              </a:rPr>
              <a:t>ANDRASZEWICZ ET AL. — INTERPRETING BF</a:t>
            </a:r>
            <a:pPr algn="l" indent="0" marL="0">
              <a:buNone/>
            </a:pPr>
            <a:r>
              <a:rPr lang="en-US" sz="1500" baseline="-40000" spc="150" kern="0" dirty="0">
                <a:solidFill>
                  <a:srgbClr val="2E3F66"/>
                </a:solidFill>
                <a:latin typeface="Courier New" pitchFamily="34" charset="0"/>
                <a:ea typeface="Courier New" pitchFamily="34" charset="-122"/>
                <a:cs typeface="Courier New" pitchFamily="34" charset="-120"/>
              </a:rPr>
              <a:t>10</a:t>
            </a:r>
            <a:endParaRPr lang="en-US" sz="1800" dirty="0"/>
          </a:p>
        </p:txBody>
      </p:sp>
      <p:sp>
        <p:nvSpPr>
          <p:cNvPr id="33" name="Text 31"/>
          <p:cNvSpPr/>
          <p:nvPr/>
        </p:nvSpPr>
        <p:spPr>
          <a:xfrm>
            <a:off x="13123664" y="7014121"/>
            <a:ext cx="4407753" cy="381000"/>
          </a:xfrm>
          <a:prstGeom prst="rect">
            <a:avLst/>
          </a:prstGeom>
          <a:noFill/>
          <a:ln/>
        </p:spPr>
        <p:txBody>
          <a:bodyPr wrap="square" lIns="25400" tIns="25400" rIns="25400" bIns="25400" rtlCol="0" anchor="t">
            <a:normAutofit/>
          </a:bodyPr>
          <a:lstStyle/>
          <a:p>
            <a:pPr algn="l" indent="0" marL="0">
              <a:buNone/>
            </a:pPr>
            <a:r>
              <a:rPr lang="en-US" sz="1800" b="1" dirty="0">
                <a:solidFill>
                  <a:srgbClr val="0E9C99"/>
                </a:solidFill>
                <a:latin typeface="Arial" pitchFamily="34" charset="0"/>
                <a:ea typeface="Arial" pitchFamily="34" charset="-122"/>
                <a:cs typeface="Arial" pitchFamily="34" charset="-120"/>
              </a:rPr>
              <a:t>◀ evidence for H</a:t>
            </a:r>
            <a:pPr algn="l" indent="0" marL="0">
              <a:buNone/>
            </a:pPr>
            <a:r>
              <a:rPr lang="en-US" sz="1500" b="1" baseline="-40000" dirty="0">
                <a:solidFill>
                  <a:srgbClr val="0E9C99"/>
                </a:solidFill>
                <a:latin typeface="Arial" pitchFamily="34" charset="0"/>
                <a:ea typeface="Arial" pitchFamily="34" charset="-122"/>
                <a:cs typeface="Arial" pitchFamily="34" charset="-120"/>
              </a:rPr>
              <a:t>0 </a:t>
            </a:r>
            <a:pPr algn="l" indent="0" marL="0">
              <a:buNone/>
            </a:pPr>
            <a:r>
              <a:rPr lang="en-US" sz="1800" dirty="0">
                <a:solidFill>
                  <a:srgbClr val="565961"/>
                </a:solidFill>
                <a:latin typeface="Arial" pitchFamily="34" charset="0"/>
                <a:ea typeface="Arial" pitchFamily="34" charset="-122"/>
                <a:cs typeface="Arial" pitchFamily="34" charset="-120"/>
              </a:rPr>
              <a:t>· </a:t>
            </a:r>
            <a:pPr algn="l" indent="0" marL="0">
              <a:buNone/>
            </a:pPr>
            <a:r>
              <a:rPr lang="en-US" sz="1800" b="1" dirty="0">
                <a:solidFill>
                  <a:srgbClr val="E15D48"/>
                </a:solidFill>
                <a:latin typeface="Arial" pitchFamily="34" charset="0"/>
                <a:ea typeface="Arial" pitchFamily="34" charset="-122"/>
                <a:cs typeface="Arial" pitchFamily="34" charset="-120"/>
              </a:rPr>
              <a:t>evidence for H</a:t>
            </a:r>
            <a:pPr algn="l" indent="0" marL="0">
              <a:buNone/>
            </a:pPr>
            <a:r>
              <a:rPr lang="en-US" sz="1500" b="1" baseline="-40000" dirty="0">
                <a:solidFill>
                  <a:srgbClr val="E15D48"/>
                </a:solidFill>
                <a:latin typeface="Arial" pitchFamily="34" charset="0"/>
                <a:ea typeface="Arial" pitchFamily="34" charset="-122"/>
                <a:cs typeface="Arial" pitchFamily="34" charset="-120"/>
              </a:rPr>
              <a:t>1 </a:t>
            </a:r>
            <a:pPr algn="l" indent="0" marL="0">
              <a:buNone/>
            </a:pPr>
            <a:r>
              <a:rPr lang="en-US" sz="1800" b="1" dirty="0">
                <a:solidFill>
                  <a:srgbClr val="E15D48"/>
                </a:solidFill>
                <a:latin typeface="Arial" pitchFamily="34" charset="0"/>
                <a:ea typeface="Arial" pitchFamily="34" charset="-122"/>
                <a:cs typeface="Arial" pitchFamily="34" charset="-120"/>
              </a:rPr>
              <a:t>▶</a:t>
            </a:r>
            <a:endParaRPr lang="en-US" sz="1800" dirty="0"/>
          </a:p>
        </p:txBody>
      </p:sp>
      <p:sp>
        <p:nvSpPr>
          <p:cNvPr id="34" name="Shape 32"/>
          <p:cNvSpPr/>
          <p:nvPr/>
        </p:nvSpPr>
        <p:spPr>
          <a:xfrm>
            <a:off x="1157288" y="7490371"/>
            <a:ext cx="1913334" cy="419100"/>
          </a:xfrm>
          <a:prstGeom prst="rect">
            <a:avLst/>
          </a:prstGeom>
          <a:solidFill>
            <a:srgbClr val="0E9C99"/>
          </a:solidFill>
          <a:ln/>
        </p:spPr>
      </p:sp>
      <p:sp>
        <p:nvSpPr>
          <p:cNvPr id="35" name="Text 33"/>
          <p:cNvSpPr/>
          <p:nvPr/>
        </p:nvSpPr>
        <p:spPr>
          <a:xfrm>
            <a:off x="1119188" y="7490371"/>
            <a:ext cx="1989534" cy="457200"/>
          </a:xfrm>
          <a:prstGeom prst="rect">
            <a:avLst/>
          </a:prstGeom>
          <a:noFill/>
          <a:ln/>
        </p:spPr>
        <p:txBody>
          <a:bodyPr wrap="square" lIns="25400" tIns="25400" rIns="25400" bIns="25400" rtlCol="0" anchor="ctr">
            <a:normAutofit/>
          </a:bodyPr>
          <a:lstStyle/>
          <a:p>
            <a:pPr algn="ctr" indent="0" marL="0">
              <a:buNone/>
            </a:pPr>
            <a:r>
              <a:rPr lang="en-US" sz="1800" dirty="0">
                <a:solidFill>
                  <a:srgbClr val="FFFFFF"/>
                </a:solidFill>
                <a:latin typeface="Courier New" pitchFamily="34" charset="0"/>
                <a:ea typeface="Courier New" pitchFamily="34" charset="-122"/>
                <a:cs typeface="Courier New" pitchFamily="34" charset="-120"/>
              </a:rPr>
              <a:t>&lt; 1/10</a:t>
            </a:r>
            <a:endParaRPr lang="en-US" sz="1800" dirty="0"/>
          </a:p>
        </p:txBody>
      </p:sp>
      <p:sp>
        <p:nvSpPr>
          <p:cNvPr id="36" name="Shape 34"/>
          <p:cNvSpPr/>
          <p:nvPr/>
        </p:nvSpPr>
        <p:spPr>
          <a:xfrm>
            <a:off x="3070622" y="7490371"/>
            <a:ext cx="1913334" cy="419100"/>
          </a:xfrm>
          <a:prstGeom prst="rect">
            <a:avLst/>
          </a:prstGeom>
          <a:solidFill>
            <a:srgbClr val="4FB8B4"/>
          </a:solidFill>
          <a:ln/>
        </p:spPr>
      </p:sp>
      <p:sp>
        <p:nvSpPr>
          <p:cNvPr id="37" name="Text 35"/>
          <p:cNvSpPr/>
          <p:nvPr/>
        </p:nvSpPr>
        <p:spPr>
          <a:xfrm>
            <a:off x="3032522" y="7490371"/>
            <a:ext cx="1989534" cy="457200"/>
          </a:xfrm>
          <a:prstGeom prst="rect">
            <a:avLst/>
          </a:prstGeom>
          <a:noFill/>
          <a:ln/>
        </p:spPr>
        <p:txBody>
          <a:bodyPr wrap="square" lIns="25400" tIns="25400" rIns="25400" bIns="25400" rtlCol="0" anchor="ctr">
            <a:normAutofit/>
          </a:bodyPr>
          <a:lstStyle/>
          <a:p>
            <a:pPr algn="ctr" indent="0" marL="0">
              <a:buNone/>
            </a:pPr>
            <a:r>
              <a:rPr lang="en-US" sz="1800" dirty="0">
                <a:solidFill>
                  <a:srgbClr val="0A3B39"/>
                </a:solidFill>
                <a:latin typeface="Courier New" pitchFamily="34" charset="0"/>
                <a:ea typeface="Courier New" pitchFamily="34" charset="-122"/>
                <a:cs typeface="Courier New" pitchFamily="34" charset="-120"/>
              </a:rPr>
              <a:t>1/10–1/3</a:t>
            </a:r>
            <a:endParaRPr lang="en-US" sz="1800" dirty="0"/>
          </a:p>
        </p:txBody>
      </p:sp>
      <p:sp>
        <p:nvSpPr>
          <p:cNvPr id="38" name="Shape 36"/>
          <p:cNvSpPr/>
          <p:nvPr/>
        </p:nvSpPr>
        <p:spPr>
          <a:xfrm>
            <a:off x="4983956" y="7490371"/>
            <a:ext cx="1913334" cy="419100"/>
          </a:xfrm>
          <a:prstGeom prst="rect">
            <a:avLst/>
          </a:prstGeom>
          <a:solidFill>
            <a:srgbClr val="9AD3D0"/>
          </a:solidFill>
          <a:ln/>
        </p:spPr>
      </p:sp>
      <p:sp>
        <p:nvSpPr>
          <p:cNvPr id="39" name="Text 37"/>
          <p:cNvSpPr/>
          <p:nvPr/>
        </p:nvSpPr>
        <p:spPr>
          <a:xfrm>
            <a:off x="4945856" y="7490371"/>
            <a:ext cx="1989534" cy="457200"/>
          </a:xfrm>
          <a:prstGeom prst="rect">
            <a:avLst/>
          </a:prstGeom>
          <a:noFill/>
          <a:ln/>
        </p:spPr>
        <p:txBody>
          <a:bodyPr wrap="square" lIns="25400" tIns="25400" rIns="25400" bIns="25400" rtlCol="0" anchor="ctr">
            <a:normAutofit/>
          </a:bodyPr>
          <a:lstStyle/>
          <a:p>
            <a:pPr algn="ctr" indent="0" marL="0">
              <a:buNone/>
            </a:pPr>
            <a:r>
              <a:rPr lang="en-US" sz="1800" dirty="0">
                <a:solidFill>
                  <a:srgbClr val="0A3B39"/>
                </a:solidFill>
                <a:latin typeface="Courier New" pitchFamily="34" charset="0"/>
                <a:ea typeface="Courier New" pitchFamily="34" charset="-122"/>
                <a:cs typeface="Courier New" pitchFamily="34" charset="-120"/>
              </a:rPr>
              <a:t>1/3–1</a:t>
            </a:r>
            <a:endParaRPr lang="en-US" sz="1800" dirty="0"/>
          </a:p>
        </p:txBody>
      </p:sp>
      <p:sp>
        <p:nvSpPr>
          <p:cNvPr id="40" name="Shape 38"/>
          <p:cNvSpPr/>
          <p:nvPr/>
        </p:nvSpPr>
        <p:spPr>
          <a:xfrm>
            <a:off x="6897291" y="7490371"/>
            <a:ext cx="666750" cy="419100"/>
          </a:xfrm>
          <a:prstGeom prst="rect">
            <a:avLst/>
          </a:prstGeom>
          <a:solidFill>
            <a:srgbClr val="C9C4B6"/>
          </a:solidFill>
          <a:ln/>
        </p:spPr>
      </p:sp>
      <p:sp>
        <p:nvSpPr>
          <p:cNvPr id="41" name="Text 39"/>
          <p:cNvSpPr/>
          <p:nvPr/>
        </p:nvSpPr>
        <p:spPr>
          <a:xfrm>
            <a:off x="6859191" y="7490371"/>
            <a:ext cx="742950" cy="457200"/>
          </a:xfrm>
          <a:prstGeom prst="rect">
            <a:avLst/>
          </a:prstGeom>
          <a:noFill/>
          <a:ln/>
        </p:spPr>
        <p:txBody>
          <a:bodyPr wrap="square" lIns="25400" tIns="25400" rIns="25400" bIns="25400" rtlCol="0" anchor="ctr">
            <a:normAutofit/>
          </a:bodyPr>
          <a:lstStyle/>
          <a:p>
            <a:pPr algn="ctr" indent="0" marL="0">
              <a:buNone/>
            </a:pPr>
            <a:r>
              <a:rPr lang="en-US" sz="1800" dirty="0">
                <a:solidFill>
                  <a:srgbClr val="3A3B40"/>
                </a:solidFill>
                <a:latin typeface="Courier New" pitchFamily="34" charset="0"/>
                <a:ea typeface="Courier New" pitchFamily="34" charset="-122"/>
                <a:cs typeface="Courier New" pitchFamily="34" charset="-120"/>
              </a:rPr>
              <a:t>1</a:t>
            </a:r>
            <a:endParaRPr lang="en-US" sz="1800" dirty="0"/>
          </a:p>
        </p:txBody>
      </p:sp>
      <p:sp>
        <p:nvSpPr>
          <p:cNvPr id="42" name="Shape 40"/>
          <p:cNvSpPr/>
          <p:nvPr/>
        </p:nvSpPr>
        <p:spPr>
          <a:xfrm>
            <a:off x="7564041" y="7490371"/>
            <a:ext cx="1913334" cy="419100"/>
          </a:xfrm>
          <a:prstGeom prst="rect">
            <a:avLst/>
          </a:prstGeom>
          <a:solidFill>
            <a:srgbClr val="F0B6AB"/>
          </a:solidFill>
          <a:ln/>
        </p:spPr>
      </p:sp>
      <p:sp>
        <p:nvSpPr>
          <p:cNvPr id="43" name="Text 41"/>
          <p:cNvSpPr/>
          <p:nvPr/>
        </p:nvSpPr>
        <p:spPr>
          <a:xfrm>
            <a:off x="7525941" y="7490371"/>
            <a:ext cx="1989534" cy="457200"/>
          </a:xfrm>
          <a:prstGeom prst="rect">
            <a:avLst/>
          </a:prstGeom>
          <a:noFill/>
          <a:ln/>
        </p:spPr>
        <p:txBody>
          <a:bodyPr wrap="square" lIns="25400" tIns="25400" rIns="25400" bIns="25400" rtlCol="0" anchor="ctr">
            <a:normAutofit/>
          </a:bodyPr>
          <a:lstStyle/>
          <a:p>
            <a:pPr algn="ctr" indent="0" marL="0">
              <a:buNone/>
            </a:pPr>
            <a:r>
              <a:rPr lang="en-US" sz="1800" dirty="0">
                <a:solidFill>
                  <a:srgbClr val="5A1A0E"/>
                </a:solidFill>
                <a:latin typeface="Courier New" pitchFamily="34" charset="0"/>
                <a:ea typeface="Courier New" pitchFamily="34" charset="-122"/>
                <a:cs typeface="Courier New" pitchFamily="34" charset="-120"/>
              </a:rPr>
              <a:t>1–3</a:t>
            </a:r>
            <a:endParaRPr lang="en-US" sz="1800" dirty="0"/>
          </a:p>
        </p:txBody>
      </p:sp>
      <p:sp>
        <p:nvSpPr>
          <p:cNvPr id="44" name="Shape 42"/>
          <p:cNvSpPr/>
          <p:nvPr/>
        </p:nvSpPr>
        <p:spPr>
          <a:xfrm>
            <a:off x="9477375" y="7490371"/>
            <a:ext cx="1913334" cy="419100"/>
          </a:xfrm>
          <a:prstGeom prst="rect">
            <a:avLst/>
          </a:prstGeom>
          <a:solidFill>
            <a:srgbClr val="EC9384"/>
          </a:solidFill>
          <a:ln/>
        </p:spPr>
      </p:sp>
      <p:sp>
        <p:nvSpPr>
          <p:cNvPr id="45" name="Text 43"/>
          <p:cNvSpPr/>
          <p:nvPr/>
        </p:nvSpPr>
        <p:spPr>
          <a:xfrm>
            <a:off x="9439275" y="7490371"/>
            <a:ext cx="1989534" cy="457200"/>
          </a:xfrm>
          <a:prstGeom prst="rect">
            <a:avLst/>
          </a:prstGeom>
          <a:noFill/>
          <a:ln/>
        </p:spPr>
        <p:txBody>
          <a:bodyPr wrap="square" lIns="25400" tIns="25400" rIns="25400" bIns="25400" rtlCol="0" anchor="ctr">
            <a:normAutofit/>
          </a:bodyPr>
          <a:lstStyle/>
          <a:p>
            <a:pPr algn="ctr" indent="0" marL="0">
              <a:buNone/>
            </a:pPr>
            <a:r>
              <a:rPr lang="en-US" sz="1800" dirty="0">
                <a:solidFill>
                  <a:srgbClr val="5A1A0E"/>
                </a:solidFill>
                <a:latin typeface="Courier New" pitchFamily="34" charset="0"/>
                <a:ea typeface="Courier New" pitchFamily="34" charset="-122"/>
                <a:cs typeface="Courier New" pitchFamily="34" charset="-120"/>
              </a:rPr>
              <a:t>3–10</a:t>
            </a:r>
            <a:endParaRPr lang="en-US" sz="1800" dirty="0"/>
          </a:p>
        </p:txBody>
      </p:sp>
      <p:sp>
        <p:nvSpPr>
          <p:cNvPr id="46" name="Shape 44"/>
          <p:cNvSpPr/>
          <p:nvPr/>
        </p:nvSpPr>
        <p:spPr>
          <a:xfrm>
            <a:off x="11390709" y="7490371"/>
            <a:ext cx="1913334" cy="419100"/>
          </a:xfrm>
          <a:prstGeom prst="rect">
            <a:avLst/>
          </a:prstGeom>
          <a:solidFill>
            <a:srgbClr val="E67862"/>
          </a:solidFill>
          <a:ln/>
        </p:spPr>
      </p:sp>
      <p:sp>
        <p:nvSpPr>
          <p:cNvPr id="47" name="Text 45"/>
          <p:cNvSpPr/>
          <p:nvPr/>
        </p:nvSpPr>
        <p:spPr>
          <a:xfrm>
            <a:off x="11352609" y="7490371"/>
            <a:ext cx="1989534" cy="457200"/>
          </a:xfrm>
          <a:prstGeom prst="rect">
            <a:avLst/>
          </a:prstGeom>
          <a:noFill/>
          <a:ln/>
        </p:spPr>
        <p:txBody>
          <a:bodyPr wrap="square" lIns="25400" tIns="25400" rIns="25400" bIns="25400" rtlCol="0" anchor="ctr">
            <a:normAutofit/>
          </a:bodyPr>
          <a:lstStyle/>
          <a:p>
            <a:pPr algn="ctr" indent="0" marL="0">
              <a:buNone/>
            </a:pPr>
            <a:r>
              <a:rPr lang="en-US" sz="1800" dirty="0">
                <a:solidFill>
                  <a:srgbClr val="FFFFFF"/>
                </a:solidFill>
                <a:latin typeface="Courier New" pitchFamily="34" charset="0"/>
                <a:ea typeface="Courier New" pitchFamily="34" charset="-122"/>
                <a:cs typeface="Courier New" pitchFamily="34" charset="-120"/>
              </a:rPr>
              <a:t>10–30</a:t>
            </a:r>
            <a:endParaRPr lang="en-US" sz="1800" dirty="0"/>
          </a:p>
        </p:txBody>
      </p:sp>
      <p:sp>
        <p:nvSpPr>
          <p:cNvPr id="48" name="Shape 46"/>
          <p:cNvSpPr/>
          <p:nvPr/>
        </p:nvSpPr>
        <p:spPr>
          <a:xfrm>
            <a:off x="13304044" y="7490371"/>
            <a:ext cx="1913334" cy="419100"/>
          </a:xfrm>
          <a:prstGeom prst="rect">
            <a:avLst/>
          </a:prstGeom>
          <a:solidFill>
            <a:srgbClr val="E15D48"/>
          </a:solidFill>
          <a:ln/>
        </p:spPr>
      </p:sp>
      <p:sp>
        <p:nvSpPr>
          <p:cNvPr id="49" name="Text 47"/>
          <p:cNvSpPr/>
          <p:nvPr/>
        </p:nvSpPr>
        <p:spPr>
          <a:xfrm>
            <a:off x="13265944" y="7490371"/>
            <a:ext cx="1989534" cy="457200"/>
          </a:xfrm>
          <a:prstGeom prst="rect">
            <a:avLst/>
          </a:prstGeom>
          <a:noFill/>
          <a:ln/>
        </p:spPr>
        <p:txBody>
          <a:bodyPr wrap="square" lIns="25400" tIns="25400" rIns="25400" bIns="25400" rtlCol="0" anchor="ctr">
            <a:normAutofit/>
          </a:bodyPr>
          <a:lstStyle/>
          <a:p>
            <a:pPr algn="ctr" indent="0" marL="0">
              <a:buNone/>
            </a:pPr>
            <a:r>
              <a:rPr lang="en-US" sz="1800" dirty="0">
                <a:solidFill>
                  <a:srgbClr val="FFFFFF"/>
                </a:solidFill>
                <a:latin typeface="Courier New" pitchFamily="34" charset="0"/>
                <a:ea typeface="Courier New" pitchFamily="34" charset="-122"/>
                <a:cs typeface="Courier New" pitchFamily="34" charset="-120"/>
              </a:rPr>
              <a:t>30–100</a:t>
            </a:r>
            <a:endParaRPr lang="en-US" sz="1800" dirty="0"/>
          </a:p>
        </p:txBody>
      </p:sp>
      <p:sp>
        <p:nvSpPr>
          <p:cNvPr id="50" name="Shape 48"/>
          <p:cNvSpPr/>
          <p:nvPr/>
        </p:nvSpPr>
        <p:spPr>
          <a:xfrm>
            <a:off x="15217378" y="7490371"/>
            <a:ext cx="1913334" cy="419100"/>
          </a:xfrm>
          <a:prstGeom prst="rect">
            <a:avLst/>
          </a:prstGeom>
          <a:solidFill>
            <a:srgbClr val="C4442F"/>
          </a:solidFill>
          <a:ln/>
        </p:spPr>
      </p:sp>
      <p:sp>
        <p:nvSpPr>
          <p:cNvPr id="51" name="Text 49"/>
          <p:cNvSpPr/>
          <p:nvPr/>
        </p:nvSpPr>
        <p:spPr>
          <a:xfrm>
            <a:off x="15179278" y="7490371"/>
            <a:ext cx="1989534" cy="457200"/>
          </a:xfrm>
          <a:prstGeom prst="rect">
            <a:avLst/>
          </a:prstGeom>
          <a:noFill/>
          <a:ln/>
        </p:spPr>
        <p:txBody>
          <a:bodyPr wrap="square" lIns="25400" tIns="25400" rIns="25400" bIns="25400" rtlCol="0" anchor="ctr">
            <a:normAutofit/>
          </a:bodyPr>
          <a:lstStyle/>
          <a:p>
            <a:pPr algn="ctr" indent="0" marL="0">
              <a:buNone/>
            </a:pPr>
            <a:r>
              <a:rPr lang="en-US" sz="1800" dirty="0">
                <a:solidFill>
                  <a:srgbClr val="FFFFFF"/>
                </a:solidFill>
                <a:latin typeface="Courier New" pitchFamily="34" charset="0"/>
                <a:ea typeface="Courier New" pitchFamily="34" charset="-122"/>
                <a:cs typeface="Courier New" pitchFamily="34" charset="-120"/>
              </a:rPr>
              <a:t>&gt; 100</a:t>
            </a:r>
            <a:endParaRPr lang="en-US" sz="1800" dirty="0"/>
          </a:p>
        </p:txBody>
      </p:sp>
      <p:sp>
        <p:nvSpPr>
          <p:cNvPr id="52" name="Text 50"/>
          <p:cNvSpPr/>
          <p:nvPr/>
        </p:nvSpPr>
        <p:spPr>
          <a:xfrm>
            <a:off x="1157288" y="8004721"/>
            <a:ext cx="727546"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65961"/>
                </a:solidFill>
                <a:latin typeface="Arial" pitchFamily="34" charset="0"/>
                <a:ea typeface="Arial" pitchFamily="34" charset="-122"/>
                <a:cs typeface="Arial" pitchFamily="34" charset="-120"/>
              </a:rPr>
              <a:t>strong</a:t>
            </a:r>
            <a:endParaRPr lang="en-US" sz="1800" dirty="0"/>
          </a:p>
        </p:txBody>
      </p:sp>
      <p:sp>
        <p:nvSpPr>
          <p:cNvPr id="53" name="Text 51"/>
          <p:cNvSpPr/>
          <p:nvPr/>
        </p:nvSpPr>
        <p:spPr>
          <a:xfrm>
            <a:off x="2826172" y="8004721"/>
            <a:ext cx="1071786"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65961"/>
                </a:solidFill>
                <a:latin typeface="Arial" pitchFamily="34" charset="0"/>
                <a:ea typeface="Arial" pitchFamily="34" charset="-122"/>
                <a:cs typeface="Arial" pitchFamily="34" charset="-120"/>
              </a:rPr>
              <a:t>moderate</a:t>
            </a:r>
            <a:endParaRPr lang="en-US" sz="1800" dirty="0"/>
          </a:p>
        </p:txBody>
      </p:sp>
      <p:sp>
        <p:nvSpPr>
          <p:cNvPr id="54" name="Text 52"/>
          <p:cNvSpPr/>
          <p:nvPr/>
        </p:nvSpPr>
        <p:spPr>
          <a:xfrm>
            <a:off x="4839221" y="8004721"/>
            <a:ext cx="1092398"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65961"/>
                </a:solidFill>
                <a:latin typeface="Arial" pitchFamily="34" charset="0"/>
                <a:ea typeface="Arial" pitchFamily="34" charset="-122"/>
                <a:cs typeface="Arial" pitchFamily="34" charset="-120"/>
              </a:rPr>
              <a:t>anecdotal</a:t>
            </a:r>
            <a:endParaRPr lang="en-US" sz="1800" dirty="0"/>
          </a:p>
        </p:txBody>
      </p:sp>
      <p:sp>
        <p:nvSpPr>
          <p:cNvPr id="55" name="Text 53"/>
          <p:cNvSpPr/>
          <p:nvPr/>
        </p:nvSpPr>
        <p:spPr>
          <a:xfrm>
            <a:off x="6872957" y="8004721"/>
            <a:ext cx="589434"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A8778"/>
                </a:solidFill>
                <a:latin typeface="Arial" pitchFamily="34" charset="0"/>
                <a:ea typeface="Arial" pitchFamily="34" charset="-122"/>
                <a:cs typeface="Arial" pitchFamily="34" charset="-120"/>
              </a:rPr>
              <a:t>none</a:t>
            </a:r>
            <a:endParaRPr lang="en-US" sz="1800" dirty="0"/>
          </a:p>
        </p:txBody>
      </p:sp>
      <p:sp>
        <p:nvSpPr>
          <p:cNvPr id="56" name="Text 54"/>
          <p:cNvSpPr/>
          <p:nvPr/>
        </p:nvSpPr>
        <p:spPr>
          <a:xfrm>
            <a:off x="8403654" y="8004721"/>
            <a:ext cx="1092398"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65961"/>
                </a:solidFill>
                <a:latin typeface="Arial" pitchFamily="34" charset="0"/>
                <a:ea typeface="Arial" pitchFamily="34" charset="-122"/>
                <a:cs typeface="Arial" pitchFamily="34" charset="-120"/>
              </a:rPr>
              <a:t>anecdotal</a:t>
            </a:r>
            <a:endParaRPr lang="en-US" sz="1800" dirty="0"/>
          </a:p>
        </p:txBody>
      </p:sp>
      <p:sp>
        <p:nvSpPr>
          <p:cNvPr id="57" name="Text 55"/>
          <p:cNvSpPr/>
          <p:nvPr/>
        </p:nvSpPr>
        <p:spPr>
          <a:xfrm>
            <a:off x="10437391" y="8004721"/>
            <a:ext cx="1071786"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65961"/>
                </a:solidFill>
                <a:latin typeface="Arial" pitchFamily="34" charset="0"/>
                <a:ea typeface="Arial" pitchFamily="34" charset="-122"/>
                <a:cs typeface="Arial" pitchFamily="34" charset="-120"/>
              </a:rPr>
              <a:t>moderate</a:t>
            </a:r>
            <a:endParaRPr lang="en-US" sz="1800" dirty="0"/>
          </a:p>
        </p:txBody>
      </p:sp>
      <p:sp>
        <p:nvSpPr>
          <p:cNvPr id="58" name="Text 56"/>
          <p:cNvSpPr/>
          <p:nvPr/>
        </p:nvSpPr>
        <p:spPr>
          <a:xfrm>
            <a:off x="12450440" y="8004721"/>
            <a:ext cx="727546"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65961"/>
                </a:solidFill>
                <a:latin typeface="Arial" pitchFamily="34" charset="0"/>
                <a:ea typeface="Arial" pitchFamily="34" charset="-122"/>
                <a:cs typeface="Arial" pitchFamily="34" charset="-120"/>
              </a:rPr>
              <a:t>strong</a:t>
            </a:r>
            <a:endParaRPr lang="en-US" sz="1800" dirty="0"/>
          </a:p>
        </p:txBody>
      </p:sp>
      <p:sp>
        <p:nvSpPr>
          <p:cNvPr id="59" name="Text 57"/>
          <p:cNvSpPr/>
          <p:nvPr/>
        </p:nvSpPr>
        <p:spPr>
          <a:xfrm>
            <a:off x="14119324" y="8004721"/>
            <a:ext cx="121786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65961"/>
                </a:solidFill>
                <a:latin typeface="Arial" pitchFamily="34" charset="0"/>
                <a:ea typeface="Arial" pitchFamily="34" charset="-122"/>
                <a:cs typeface="Arial" pitchFamily="34" charset="-120"/>
              </a:rPr>
              <a:t>very strong</a:t>
            </a:r>
            <a:endParaRPr lang="en-US" sz="1800" dirty="0"/>
          </a:p>
        </p:txBody>
      </p:sp>
      <p:sp>
        <p:nvSpPr>
          <p:cNvPr id="60" name="Text 58"/>
          <p:cNvSpPr/>
          <p:nvPr/>
        </p:nvSpPr>
        <p:spPr>
          <a:xfrm>
            <a:off x="16278448" y="8004721"/>
            <a:ext cx="928464"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65961"/>
                </a:solidFill>
                <a:latin typeface="Arial" pitchFamily="34" charset="0"/>
                <a:ea typeface="Arial" pitchFamily="34" charset="-122"/>
                <a:cs typeface="Arial" pitchFamily="34" charset="-120"/>
              </a:rPr>
              <a:t>extreme</a:t>
            </a:r>
            <a:endParaRPr lang="en-US" sz="1800" dirty="0"/>
          </a:p>
        </p:txBody>
      </p:sp>
      <p:sp>
        <p:nvSpPr>
          <p:cNvPr id="61" name="Text 59"/>
          <p:cNvSpPr/>
          <p:nvPr/>
        </p:nvSpPr>
        <p:spPr>
          <a:xfrm>
            <a:off x="876300" y="9572625"/>
            <a:ext cx="8551768"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8A8778"/>
                </a:solidFill>
                <a:latin typeface="Courier New" pitchFamily="34" charset="0"/>
                <a:ea typeface="Courier New" pitchFamily="34" charset="-122"/>
                <a:cs typeface="Courier New" pitchFamily="34" charset="-120"/>
              </a:rPr>
              <a:t>Bayesian Bias Detection · Statistics for Data Science</a:t>
            </a:r>
            <a:endParaRPr lang="en-US" sz="1800" dirty="0"/>
          </a:p>
        </p:txBody>
      </p:sp>
      <p:sp>
        <p:nvSpPr>
          <p:cNvPr id="62" name="Text 60"/>
          <p:cNvSpPr/>
          <p:nvPr/>
        </p:nvSpPr>
        <p:spPr>
          <a:xfrm>
            <a:off x="16384860" y="9572625"/>
            <a:ext cx="1103040"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8A8778"/>
                </a:solidFill>
                <a:latin typeface="Courier New" pitchFamily="34" charset="0"/>
                <a:ea typeface="Courier New" pitchFamily="34" charset="-122"/>
                <a:cs typeface="Courier New" pitchFamily="34" charset="-120"/>
              </a:rPr>
              <a:t>04 / 15</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0E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4F1EA"/>
          </a:solidFill>
          <a:ln/>
        </p:spPr>
      </p:sp>
      <p:sp>
        <p:nvSpPr>
          <p:cNvPr id="3" name="Shape 1"/>
          <p:cNvSpPr/>
          <p:nvPr/>
        </p:nvSpPr>
        <p:spPr>
          <a:xfrm>
            <a:off x="876300" y="2043113"/>
            <a:ext cx="16535400" cy="19050"/>
          </a:xfrm>
          <a:prstGeom prst="rect">
            <a:avLst/>
          </a:prstGeom>
          <a:solidFill>
            <a:srgbClr val="191A1D"/>
          </a:solidFill>
          <a:ln/>
        </p:spPr>
      </p:sp>
      <p:sp>
        <p:nvSpPr>
          <p:cNvPr id="4" name="Text 2"/>
          <p:cNvSpPr/>
          <p:nvPr/>
        </p:nvSpPr>
        <p:spPr>
          <a:xfrm>
            <a:off x="876300" y="723900"/>
            <a:ext cx="5534903" cy="333375"/>
          </a:xfrm>
          <a:prstGeom prst="rect">
            <a:avLst/>
          </a:prstGeom>
          <a:noFill/>
          <a:ln/>
        </p:spPr>
        <p:txBody>
          <a:bodyPr wrap="square" lIns="25400" tIns="25400" rIns="25400" bIns="25400" rtlCol="0" anchor="t">
            <a:normAutofit/>
          </a:bodyPr>
          <a:lstStyle/>
          <a:p>
            <a:pPr algn="l" indent="0" marL="0">
              <a:buNone/>
            </a:pPr>
            <a:r>
              <a:rPr lang="en-US" sz="1800" spc="225" kern="0" dirty="0">
                <a:solidFill>
                  <a:srgbClr val="2E3F66"/>
                </a:solidFill>
                <a:latin typeface="Courier New" pitchFamily="34" charset="0"/>
                <a:ea typeface="Courier New" pitchFamily="34" charset="-122"/>
                <a:cs typeface="Courier New" pitchFamily="34" charset="-120"/>
              </a:rPr>
              <a:t>METHOD · 05</a:t>
            </a:r>
            <a:endParaRPr lang="en-US" sz="1800" dirty="0"/>
          </a:p>
        </p:txBody>
      </p:sp>
      <p:sp>
        <p:nvSpPr>
          <p:cNvPr id="5" name="Text 3"/>
          <p:cNvSpPr/>
          <p:nvPr/>
        </p:nvSpPr>
        <p:spPr>
          <a:xfrm>
            <a:off x="876300" y="1133475"/>
            <a:ext cx="5534903" cy="757238"/>
          </a:xfrm>
          <a:prstGeom prst="rect">
            <a:avLst/>
          </a:prstGeom>
          <a:noFill/>
          <a:ln/>
        </p:spPr>
        <p:txBody>
          <a:bodyPr wrap="square" lIns="25400" tIns="25400" rIns="25400" bIns="25400" rtlCol="0" anchor="t">
            <a:normAutofit/>
          </a:bodyPr>
          <a:lstStyle/>
          <a:p>
            <a:pPr algn="l" indent="0" marL="0">
              <a:buNone/>
            </a:pPr>
            <a:r>
              <a:rPr lang="en-US" sz="4350" b="1" dirty="0">
                <a:solidFill>
                  <a:srgbClr val="191A1D"/>
                </a:solidFill>
                <a:latin typeface="Georgia" pitchFamily="34" charset="0"/>
                <a:ea typeface="Georgia" pitchFamily="34" charset="-122"/>
                <a:cs typeface="Georgia" pitchFamily="34" charset="-120"/>
              </a:rPr>
              <a:t>Why Bayes Factors</a:t>
            </a:r>
            <a:endParaRPr lang="en-US" sz="4350" dirty="0"/>
          </a:p>
        </p:txBody>
      </p:sp>
      <p:sp>
        <p:nvSpPr>
          <p:cNvPr id="6" name="Text 4"/>
          <p:cNvSpPr/>
          <p:nvPr/>
        </p:nvSpPr>
        <p:spPr>
          <a:xfrm>
            <a:off x="13434045" y="1557338"/>
            <a:ext cx="43754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65961"/>
                </a:solidFill>
                <a:latin typeface="Courier New" pitchFamily="34" charset="0"/>
                <a:ea typeface="Courier New" pitchFamily="34" charset="-122"/>
                <a:cs typeface="Courier New" pitchFamily="34" charset="-120"/>
              </a:rPr>
              <a:t>the paper's core contribution</a:t>
            </a:r>
            <a:endParaRPr lang="en-US" sz="1800" dirty="0"/>
          </a:p>
        </p:txBody>
      </p:sp>
      <p:sp>
        <p:nvSpPr>
          <p:cNvPr id="7" name="Shape 5"/>
          <p:cNvSpPr/>
          <p:nvPr/>
        </p:nvSpPr>
        <p:spPr>
          <a:xfrm>
            <a:off x="876300" y="3292450"/>
            <a:ext cx="8143875" cy="3403997"/>
          </a:xfrm>
          <a:prstGeom prst="roundRect">
            <a:avLst>
              <a:gd name="adj" fmla="val 3358"/>
            </a:avLst>
          </a:prstGeom>
          <a:solidFill>
            <a:srgbClr val="FBFAF6"/>
          </a:solidFill>
          <a:ln w="14288">
            <a:solidFill>
              <a:srgbClr val="DAD5C7"/>
            </a:solidFill>
            <a:prstDash val="solid"/>
          </a:ln>
        </p:spPr>
      </p:sp>
      <p:sp>
        <p:nvSpPr>
          <p:cNvPr id="8" name="Shape 6"/>
          <p:cNvSpPr/>
          <p:nvPr/>
        </p:nvSpPr>
        <p:spPr>
          <a:xfrm>
            <a:off x="1214438" y="3592488"/>
            <a:ext cx="1775520" cy="409575"/>
          </a:xfrm>
          <a:prstGeom prst="roundRect">
            <a:avLst>
              <a:gd name="adj" fmla="val 46512"/>
            </a:avLst>
          </a:prstGeom>
          <a:solidFill>
            <a:srgbClr val="EDEAE0"/>
          </a:solidFill>
          <a:ln/>
        </p:spPr>
      </p:sp>
      <p:sp>
        <p:nvSpPr>
          <p:cNvPr id="9" name="Text 7"/>
          <p:cNvSpPr/>
          <p:nvPr/>
        </p:nvSpPr>
        <p:spPr>
          <a:xfrm>
            <a:off x="1347788" y="3649638"/>
            <a:ext cx="15850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3A3B40"/>
                </a:solidFill>
                <a:latin typeface="Courier New" pitchFamily="34" charset="0"/>
                <a:ea typeface="Courier New" pitchFamily="34" charset="-122"/>
                <a:cs typeface="Courier New" pitchFamily="34" charset="-120"/>
              </a:rPr>
              <a:t>FREQUENTIST</a:t>
            </a:r>
            <a:endParaRPr lang="en-US" sz="1800" dirty="0"/>
          </a:p>
        </p:txBody>
      </p:sp>
      <p:sp>
        <p:nvSpPr>
          <p:cNvPr id="10" name="Text 8"/>
          <p:cNvSpPr/>
          <p:nvPr/>
        </p:nvSpPr>
        <p:spPr>
          <a:xfrm>
            <a:off x="3123307" y="3632969"/>
            <a:ext cx="2737001" cy="366713"/>
          </a:xfrm>
          <a:prstGeom prst="rect">
            <a:avLst/>
          </a:prstGeom>
          <a:noFill/>
          <a:ln/>
        </p:spPr>
        <p:txBody>
          <a:bodyPr wrap="square" lIns="25400" tIns="25400" rIns="25400" bIns="25400" rtlCol="0" anchor="t">
            <a:normAutofit/>
          </a:bodyPr>
          <a:lstStyle/>
          <a:p>
            <a:pPr algn="l" indent="0" marL="0">
              <a:buNone/>
            </a:pPr>
            <a:r>
              <a:rPr lang="en-US" sz="2250" b="1" dirty="0">
                <a:solidFill>
                  <a:srgbClr val="191A1D"/>
                </a:solidFill>
                <a:latin typeface="Arial" pitchFamily="34" charset="0"/>
                <a:ea typeface="Arial" pitchFamily="34" charset="-122"/>
                <a:cs typeface="Arial" pitchFamily="34" charset="-120"/>
              </a:rPr>
              <a:t>Exact Binomial Test</a:t>
            </a:r>
            <a:endParaRPr lang="en-US" sz="2250" dirty="0"/>
          </a:p>
        </p:txBody>
      </p:sp>
      <p:sp>
        <p:nvSpPr>
          <p:cNvPr id="11" name="Text 9"/>
          <p:cNvSpPr/>
          <p:nvPr/>
        </p:nvSpPr>
        <p:spPr>
          <a:xfrm>
            <a:off x="1282065" y="4173513"/>
            <a:ext cx="8121968" cy="441424"/>
          </a:xfrm>
          <a:prstGeom prst="rect">
            <a:avLst/>
          </a:prstGeom>
          <a:noFill/>
          <a:ln/>
        </p:spPr>
        <p:txBody>
          <a:bodyPr wrap="square" lIns="25400" tIns="25400" rIns="25400" bIns="25400" rtlCol="0" anchor="t">
            <a:normAutofit/>
          </a:bodyPr>
          <a:lstStyle/>
          <a:p>
            <a:pPr algn="l" marL="180023" indent="-180023">
              <a:lnSpc>
                <a:spcPct val="155000"/>
              </a:lnSpc>
              <a:buSzPct val="100000"/>
              <a:buChar char="•"/>
            </a:pPr>
            <a:r>
              <a:rPr lang="en-US" sz="2025" dirty="0">
                <a:solidFill>
                  <a:srgbClr val="33353B"/>
                </a:solidFill>
                <a:latin typeface="Arial" pitchFamily="34" charset="0"/>
                <a:ea typeface="Arial" pitchFamily="34" charset="-122"/>
                <a:cs typeface="Arial" pitchFamily="34" charset="-120"/>
              </a:rPr>
              <a:t>Only </a:t>
            </a:r>
            <a:pPr algn="l" indent="0" marL="0">
              <a:lnSpc>
                <a:spcPct val="155000"/>
              </a:lnSpc>
              <a:buNone/>
            </a:pPr>
            <a:r>
              <a:rPr lang="en-US" sz="2025" b="1" dirty="0">
                <a:solidFill>
                  <a:srgbClr val="33353B"/>
                </a:solidFill>
                <a:latin typeface="Arial" pitchFamily="34" charset="0"/>
                <a:ea typeface="Arial" pitchFamily="34" charset="-122"/>
                <a:cs typeface="Arial" pitchFamily="34" charset="-120"/>
              </a:rPr>
              <a:t>rejects </a:t>
            </a:r>
            <a:pPr algn="l" indent="0" marL="0">
              <a:lnSpc>
                <a:spcPct val="155000"/>
              </a:lnSpc>
              <a:buNone/>
            </a:pPr>
            <a:r>
              <a:rPr lang="en-US" sz="2025" dirty="0">
                <a:solidFill>
                  <a:srgbClr val="33353B"/>
                </a:solidFill>
                <a:latin typeface="Arial" pitchFamily="34" charset="0"/>
                <a:ea typeface="Arial" pitchFamily="34" charset="-122"/>
                <a:cs typeface="Arial" pitchFamily="34" charset="-120"/>
              </a:rPr>
              <a:t>or </a:t>
            </a:r>
            <a:pPr algn="l" indent="0" marL="0">
              <a:lnSpc>
                <a:spcPct val="155000"/>
              </a:lnSpc>
              <a:buNone/>
            </a:pPr>
            <a:r>
              <a:rPr lang="en-US" sz="2025" b="1" dirty="0">
                <a:solidFill>
                  <a:srgbClr val="33353B"/>
                </a:solidFill>
                <a:latin typeface="Arial" pitchFamily="34" charset="0"/>
                <a:ea typeface="Arial" pitchFamily="34" charset="-122"/>
                <a:cs typeface="Arial" pitchFamily="34" charset="-120"/>
              </a:rPr>
              <a:t>fails to reject </a:t>
            </a:r>
            <a:pPr algn="l" indent="0" marL="0">
              <a:lnSpc>
                <a:spcPct val="155000"/>
              </a:lnSpc>
              <a:buNone/>
            </a:pPr>
            <a:r>
              <a:rPr lang="en-US" sz="2025" dirty="0">
                <a:solidFill>
                  <a:srgbClr val="33353B"/>
                </a:solidFill>
                <a:latin typeface="Arial" pitchFamily="34" charset="0"/>
                <a:ea typeface="Arial" pitchFamily="34" charset="-122"/>
                <a:cs typeface="Arial" pitchFamily="34" charset="-120"/>
              </a:rPr>
              <a:t>H</a:t>
            </a:r>
            <a:pPr algn="l" indent="0" marL="0">
              <a:lnSpc>
                <a:spcPct val="155000"/>
              </a:lnSpc>
              <a:buNone/>
            </a:pPr>
            <a:r>
              <a:rPr lang="en-US" sz="1688" baseline="-40000" dirty="0">
                <a:solidFill>
                  <a:srgbClr val="33353B"/>
                </a:solidFill>
                <a:latin typeface="Arial" pitchFamily="34" charset="0"/>
                <a:ea typeface="Arial" pitchFamily="34" charset="-122"/>
                <a:cs typeface="Arial" pitchFamily="34" charset="-120"/>
              </a:rPr>
              <a:t>0</a:t>
            </a:r>
            <a:endParaRPr lang="en-US" sz="2025" dirty="0"/>
          </a:p>
        </p:txBody>
      </p:sp>
      <p:sp>
        <p:nvSpPr>
          <p:cNvPr id="12" name="Text 10"/>
          <p:cNvSpPr/>
          <p:nvPr/>
        </p:nvSpPr>
        <p:spPr>
          <a:xfrm>
            <a:off x="1282065" y="4576837"/>
            <a:ext cx="8121968" cy="441424"/>
          </a:xfrm>
          <a:prstGeom prst="rect">
            <a:avLst/>
          </a:prstGeom>
          <a:noFill/>
          <a:ln/>
        </p:spPr>
        <p:txBody>
          <a:bodyPr wrap="square" lIns="25400" tIns="25400" rIns="25400" bIns="25400" rtlCol="0" anchor="t">
            <a:normAutofit/>
          </a:bodyPr>
          <a:lstStyle/>
          <a:p>
            <a:pPr algn="l" marL="180023" indent="-180023">
              <a:lnSpc>
                <a:spcPct val="155000"/>
              </a:lnSpc>
              <a:buSzPct val="100000"/>
              <a:buChar char="•"/>
            </a:pPr>
            <a:r>
              <a:rPr lang="en-US" sz="2025" dirty="0">
                <a:solidFill>
                  <a:srgbClr val="33353B"/>
                </a:solidFill>
                <a:latin typeface="Arial" pitchFamily="34" charset="0"/>
                <a:ea typeface="Arial" pitchFamily="34" charset="-122"/>
                <a:cs typeface="Arial" pitchFamily="34" charset="-120"/>
              </a:rPr>
              <a:t>Cannot quantify support </a:t>
            </a:r>
            <a:pPr algn="l" indent="0" marL="0">
              <a:lnSpc>
                <a:spcPct val="155000"/>
              </a:lnSpc>
              <a:buNone/>
            </a:pPr>
            <a:r>
              <a:rPr lang="en-US" sz="2025" i="1" dirty="0">
                <a:solidFill>
                  <a:srgbClr val="33353B"/>
                </a:solidFill>
                <a:latin typeface="Arial" pitchFamily="34" charset="0"/>
                <a:ea typeface="Arial" pitchFamily="34" charset="-122"/>
                <a:cs typeface="Arial" pitchFamily="34" charset="-120"/>
              </a:rPr>
              <a:t>for </a:t>
            </a:r>
            <a:pPr algn="l" indent="0" marL="0">
              <a:lnSpc>
                <a:spcPct val="155000"/>
              </a:lnSpc>
              <a:buNone/>
            </a:pPr>
            <a:r>
              <a:rPr lang="en-US" sz="2025" dirty="0">
                <a:solidFill>
                  <a:srgbClr val="33353B"/>
                </a:solidFill>
                <a:latin typeface="Arial" pitchFamily="34" charset="0"/>
                <a:ea typeface="Arial" pitchFamily="34" charset="-122"/>
                <a:cs typeface="Arial" pitchFamily="34" charset="-120"/>
              </a:rPr>
              <a:t>fairness</a:t>
            </a:r>
            <a:endParaRPr lang="en-US" sz="2025" dirty="0"/>
          </a:p>
        </p:txBody>
      </p:sp>
      <p:sp>
        <p:nvSpPr>
          <p:cNvPr id="13" name="Text 11"/>
          <p:cNvSpPr/>
          <p:nvPr/>
        </p:nvSpPr>
        <p:spPr>
          <a:xfrm>
            <a:off x="1282065" y="4980161"/>
            <a:ext cx="7616571" cy="835223"/>
          </a:xfrm>
          <a:prstGeom prst="rect">
            <a:avLst/>
          </a:prstGeom>
          <a:noFill/>
          <a:ln/>
        </p:spPr>
        <p:txBody>
          <a:bodyPr wrap="square" lIns="25400" tIns="25400" rIns="25400" bIns="25400" rtlCol="0" anchor="t">
            <a:normAutofit/>
          </a:bodyPr>
          <a:lstStyle/>
          <a:p>
            <a:pPr algn="l" marL="180023" indent="-180023">
              <a:lnSpc>
                <a:spcPct val="155000"/>
              </a:lnSpc>
              <a:buSzPct val="100000"/>
              <a:buChar char="•"/>
              <a:tabLst>
                <a:tab pos="180023" algn="l"/>
              </a:tabLst>
            </a:pPr>
            <a:r>
              <a:rPr lang="en-US" sz="2025" dirty="0">
                <a:solidFill>
                  <a:srgbClr val="33353B"/>
                </a:solidFill>
                <a:latin typeface="Arial" pitchFamily="34" charset="0"/>
                <a:ea typeface="Arial" pitchFamily="34" charset="-122"/>
                <a:cs typeface="Arial" pitchFamily="34" charset="-120"/>
              </a:rPr>
              <a:t>Sensitive to sample size — a large n turns tiny effects "significant"</a:t>
            </a:r>
            <a:endParaRPr lang="en-US" sz="2025" dirty="0"/>
          </a:p>
        </p:txBody>
      </p:sp>
      <p:sp>
        <p:nvSpPr>
          <p:cNvPr id="14" name="Shape 12"/>
          <p:cNvSpPr/>
          <p:nvPr/>
        </p:nvSpPr>
        <p:spPr>
          <a:xfrm>
            <a:off x="1214438" y="5967785"/>
            <a:ext cx="2735684" cy="428625"/>
          </a:xfrm>
          <a:prstGeom prst="roundRect">
            <a:avLst>
              <a:gd name="adj" fmla="val 13333"/>
            </a:avLst>
          </a:prstGeom>
          <a:solidFill>
            <a:srgbClr val="1B1C20"/>
          </a:solidFill>
          <a:ln/>
        </p:spPr>
      </p:sp>
      <p:sp>
        <p:nvSpPr>
          <p:cNvPr id="15" name="Text 13"/>
          <p:cNvSpPr/>
          <p:nvPr/>
        </p:nvSpPr>
        <p:spPr>
          <a:xfrm>
            <a:off x="1347788" y="6034460"/>
            <a:ext cx="255105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8927F"/>
                </a:solidFill>
                <a:latin typeface="Courier New" pitchFamily="34" charset="0"/>
                <a:ea typeface="Courier New" pitchFamily="34" charset="-122"/>
                <a:cs typeface="Courier New" pitchFamily="34" charset="-120"/>
              </a:rPr>
              <a:t>R </a:t>
            </a:r>
            <a:pPr algn="l" indent="0" marL="0">
              <a:buNone/>
            </a:pPr>
            <a:r>
              <a:rPr lang="en-US" sz="1800" dirty="0">
                <a:solidFill>
                  <a:srgbClr val="F4F1EA"/>
                </a:solidFill>
                <a:highlight>
                  <a:srgbClr val="1B1C20"/>
                </a:highlight>
                <a:latin typeface="Courier New" pitchFamily="34" charset="0"/>
                <a:ea typeface="Courier New" pitchFamily="34" charset="-122"/>
                <a:cs typeface="Courier New" pitchFamily="34" charset="-120"/>
              </a:rPr>
              <a:t>ebt_pvalue(n, k)</a:t>
            </a:r>
            <a:endParaRPr lang="en-US" sz="1800" dirty="0"/>
          </a:p>
        </p:txBody>
      </p:sp>
      <p:sp>
        <p:nvSpPr>
          <p:cNvPr id="16" name="Shape 14"/>
          <p:cNvSpPr/>
          <p:nvPr/>
        </p:nvSpPr>
        <p:spPr>
          <a:xfrm>
            <a:off x="9267825" y="3292450"/>
            <a:ext cx="8143875" cy="3403997"/>
          </a:xfrm>
          <a:prstGeom prst="roundRect">
            <a:avLst>
              <a:gd name="adj" fmla="val 3358"/>
            </a:avLst>
          </a:prstGeom>
          <a:solidFill>
            <a:srgbClr val="1B1C20"/>
          </a:solidFill>
          <a:ln/>
        </p:spPr>
      </p:sp>
      <p:sp>
        <p:nvSpPr>
          <p:cNvPr id="17" name="Shape 15"/>
          <p:cNvSpPr/>
          <p:nvPr/>
        </p:nvSpPr>
        <p:spPr>
          <a:xfrm>
            <a:off x="9591675" y="3578200"/>
            <a:ext cx="1364010" cy="409575"/>
          </a:xfrm>
          <a:prstGeom prst="roundRect">
            <a:avLst>
              <a:gd name="adj" fmla="val 46512"/>
            </a:avLst>
          </a:prstGeom>
          <a:solidFill>
            <a:srgbClr val="0E9C99"/>
          </a:solidFill>
          <a:ln/>
        </p:spPr>
      </p:sp>
      <p:sp>
        <p:nvSpPr>
          <p:cNvPr id="18" name="Text 16"/>
          <p:cNvSpPr/>
          <p:nvPr/>
        </p:nvSpPr>
        <p:spPr>
          <a:xfrm>
            <a:off x="9725025" y="3635350"/>
            <a:ext cx="11735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04211F"/>
                </a:solidFill>
                <a:latin typeface="Courier New" pitchFamily="34" charset="0"/>
                <a:ea typeface="Courier New" pitchFamily="34" charset="-122"/>
                <a:cs typeface="Courier New" pitchFamily="34" charset="-120"/>
              </a:rPr>
              <a:t>BAYESIAN</a:t>
            </a:r>
            <a:endParaRPr lang="en-US" sz="1800" dirty="0"/>
          </a:p>
        </p:txBody>
      </p:sp>
      <p:sp>
        <p:nvSpPr>
          <p:cNvPr id="19" name="Text 17"/>
          <p:cNvSpPr/>
          <p:nvPr/>
        </p:nvSpPr>
        <p:spPr>
          <a:xfrm>
            <a:off x="11089035" y="3618681"/>
            <a:ext cx="1851734" cy="366713"/>
          </a:xfrm>
          <a:prstGeom prst="rect">
            <a:avLst/>
          </a:prstGeom>
          <a:noFill/>
          <a:ln/>
        </p:spPr>
        <p:txBody>
          <a:bodyPr wrap="square" lIns="25400" tIns="25400" rIns="25400" bIns="25400" rtlCol="0" anchor="t">
            <a:normAutofit/>
          </a:bodyPr>
          <a:lstStyle/>
          <a:p>
            <a:pPr algn="l" indent="0" marL="0">
              <a:buNone/>
            </a:pPr>
            <a:r>
              <a:rPr lang="en-US" sz="2250" b="1" dirty="0">
                <a:solidFill>
                  <a:srgbClr val="F4F1EA"/>
                </a:solidFill>
                <a:latin typeface="Arial" pitchFamily="34" charset="0"/>
                <a:ea typeface="Arial" pitchFamily="34" charset="-122"/>
                <a:cs typeface="Arial" pitchFamily="34" charset="-120"/>
              </a:rPr>
              <a:t>Bayes Factor</a:t>
            </a:r>
            <a:endParaRPr lang="en-US" sz="2250" dirty="0"/>
          </a:p>
        </p:txBody>
      </p:sp>
      <p:sp>
        <p:nvSpPr>
          <p:cNvPr id="20" name="Text 18"/>
          <p:cNvSpPr/>
          <p:nvPr/>
        </p:nvSpPr>
        <p:spPr>
          <a:xfrm>
            <a:off x="9659303" y="4159225"/>
            <a:ext cx="8153400" cy="441424"/>
          </a:xfrm>
          <a:prstGeom prst="rect">
            <a:avLst/>
          </a:prstGeom>
          <a:noFill/>
          <a:ln/>
        </p:spPr>
        <p:txBody>
          <a:bodyPr wrap="square" lIns="25400" tIns="25400" rIns="25400" bIns="25400" rtlCol="0" anchor="t">
            <a:normAutofit/>
          </a:bodyPr>
          <a:lstStyle/>
          <a:p>
            <a:pPr algn="l" marL="180023" indent="-180023">
              <a:lnSpc>
                <a:spcPct val="155000"/>
              </a:lnSpc>
              <a:buSzPct val="100000"/>
              <a:buChar char="•"/>
            </a:pPr>
            <a:r>
              <a:rPr lang="en-US" sz="2025" dirty="0">
                <a:solidFill>
                  <a:srgbClr val="DAD5C7"/>
                </a:solidFill>
                <a:latin typeface="Arial" pitchFamily="34" charset="0"/>
                <a:ea typeface="Arial" pitchFamily="34" charset="-122"/>
                <a:cs typeface="Arial" pitchFamily="34" charset="-120"/>
              </a:rPr>
              <a:t>Quantifies evidence for </a:t>
            </a:r>
            <a:pPr algn="l" indent="0" marL="0">
              <a:lnSpc>
                <a:spcPct val="155000"/>
              </a:lnSpc>
              <a:buNone/>
            </a:pPr>
            <a:r>
              <a:rPr lang="en-US" sz="2025" b="1" dirty="0">
                <a:solidFill>
                  <a:srgbClr val="5FC9C5"/>
                </a:solidFill>
                <a:latin typeface="Arial" pitchFamily="34" charset="0"/>
                <a:ea typeface="Arial" pitchFamily="34" charset="-122"/>
                <a:cs typeface="Arial" pitchFamily="34" charset="-120"/>
              </a:rPr>
              <a:t>both </a:t>
            </a:r>
            <a:pPr algn="l" indent="0" marL="0">
              <a:lnSpc>
                <a:spcPct val="155000"/>
              </a:lnSpc>
              <a:buNone/>
            </a:pPr>
            <a:r>
              <a:rPr lang="en-US" sz="2025" dirty="0">
                <a:solidFill>
                  <a:srgbClr val="DAD5C7"/>
                </a:solidFill>
                <a:latin typeface="Arial" pitchFamily="34" charset="0"/>
                <a:ea typeface="Arial" pitchFamily="34" charset="-122"/>
                <a:cs typeface="Arial" pitchFamily="34" charset="-120"/>
              </a:rPr>
              <a:t>hypotheses</a:t>
            </a:r>
            <a:endParaRPr lang="en-US" sz="2025" dirty="0"/>
          </a:p>
        </p:txBody>
      </p:sp>
      <p:sp>
        <p:nvSpPr>
          <p:cNvPr id="21" name="Text 19"/>
          <p:cNvSpPr/>
          <p:nvPr/>
        </p:nvSpPr>
        <p:spPr>
          <a:xfrm>
            <a:off x="9659303" y="4562549"/>
            <a:ext cx="8153400" cy="441424"/>
          </a:xfrm>
          <a:prstGeom prst="rect">
            <a:avLst/>
          </a:prstGeom>
          <a:noFill/>
          <a:ln/>
        </p:spPr>
        <p:txBody>
          <a:bodyPr wrap="square" lIns="25400" tIns="25400" rIns="25400" bIns="25400" rtlCol="0" anchor="t">
            <a:normAutofit/>
          </a:bodyPr>
          <a:lstStyle/>
          <a:p>
            <a:pPr algn="l" marL="180023" indent="-180023">
              <a:lnSpc>
                <a:spcPct val="155000"/>
              </a:lnSpc>
              <a:buSzPct val="100000"/>
              <a:buChar char="•"/>
            </a:pPr>
            <a:r>
              <a:rPr lang="en-US" sz="2025" b="1" dirty="0">
                <a:solidFill>
                  <a:srgbClr val="F4F1EA"/>
                </a:solidFill>
                <a:latin typeface="Arial" pitchFamily="34" charset="0"/>
                <a:ea typeface="Arial" pitchFamily="34" charset="-122"/>
                <a:cs typeface="Arial" pitchFamily="34" charset="-120"/>
              </a:rPr>
              <a:t>Robust to small n </a:t>
            </a:r>
            <a:pPr algn="l" indent="0" marL="0">
              <a:lnSpc>
                <a:spcPct val="155000"/>
              </a:lnSpc>
              <a:buNone/>
            </a:pPr>
            <a:r>
              <a:rPr lang="en-US" sz="2025" dirty="0">
                <a:solidFill>
                  <a:srgbClr val="DAD5C7"/>
                </a:solidFill>
                <a:latin typeface="Arial" pitchFamily="34" charset="0"/>
                <a:ea typeface="Arial" pitchFamily="34" charset="-122"/>
                <a:cs typeface="Arial" pitchFamily="34" charset="-120"/>
              </a:rPr>
              <a:t>— stable when data is scarce</a:t>
            </a:r>
            <a:endParaRPr lang="en-US" sz="2025" dirty="0"/>
          </a:p>
        </p:txBody>
      </p:sp>
      <p:sp>
        <p:nvSpPr>
          <p:cNvPr id="22" name="Text 20"/>
          <p:cNvSpPr/>
          <p:nvPr/>
        </p:nvSpPr>
        <p:spPr>
          <a:xfrm>
            <a:off x="9659303" y="4965874"/>
            <a:ext cx="8153400" cy="436662"/>
          </a:xfrm>
          <a:prstGeom prst="rect">
            <a:avLst/>
          </a:prstGeom>
          <a:noFill/>
          <a:ln/>
        </p:spPr>
        <p:txBody>
          <a:bodyPr wrap="square" lIns="25400" tIns="25400" rIns="25400" bIns="25400" rtlCol="0" anchor="t">
            <a:normAutofit/>
          </a:bodyPr>
          <a:lstStyle/>
          <a:p>
            <a:pPr algn="l" marL="180023" indent="-180023">
              <a:lnSpc>
                <a:spcPct val="155000"/>
              </a:lnSpc>
              <a:buSzPct val="100000"/>
              <a:buChar char="•"/>
              <a:tabLst>
                <a:tab pos="180023" algn="l"/>
              </a:tabLst>
            </a:pPr>
            <a:r>
              <a:rPr lang="en-US" sz="2025" dirty="0">
                <a:solidFill>
                  <a:srgbClr val="DAD5C7"/>
                </a:solidFill>
                <a:latin typeface="Arial" pitchFamily="34" charset="0"/>
                <a:ea typeface="Arial" pitchFamily="34" charset="-122"/>
                <a:cs typeface="Arial" pitchFamily="34" charset="-120"/>
              </a:rPr>
              <a:t>Reads on an interpretable strength scale</a:t>
            </a:r>
            <a:endParaRPr lang="en-US" sz="2025" dirty="0"/>
          </a:p>
        </p:txBody>
      </p:sp>
      <p:sp>
        <p:nvSpPr>
          <p:cNvPr id="23" name="Shape 21"/>
          <p:cNvSpPr/>
          <p:nvPr/>
        </p:nvSpPr>
        <p:spPr>
          <a:xfrm>
            <a:off x="9591675" y="5554935"/>
            <a:ext cx="2461320" cy="428625"/>
          </a:xfrm>
          <a:prstGeom prst="roundRect">
            <a:avLst>
              <a:gd name="adj" fmla="val 13333"/>
            </a:avLst>
          </a:prstGeom>
          <a:solidFill>
            <a:srgbClr val="F4F1EA"/>
          </a:solidFill>
          <a:ln/>
        </p:spPr>
      </p:sp>
      <p:sp>
        <p:nvSpPr>
          <p:cNvPr id="24" name="Text 22"/>
          <p:cNvSpPr/>
          <p:nvPr/>
        </p:nvSpPr>
        <p:spPr>
          <a:xfrm>
            <a:off x="9725025" y="5621610"/>
            <a:ext cx="22708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C4442F"/>
                </a:solidFill>
                <a:latin typeface="Courier New" pitchFamily="34" charset="0"/>
                <a:ea typeface="Courier New" pitchFamily="34" charset="-122"/>
                <a:cs typeface="Courier New" pitchFamily="34" charset="-120"/>
              </a:rPr>
              <a:t>R </a:t>
            </a:r>
            <a:pPr algn="l" indent="0" marL="0">
              <a:buNone/>
            </a:pPr>
            <a:r>
              <a:rPr lang="en-US" sz="1800" dirty="0">
                <a:solidFill>
                  <a:srgbClr val="1B1C20"/>
                </a:solidFill>
                <a:highlight>
                  <a:srgbClr val="F4F1EA"/>
                </a:highlight>
                <a:latin typeface="Courier New" pitchFamily="34" charset="0"/>
                <a:ea typeface="Courier New" pitchFamily="34" charset="-122"/>
                <a:cs typeface="Courier New" pitchFamily="34" charset="-120"/>
              </a:rPr>
              <a:t>log_bf10(n, k)</a:t>
            </a:r>
            <a:endParaRPr lang="en-US" sz="1800" dirty="0"/>
          </a:p>
        </p:txBody>
      </p:sp>
      <p:sp>
        <p:nvSpPr>
          <p:cNvPr id="25" name="Shape 23"/>
          <p:cNvSpPr/>
          <p:nvPr/>
        </p:nvSpPr>
        <p:spPr>
          <a:xfrm>
            <a:off x="876300" y="6944097"/>
            <a:ext cx="16535400" cy="1398240"/>
          </a:xfrm>
          <a:prstGeom prst="roundRect">
            <a:avLst>
              <a:gd name="adj" fmla="val 6812"/>
            </a:avLst>
          </a:prstGeom>
          <a:solidFill>
            <a:srgbClr val="FBFAF6"/>
          </a:solidFill>
          <a:ln/>
        </p:spPr>
      </p:sp>
      <p:sp>
        <p:nvSpPr>
          <p:cNvPr id="26" name="Shape 24"/>
          <p:cNvSpPr/>
          <p:nvPr/>
        </p:nvSpPr>
        <p:spPr>
          <a:xfrm>
            <a:off x="876300" y="8328050"/>
            <a:ext cx="16535400" cy="14288"/>
          </a:xfrm>
          <a:prstGeom prst="rect">
            <a:avLst/>
          </a:prstGeom>
          <a:solidFill>
            <a:srgbClr val="DAD5C7"/>
          </a:solidFill>
          <a:ln/>
        </p:spPr>
      </p:sp>
      <p:sp>
        <p:nvSpPr>
          <p:cNvPr id="27" name="Shape 25"/>
          <p:cNvSpPr/>
          <p:nvPr/>
        </p:nvSpPr>
        <p:spPr>
          <a:xfrm>
            <a:off x="876300" y="6944097"/>
            <a:ext cx="16535400" cy="14288"/>
          </a:xfrm>
          <a:prstGeom prst="rect">
            <a:avLst/>
          </a:prstGeom>
          <a:solidFill>
            <a:srgbClr val="DAD5C7"/>
          </a:solidFill>
          <a:ln/>
        </p:spPr>
      </p:sp>
      <p:sp>
        <p:nvSpPr>
          <p:cNvPr id="28" name="Shape 26"/>
          <p:cNvSpPr/>
          <p:nvPr/>
        </p:nvSpPr>
        <p:spPr>
          <a:xfrm>
            <a:off x="876300" y="6944097"/>
            <a:ext cx="47625" cy="1398240"/>
          </a:xfrm>
          <a:prstGeom prst="rect">
            <a:avLst/>
          </a:prstGeom>
          <a:solidFill>
            <a:srgbClr val="E15D48"/>
          </a:solidFill>
          <a:ln/>
        </p:spPr>
      </p:sp>
      <p:sp>
        <p:nvSpPr>
          <p:cNvPr id="29" name="Shape 27"/>
          <p:cNvSpPr/>
          <p:nvPr/>
        </p:nvSpPr>
        <p:spPr>
          <a:xfrm>
            <a:off x="17397413" y="6944097"/>
            <a:ext cx="14288" cy="1398240"/>
          </a:xfrm>
          <a:prstGeom prst="rect">
            <a:avLst/>
          </a:prstGeom>
          <a:solidFill>
            <a:srgbClr val="DAD5C7"/>
          </a:solidFill>
          <a:ln/>
        </p:spPr>
      </p:sp>
      <p:sp>
        <p:nvSpPr>
          <p:cNvPr id="30" name="Text 28"/>
          <p:cNvSpPr/>
          <p:nvPr/>
        </p:nvSpPr>
        <p:spPr>
          <a:xfrm>
            <a:off x="1247775" y="7206035"/>
            <a:ext cx="5164747" cy="912465"/>
          </a:xfrm>
          <a:prstGeom prst="rect">
            <a:avLst/>
          </a:prstGeom>
          <a:noFill/>
          <a:ln/>
        </p:spPr>
        <p:txBody>
          <a:bodyPr wrap="square" lIns="25400" tIns="25400" rIns="25400" bIns="25400" rtlCol="0" anchor="t">
            <a:normAutofit/>
          </a:bodyPr>
          <a:lstStyle/>
          <a:p>
            <a:pPr algn="l" indent="0" marL="0">
              <a:lnSpc>
                <a:spcPct val="135000"/>
              </a:lnSpc>
              <a:buNone/>
            </a:pPr>
            <a:r>
              <a:rPr lang="en-US" sz="2550" i="1" dirty="0">
                <a:solidFill>
                  <a:srgbClr val="191A1D"/>
                </a:solidFill>
                <a:latin typeface="Georgia" pitchFamily="34" charset="0"/>
                <a:ea typeface="Georgia" pitchFamily="34" charset="-122"/>
                <a:cs typeface="Georgia" pitchFamily="34" charset="-120"/>
              </a:rPr>
              <a:t>"Failure to reject H</a:t>
            </a:r>
            <a:pPr algn="l" indent="0" marL="0">
              <a:lnSpc>
                <a:spcPct val="135000"/>
              </a:lnSpc>
              <a:buNone/>
            </a:pPr>
            <a:r>
              <a:rPr lang="en-US" sz="2125" i="1" baseline="-40000" dirty="0">
                <a:solidFill>
                  <a:srgbClr val="191A1D"/>
                </a:solidFill>
                <a:latin typeface="Georgia" pitchFamily="34" charset="0"/>
                <a:ea typeface="Georgia" pitchFamily="34" charset="-122"/>
                <a:cs typeface="Georgia" pitchFamily="34" charset="-120"/>
              </a:rPr>
              <a:t>0 </a:t>
            </a:r>
            <a:pPr algn="l" indent="0" marL="0">
              <a:lnSpc>
                <a:spcPct val="135000"/>
              </a:lnSpc>
              <a:buNone/>
            </a:pPr>
            <a:r>
              <a:rPr lang="en-US" sz="2550" i="1" dirty="0">
                <a:solidFill>
                  <a:srgbClr val="191A1D"/>
                </a:solidFill>
                <a:latin typeface="Georgia" pitchFamily="34" charset="0"/>
                <a:ea typeface="Georgia" pitchFamily="34" charset="-122"/>
                <a:cs typeface="Georgia" pitchFamily="34" charset="-120"/>
              </a:rPr>
              <a:t>≠ evidence of no bias."</a:t>
            </a:r>
            <a:endParaRPr lang="en-US" sz="2550" dirty="0"/>
          </a:p>
        </p:txBody>
      </p:sp>
      <p:sp>
        <p:nvSpPr>
          <p:cNvPr id="31" name="Shape 29"/>
          <p:cNvSpPr/>
          <p:nvPr/>
        </p:nvSpPr>
        <p:spPr>
          <a:xfrm>
            <a:off x="6490692" y="7296522"/>
            <a:ext cx="9525" cy="693390"/>
          </a:xfrm>
          <a:prstGeom prst="rect">
            <a:avLst/>
          </a:prstGeom>
          <a:solidFill>
            <a:srgbClr val="DAD5C7"/>
          </a:solidFill>
          <a:ln/>
        </p:spPr>
      </p:sp>
      <p:sp>
        <p:nvSpPr>
          <p:cNvPr id="32" name="Text 30"/>
          <p:cNvSpPr/>
          <p:nvPr/>
        </p:nvSpPr>
        <p:spPr>
          <a:xfrm>
            <a:off x="6728817" y="7296522"/>
            <a:ext cx="10662231" cy="73149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565961"/>
                </a:solidFill>
                <a:latin typeface="Arial" pitchFamily="34" charset="0"/>
                <a:ea typeface="Arial" pitchFamily="34" charset="-122"/>
                <a:cs typeface="Arial" pitchFamily="34" charset="-120"/>
              </a:rPr>
              <a:t>The Bayes factor resolves this ambiguity — the paper's main methodological upgrade for the NLP fairness literature.</a:t>
            </a:r>
            <a:endParaRPr lang="en-US" sz="1950" dirty="0"/>
          </a:p>
        </p:txBody>
      </p:sp>
      <p:sp>
        <p:nvSpPr>
          <p:cNvPr id="33" name="Text 31"/>
          <p:cNvSpPr/>
          <p:nvPr/>
        </p:nvSpPr>
        <p:spPr>
          <a:xfrm>
            <a:off x="876300" y="9572625"/>
            <a:ext cx="8551768"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8A8778"/>
                </a:solidFill>
                <a:latin typeface="Courier New" pitchFamily="34" charset="0"/>
                <a:ea typeface="Courier New" pitchFamily="34" charset="-122"/>
                <a:cs typeface="Courier New" pitchFamily="34" charset="-120"/>
              </a:rPr>
              <a:t>Bayesian Bias Detection · Statistics for Data Science</a:t>
            </a:r>
            <a:endParaRPr lang="en-US" sz="1800" dirty="0"/>
          </a:p>
        </p:txBody>
      </p:sp>
      <p:sp>
        <p:nvSpPr>
          <p:cNvPr id="34" name="Text 32"/>
          <p:cNvSpPr/>
          <p:nvPr/>
        </p:nvSpPr>
        <p:spPr>
          <a:xfrm>
            <a:off x="16384860" y="9572625"/>
            <a:ext cx="1103040"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8A8778"/>
                </a:solidFill>
                <a:latin typeface="Courier New" pitchFamily="34" charset="0"/>
                <a:ea typeface="Courier New" pitchFamily="34" charset="-122"/>
                <a:cs typeface="Courier New" pitchFamily="34" charset="-120"/>
              </a:rPr>
              <a:t>05 / 15</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0E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4F1EA"/>
          </a:solidFill>
          <a:ln/>
        </p:spPr>
      </p:sp>
      <p:sp>
        <p:nvSpPr>
          <p:cNvPr id="3" name="Shape 1"/>
          <p:cNvSpPr/>
          <p:nvPr/>
        </p:nvSpPr>
        <p:spPr>
          <a:xfrm>
            <a:off x="876300" y="2043113"/>
            <a:ext cx="16535400" cy="19050"/>
          </a:xfrm>
          <a:prstGeom prst="rect">
            <a:avLst/>
          </a:prstGeom>
          <a:solidFill>
            <a:srgbClr val="191A1D"/>
          </a:solidFill>
          <a:ln/>
        </p:spPr>
      </p:sp>
      <p:sp>
        <p:nvSpPr>
          <p:cNvPr id="4" name="Text 2"/>
          <p:cNvSpPr/>
          <p:nvPr/>
        </p:nvSpPr>
        <p:spPr>
          <a:xfrm>
            <a:off x="876300" y="723900"/>
            <a:ext cx="2734628" cy="333375"/>
          </a:xfrm>
          <a:prstGeom prst="rect">
            <a:avLst/>
          </a:prstGeom>
          <a:noFill/>
          <a:ln/>
        </p:spPr>
        <p:txBody>
          <a:bodyPr wrap="square" lIns="25400" tIns="25400" rIns="25400" bIns="25400" rtlCol="0" anchor="t">
            <a:normAutofit/>
          </a:bodyPr>
          <a:lstStyle/>
          <a:p>
            <a:pPr algn="l" indent="0" marL="0">
              <a:buNone/>
            </a:pPr>
            <a:r>
              <a:rPr lang="en-US" sz="1800" spc="225" kern="0" dirty="0">
                <a:solidFill>
                  <a:srgbClr val="2E3F66"/>
                </a:solidFill>
                <a:latin typeface="Courier New" pitchFamily="34" charset="0"/>
                <a:ea typeface="Courier New" pitchFamily="34" charset="-122"/>
                <a:cs typeface="Courier New" pitchFamily="34" charset="-120"/>
              </a:rPr>
              <a:t>BENCHMARKS · 06</a:t>
            </a:r>
            <a:endParaRPr lang="en-US" sz="1800" dirty="0"/>
          </a:p>
        </p:txBody>
      </p:sp>
      <p:sp>
        <p:nvSpPr>
          <p:cNvPr id="5" name="Text 3"/>
          <p:cNvSpPr/>
          <p:nvPr/>
        </p:nvSpPr>
        <p:spPr>
          <a:xfrm>
            <a:off x="876300" y="1133475"/>
            <a:ext cx="2734628" cy="757238"/>
          </a:xfrm>
          <a:prstGeom prst="rect">
            <a:avLst/>
          </a:prstGeom>
          <a:noFill/>
          <a:ln/>
        </p:spPr>
        <p:txBody>
          <a:bodyPr wrap="square" lIns="25400" tIns="25400" rIns="25400" bIns="25400" rtlCol="0" anchor="t">
            <a:normAutofit/>
          </a:bodyPr>
          <a:lstStyle/>
          <a:p>
            <a:pPr algn="l" indent="0" marL="0">
              <a:buNone/>
            </a:pPr>
            <a:r>
              <a:rPr lang="en-US" sz="4350" b="1" dirty="0">
                <a:solidFill>
                  <a:srgbClr val="191A1D"/>
                </a:solidFill>
                <a:latin typeface="Georgia" pitchFamily="34" charset="0"/>
                <a:ea typeface="Georgia" pitchFamily="34" charset="-122"/>
                <a:cs typeface="Georgia" pitchFamily="34" charset="-120"/>
              </a:rPr>
              <a:t>Datasets</a:t>
            </a:r>
            <a:endParaRPr lang="en-US" sz="4350" dirty="0"/>
          </a:p>
        </p:txBody>
      </p:sp>
      <p:sp>
        <p:nvSpPr>
          <p:cNvPr id="6" name="Text 4"/>
          <p:cNvSpPr/>
          <p:nvPr/>
        </p:nvSpPr>
        <p:spPr>
          <a:xfrm>
            <a:off x="11925300" y="1557338"/>
            <a:ext cx="603504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65961"/>
                </a:solidFill>
                <a:latin typeface="Courier New" pitchFamily="34" charset="0"/>
                <a:ea typeface="Courier New" pitchFamily="34" charset="-122"/>
                <a:cs typeface="Courier New" pitchFamily="34" charset="-120"/>
              </a:rPr>
              <a:t>9 categories · full data, no subsampling</a:t>
            </a:r>
            <a:endParaRPr lang="en-US" sz="1800" dirty="0"/>
          </a:p>
        </p:txBody>
      </p:sp>
      <p:sp>
        <p:nvSpPr>
          <p:cNvPr id="7" name="Shape 5"/>
          <p:cNvSpPr/>
          <p:nvPr/>
        </p:nvSpPr>
        <p:spPr>
          <a:xfrm>
            <a:off x="876300" y="4255294"/>
            <a:ext cx="9258300" cy="19050"/>
          </a:xfrm>
          <a:prstGeom prst="rect">
            <a:avLst/>
          </a:prstGeom>
          <a:solidFill>
            <a:srgbClr val="191A1D"/>
          </a:solidFill>
          <a:ln/>
        </p:spPr>
      </p:sp>
      <p:sp>
        <p:nvSpPr>
          <p:cNvPr id="8" name="Text 6"/>
          <p:cNvSpPr/>
          <p:nvPr/>
        </p:nvSpPr>
        <p:spPr>
          <a:xfrm>
            <a:off x="971550" y="3855244"/>
            <a:ext cx="2075780" cy="342900"/>
          </a:xfrm>
          <a:prstGeom prst="rect">
            <a:avLst/>
          </a:prstGeom>
          <a:noFill/>
          <a:ln/>
        </p:spPr>
        <p:txBody>
          <a:bodyPr wrap="square" lIns="25400" tIns="25400" rIns="25400" bIns="25400" rtlCol="0" anchor="ctr">
            <a:normAutofit/>
          </a:bodyPr>
          <a:lstStyle/>
          <a:p>
            <a:pPr algn="l" indent="0" marL="0">
              <a:buNone/>
            </a:pPr>
            <a:r>
              <a:rPr lang="en-US" sz="1800" spc="75" kern="0" dirty="0">
                <a:solidFill>
                  <a:srgbClr val="565961"/>
                </a:solidFill>
                <a:latin typeface="Courier New" pitchFamily="34" charset="0"/>
                <a:ea typeface="Courier New" pitchFamily="34" charset="-122"/>
                <a:cs typeface="Courier New" pitchFamily="34" charset="-120"/>
              </a:rPr>
              <a:t>DATASET</a:t>
            </a:r>
            <a:endParaRPr lang="en-US" sz="1800" dirty="0"/>
          </a:p>
        </p:txBody>
      </p:sp>
      <p:sp>
        <p:nvSpPr>
          <p:cNvPr id="9" name="Text 7"/>
          <p:cNvSpPr/>
          <p:nvPr/>
        </p:nvSpPr>
        <p:spPr>
          <a:xfrm>
            <a:off x="3161630" y="3855244"/>
            <a:ext cx="2863403" cy="342900"/>
          </a:xfrm>
          <a:prstGeom prst="rect">
            <a:avLst/>
          </a:prstGeom>
          <a:noFill/>
          <a:ln/>
        </p:spPr>
        <p:txBody>
          <a:bodyPr wrap="square" lIns="25400" tIns="25400" rIns="25400" bIns="25400" rtlCol="0" anchor="ctr">
            <a:normAutofit/>
          </a:bodyPr>
          <a:lstStyle/>
          <a:p>
            <a:pPr algn="l" indent="0" marL="0">
              <a:buNone/>
            </a:pPr>
            <a:r>
              <a:rPr lang="en-US" sz="1800" spc="75" kern="0" dirty="0">
                <a:solidFill>
                  <a:srgbClr val="565961"/>
                </a:solidFill>
                <a:latin typeface="Courier New" pitchFamily="34" charset="0"/>
                <a:ea typeface="Courier New" pitchFamily="34" charset="-122"/>
                <a:cs typeface="Courier New" pitchFamily="34" charset="-120"/>
              </a:rPr>
              <a:t>FORMAT</a:t>
            </a:r>
            <a:endParaRPr lang="en-US" sz="1800" dirty="0"/>
          </a:p>
        </p:txBody>
      </p:sp>
      <p:sp>
        <p:nvSpPr>
          <p:cNvPr id="10" name="Text 8"/>
          <p:cNvSpPr/>
          <p:nvPr/>
        </p:nvSpPr>
        <p:spPr>
          <a:xfrm>
            <a:off x="6126584" y="3855244"/>
            <a:ext cx="703138" cy="342900"/>
          </a:xfrm>
          <a:prstGeom prst="rect">
            <a:avLst/>
          </a:prstGeom>
          <a:noFill/>
          <a:ln/>
        </p:spPr>
        <p:txBody>
          <a:bodyPr wrap="square" lIns="25400" tIns="25400" rIns="25400" bIns="25400" rtlCol="0" anchor="ctr">
            <a:normAutofit/>
          </a:bodyPr>
          <a:lstStyle/>
          <a:p>
            <a:pPr algn="l" indent="0" marL="0">
              <a:buNone/>
            </a:pPr>
            <a:r>
              <a:rPr lang="en-US" sz="1800" spc="75" kern="0" dirty="0">
                <a:solidFill>
                  <a:srgbClr val="565961"/>
                </a:solidFill>
                <a:latin typeface="Courier New" pitchFamily="34" charset="0"/>
                <a:ea typeface="Courier New" pitchFamily="34" charset="-122"/>
                <a:cs typeface="Courier New" pitchFamily="34" charset="-120"/>
              </a:rPr>
              <a:t>SIZE</a:t>
            </a:r>
            <a:endParaRPr lang="en-US" sz="1800" dirty="0"/>
          </a:p>
        </p:txBody>
      </p:sp>
      <p:sp>
        <p:nvSpPr>
          <p:cNvPr id="11" name="Text 9"/>
          <p:cNvSpPr/>
          <p:nvPr/>
        </p:nvSpPr>
        <p:spPr>
          <a:xfrm>
            <a:off x="6944023" y="3855244"/>
            <a:ext cx="3193902" cy="342900"/>
          </a:xfrm>
          <a:prstGeom prst="rect">
            <a:avLst/>
          </a:prstGeom>
          <a:noFill/>
          <a:ln/>
        </p:spPr>
        <p:txBody>
          <a:bodyPr wrap="square" lIns="25400" tIns="25400" rIns="25400" bIns="25400" rtlCol="0" anchor="ctr">
            <a:normAutofit/>
          </a:bodyPr>
          <a:lstStyle/>
          <a:p>
            <a:pPr algn="l" indent="0" marL="0">
              <a:buNone/>
            </a:pPr>
            <a:r>
              <a:rPr lang="en-US" sz="1800" spc="75" kern="0" dirty="0">
                <a:solidFill>
                  <a:srgbClr val="565961"/>
                </a:solidFill>
                <a:latin typeface="Courier New" pitchFamily="34" charset="0"/>
                <a:ea typeface="Courier New" pitchFamily="34" charset="-122"/>
                <a:cs typeface="Courier New" pitchFamily="34" charset="-120"/>
              </a:rPr>
              <a:t>STEREOTYPICAL CHOICE</a:t>
            </a:r>
            <a:endParaRPr lang="en-US" sz="1800" dirty="0"/>
          </a:p>
        </p:txBody>
      </p:sp>
      <p:sp>
        <p:nvSpPr>
          <p:cNvPr id="12" name="Shape 10"/>
          <p:cNvSpPr/>
          <p:nvPr/>
        </p:nvSpPr>
        <p:spPr>
          <a:xfrm>
            <a:off x="876300" y="4893469"/>
            <a:ext cx="9258300" cy="9525"/>
          </a:xfrm>
          <a:prstGeom prst="rect">
            <a:avLst/>
          </a:prstGeom>
          <a:solidFill>
            <a:srgbClr val="DAD5C7"/>
          </a:solidFill>
          <a:ln/>
        </p:spPr>
      </p:sp>
      <p:sp>
        <p:nvSpPr>
          <p:cNvPr id="13" name="Text 11"/>
          <p:cNvSpPr/>
          <p:nvPr/>
        </p:nvSpPr>
        <p:spPr>
          <a:xfrm>
            <a:off x="971550" y="4426744"/>
            <a:ext cx="2075780" cy="361950"/>
          </a:xfrm>
          <a:prstGeom prst="rect">
            <a:avLst/>
          </a:prstGeom>
          <a:noFill/>
          <a:ln/>
        </p:spPr>
        <p:txBody>
          <a:bodyPr wrap="square" lIns="25400" tIns="25400" rIns="25400" bIns="25400" rtlCol="0" anchor="ctr">
            <a:normAutofit/>
          </a:bodyPr>
          <a:lstStyle/>
          <a:p>
            <a:pPr algn="l" indent="0" marL="0">
              <a:buNone/>
            </a:pPr>
            <a:r>
              <a:rPr lang="en-US" sz="1875" b="1" dirty="0">
                <a:solidFill>
                  <a:srgbClr val="191A1D"/>
                </a:solidFill>
                <a:latin typeface="Arial" pitchFamily="34" charset="0"/>
                <a:ea typeface="Arial" pitchFamily="34" charset="-122"/>
                <a:cs typeface="Arial" pitchFamily="34" charset="-120"/>
              </a:rPr>
              <a:t>CrowS-Pairs (EN)</a:t>
            </a:r>
            <a:endParaRPr lang="en-US" sz="1875" dirty="0"/>
          </a:p>
        </p:txBody>
      </p:sp>
      <p:sp>
        <p:nvSpPr>
          <p:cNvPr id="14" name="Text 12"/>
          <p:cNvSpPr/>
          <p:nvPr/>
        </p:nvSpPr>
        <p:spPr>
          <a:xfrm>
            <a:off x="3161630" y="4426744"/>
            <a:ext cx="2863403" cy="361950"/>
          </a:xfrm>
          <a:prstGeom prst="rect">
            <a:avLst/>
          </a:prstGeom>
          <a:noFill/>
          <a:ln/>
        </p:spPr>
        <p:txBody>
          <a:bodyPr wrap="square" lIns="25400" tIns="25400" rIns="25400" bIns="25400" rtlCol="0" anchor="ctr">
            <a:normAutofit/>
          </a:bodyPr>
          <a:lstStyle/>
          <a:p>
            <a:pPr algn="l" indent="0" marL="0">
              <a:buNone/>
            </a:pPr>
            <a:r>
              <a:rPr lang="en-US" sz="1875" dirty="0">
                <a:solidFill>
                  <a:srgbClr val="33353B"/>
                </a:solidFill>
                <a:latin typeface="Arial" pitchFamily="34" charset="0"/>
                <a:ea typeface="Arial" pitchFamily="34" charset="-122"/>
                <a:cs typeface="Arial" pitchFamily="34" charset="-120"/>
              </a:rPr>
              <a:t>Sentence pairs</a:t>
            </a:r>
            <a:endParaRPr lang="en-US" sz="1875" dirty="0"/>
          </a:p>
        </p:txBody>
      </p:sp>
      <p:sp>
        <p:nvSpPr>
          <p:cNvPr id="15" name="Text 13"/>
          <p:cNvSpPr/>
          <p:nvPr/>
        </p:nvSpPr>
        <p:spPr>
          <a:xfrm>
            <a:off x="6126584" y="4426744"/>
            <a:ext cx="703138" cy="361950"/>
          </a:xfrm>
          <a:prstGeom prst="rect">
            <a:avLst/>
          </a:prstGeom>
          <a:noFill/>
          <a:ln/>
        </p:spPr>
        <p:txBody>
          <a:bodyPr wrap="square" lIns="25400" tIns="25400" rIns="25400" bIns="25400" rtlCol="0" anchor="ctr">
            <a:normAutofit/>
          </a:bodyPr>
          <a:lstStyle/>
          <a:p>
            <a:pPr algn="l" indent="0" marL="0">
              <a:buNone/>
            </a:pPr>
            <a:r>
              <a:rPr lang="en-US" sz="1875" dirty="0">
                <a:solidFill>
                  <a:srgbClr val="191A1D"/>
                </a:solidFill>
                <a:latin typeface="Courier New" pitchFamily="34" charset="0"/>
                <a:ea typeface="Courier New" pitchFamily="34" charset="-122"/>
                <a:cs typeface="Courier New" pitchFamily="34" charset="-120"/>
              </a:rPr>
              <a:t>1666</a:t>
            </a:r>
            <a:endParaRPr lang="en-US" sz="1875" dirty="0"/>
          </a:p>
        </p:txBody>
      </p:sp>
      <p:sp>
        <p:nvSpPr>
          <p:cNvPr id="16" name="Text 14"/>
          <p:cNvSpPr/>
          <p:nvPr/>
        </p:nvSpPr>
        <p:spPr>
          <a:xfrm>
            <a:off x="6944023" y="4426744"/>
            <a:ext cx="3193902" cy="361950"/>
          </a:xfrm>
          <a:prstGeom prst="rect">
            <a:avLst/>
          </a:prstGeom>
          <a:noFill/>
          <a:ln/>
        </p:spPr>
        <p:txBody>
          <a:bodyPr wrap="square" lIns="25400" tIns="25400" rIns="25400" bIns="25400" rtlCol="0" anchor="ctr">
            <a:normAutofit/>
          </a:bodyPr>
          <a:lstStyle/>
          <a:p>
            <a:pPr algn="l" indent="0" marL="0">
              <a:buNone/>
            </a:pPr>
            <a:r>
              <a:rPr lang="en-US" sz="1875" dirty="0">
                <a:solidFill>
                  <a:srgbClr val="33353B"/>
                </a:solidFill>
                <a:latin typeface="Arial" pitchFamily="34" charset="0"/>
                <a:ea typeface="Arial" pitchFamily="34" charset="-122"/>
                <a:cs typeface="Arial" pitchFamily="34" charset="-120"/>
              </a:rPr>
              <a:t>sentence #1 (sent_more)</a:t>
            </a:r>
            <a:endParaRPr lang="en-US" sz="1875" dirty="0"/>
          </a:p>
        </p:txBody>
      </p:sp>
      <p:sp>
        <p:nvSpPr>
          <p:cNvPr id="17" name="Shape 15"/>
          <p:cNvSpPr/>
          <p:nvPr/>
        </p:nvSpPr>
        <p:spPr>
          <a:xfrm>
            <a:off x="876300" y="5517356"/>
            <a:ext cx="9258300" cy="9525"/>
          </a:xfrm>
          <a:prstGeom prst="rect">
            <a:avLst/>
          </a:prstGeom>
          <a:solidFill>
            <a:srgbClr val="DAD5C7"/>
          </a:solidFill>
          <a:ln/>
        </p:spPr>
      </p:sp>
      <p:sp>
        <p:nvSpPr>
          <p:cNvPr id="18" name="Text 16"/>
          <p:cNvSpPr/>
          <p:nvPr/>
        </p:nvSpPr>
        <p:spPr>
          <a:xfrm>
            <a:off x="971550" y="5055394"/>
            <a:ext cx="2075780" cy="357188"/>
          </a:xfrm>
          <a:prstGeom prst="rect">
            <a:avLst/>
          </a:prstGeom>
          <a:noFill/>
          <a:ln/>
        </p:spPr>
        <p:txBody>
          <a:bodyPr wrap="square" lIns="25400" tIns="25400" rIns="25400" bIns="25400" rtlCol="0" anchor="ctr">
            <a:normAutofit/>
          </a:bodyPr>
          <a:lstStyle/>
          <a:p>
            <a:pPr algn="l" indent="0" marL="0">
              <a:buNone/>
            </a:pPr>
            <a:r>
              <a:rPr lang="en-US" sz="1875" b="1" dirty="0">
                <a:solidFill>
                  <a:srgbClr val="191A1D"/>
                </a:solidFill>
                <a:latin typeface="Arial" pitchFamily="34" charset="0"/>
                <a:ea typeface="Arial" pitchFamily="34" charset="-122"/>
                <a:cs typeface="Arial" pitchFamily="34" charset="-120"/>
              </a:rPr>
              <a:t>CrowS-Pairs (FR)</a:t>
            </a:r>
            <a:endParaRPr lang="en-US" sz="1875" dirty="0"/>
          </a:p>
        </p:txBody>
      </p:sp>
      <p:sp>
        <p:nvSpPr>
          <p:cNvPr id="19" name="Text 17"/>
          <p:cNvSpPr/>
          <p:nvPr/>
        </p:nvSpPr>
        <p:spPr>
          <a:xfrm>
            <a:off x="3161630" y="5055394"/>
            <a:ext cx="2863403" cy="357188"/>
          </a:xfrm>
          <a:prstGeom prst="rect">
            <a:avLst/>
          </a:prstGeom>
          <a:noFill/>
          <a:ln/>
        </p:spPr>
        <p:txBody>
          <a:bodyPr wrap="square" lIns="25400" tIns="25400" rIns="25400" bIns="25400" rtlCol="0" anchor="ctr">
            <a:normAutofit/>
          </a:bodyPr>
          <a:lstStyle/>
          <a:p>
            <a:pPr algn="l" indent="0" marL="0">
              <a:buNone/>
            </a:pPr>
            <a:r>
              <a:rPr lang="en-US" sz="1875" dirty="0">
                <a:solidFill>
                  <a:srgbClr val="33353B"/>
                </a:solidFill>
                <a:latin typeface="Arial" pitchFamily="34" charset="0"/>
                <a:ea typeface="Arial" pitchFamily="34" charset="-122"/>
                <a:cs typeface="Arial" pitchFamily="34" charset="-120"/>
              </a:rPr>
              <a:t>French translation</a:t>
            </a:r>
            <a:endParaRPr lang="en-US" sz="1875" dirty="0"/>
          </a:p>
        </p:txBody>
      </p:sp>
      <p:sp>
        <p:nvSpPr>
          <p:cNvPr id="20" name="Text 18"/>
          <p:cNvSpPr/>
          <p:nvPr/>
        </p:nvSpPr>
        <p:spPr>
          <a:xfrm>
            <a:off x="6126584" y="5055394"/>
            <a:ext cx="703138" cy="357188"/>
          </a:xfrm>
          <a:prstGeom prst="rect">
            <a:avLst/>
          </a:prstGeom>
          <a:noFill/>
          <a:ln/>
        </p:spPr>
        <p:txBody>
          <a:bodyPr wrap="square" lIns="25400" tIns="25400" rIns="25400" bIns="25400" rtlCol="0" anchor="ctr">
            <a:normAutofit/>
          </a:bodyPr>
          <a:lstStyle/>
          <a:p>
            <a:pPr algn="l" indent="0" marL="0">
              <a:buNone/>
            </a:pPr>
            <a:r>
              <a:rPr lang="en-US" sz="1875" dirty="0">
                <a:solidFill>
                  <a:srgbClr val="191A1D"/>
                </a:solidFill>
                <a:latin typeface="Courier New" pitchFamily="34" charset="0"/>
                <a:ea typeface="Courier New" pitchFamily="34" charset="-122"/>
                <a:cs typeface="Courier New" pitchFamily="34" charset="-120"/>
              </a:rPr>
              <a:t>1663</a:t>
            </a:r>
            <a:endParaRPr lang="en-US" sz="1875" dirty="0"/>
          </a:p>
        </p:txBody>
      </p:sp>
      <p:sp>
        <p:nvSpPr>
          <p:cNvPr id="21" name="Text 19"/>
          <p:cNvSpPr/>
          <p:nvPr/>
        </p:nvSpPr>
        <p:spPr>
          <a:xfrm>
            <a:off x="6944023" y="5055394"/>
            <a:ext cx="3193902" cy="357188"/>
          </a:xfrm>
          <a:prstGeom prst="rect">
            <a:avLst/>
          </a:prstGeom>
          <a:noFill/>
          <a:ln/>
        </p:spPr>
        <p:txBody>
          <a:bodyPr wrap="square" lIns="25400" tIns="25400" rIns="25400" bIns="25400" rtlCol="0" anchor="ctr">
            <a:normAutofit/>
          </a:bodyPr>
          <a:lstStyle/>
          <a:p>
            <a:pPr algn="l" indent="0" marL="0">
              <a:buNone/>
            </a:pPr>
            <a:r>
              <a:rPr lang="en-US" sz="1875" dirty="0">
                <a:solidFill>
                  <a:srgbClr val="33353B"/>
                </a:solidFill>
                <a:latin typeface="Arial" pitchFamily="34" charset="0"/>
                <a:ea typeface="Arial" pitchFamily="34" charset="-122"/>
                <a:cs typeface="Arial" pitchFamily="34" charset="-120"/>
              </a:rPr>
              <a:t>sentence #1</a:t>
            </a:r>
            <a:endParaRPr lang="en-US" sz="1875" dirty="0"/>
          </a:p>
        </p:txBody>
      </p:sp>
      <p:sp>
        <p:nvSpPr>
          <p:cNvPr id="22" name="Shape 20"/>
          <p:cNvSpPr/>
          <p:nvPr/>
        </p:nvSpPr>
        <p:spPr>
          <a:xfrm>
            <a:off x="876300" y="6141244"/>
            <a:ext cx="9258300" cy="9525"/>
          </a:xfrm>
          <a:prstGeom prst="rect">
            <a:avLst/>
          </a:prstGeom>
          <a:solidFill>
            <a:srgbClr val="DAD5C7"/>
          </a:solidFill>
          <a:ln/>
        </p:spPr>
      </p:sp>
      <p:sp>
        <p:nvSpPr>
          <p:cNvPr id="23" name="Text 21"/>
          <p:cNvSpPr/>
          <p:nvPr/>
        </p:nvSpPr>
        <p:spPr>
          <a:xfrm>
            <a:off x="971550" y="5679281"/>
            <a:ext cx="2075780" cy="357188"/>
          </a:xfrm>
          <a:prstGeom prst="rect">
            <a:avLst/>
          </a:prstGeom>
          <a:noFill/>
          <a:ln/>
        </p:spPr>
        <p:txBody>
          <a:bodyPr wrap="square" lIns="25400" tIns="25400" rIns="25400" bIns="25400" rtlCol="0" anchor="ctr">
            <a:normAutofit/>
          </a:bodyPr>
          <a:lstStyle/>
          <a:p>
            <a:pPr algn="l" indent="0" marL="0">
              <a:buNone/>
            </a:pPr>
            <a:r>
              <a:rPr lang="en-US" sz="1875" b="1" dirty="0">
                <a:solidFill>
                  <a:srgbClr val="191A1D"/>
                </a:solidFill>
                <a:latin typeface="Arial" pitchFamily="34" charset="0"/>
                <a:ea typeface="Arial" pitchFamily="34" charset="-122"/>
                <a:cs typeface="Arial" pitchFamily="34" charset="-120"/>
              </a:rPr>
              <a:t>BBQ</a:t>
            </a:r>
            <a:endParaRPr lang="en-US" sz="1875" dirty="0"/>
          </a:p>
        </p:txBody>
      </p:sp>
      <p:sp>
        <p:nvSpPr>
          <p:cNvPr id="24" name="Text 22"/>
          <p:cNvSpPr/>
          <p:nvPr/>
        </p:nvSpPr>
        <p:spPr>
          <a:xfrm>
            <a:off x="3161630" y="5679281"/>
            <a:ext cx="2863403" cy="357188"/>
          </a:xfrm>
          <a:prstGeom prst="rect">
            <a:avLst/>
          </a:prstGeom>
          <a:noFill/>
          <a:ln/>
        </p:spPr>
        <p:txBody>
          <a:bodyPr wrap="square" lIns="25400" tIns="25400" rIns="25400" bIns="25400" rtlCol="0" anchor="ctr">
            <a:normAutofit/>
          </a:bodyPr>
          <a:lstStyle/>
          <a:p>
            <a:pPr algn="l" indent="0" marL="0">
              <a:buNone/>
            </a:pPr>
            <a:r>
              <a:rPr lang="en-US" sz="1875" dirty="0">
                <a:solidFill>
                  <a:srgbClr val="33353B"/>
                </a:solidFill>
                <a:latin typeface="Arial" pitchFamily="34" charset="0"/>
                <a:ea typeface="Arial" pitchFamily="34" charset="-122"/>
                <a:cs typeface="Arial" pitchFamily="34" charset="-120"/>
              </a:rPr>
              <a:t>3-way QA (+ "unknown")</a:t>
            </a:r>
            <a:endParaRPr lang="en-US" sz="1875" dirty="0"/>
          </a:p>
        </p:txBody>
      </p:sp>
      <p:sp>
        <p:nvSpPr>
          <p:cNvPr id="25" name="Text 23"/>
          <p:cNvSpPr/>
          <p:nvPr/>
        </p:nvSpPr>
        <p:spPr>
          <a:xfrm>
            <a:off x="6126584" y="5679281"/>
            <a:ext cx="703138" cy="357188"/>
          </a:xfrm>
          <a:prstGeom prst="rect">
            <a:avLst/>
          </a:prstGeom>
          <a:noFill/>
          <a:ln/>
        </p:spPr>
        <p:txBody>
          <a:bodyPr wrap="square" lIns="25400" tIns="25400" rIns="25400" bIns="25400" rtlCol="0" anchor="ctr">
            <a:normAutofit/>
          </a:bodyPr>
          <a:lstStyle/>
          <a:p>
            <a:pPr algn="l" indent="0" marL="0">
              <a:buNone/>
            </a:pPr>
            <a:r>
              <a:rPr lang="en-US" sz="1875" dirty="0">
                <a:solidFill>
                  <a:srgbClr val="191A1D"/>
                </a:solidFill>
                <a:latin typeface="Courier New" pitchFamily="34" charset="0"/>
                <a:ea typeface="Courier New" pitchFamily="34" charset="-122"/>
                <a:cs typeface="Courier New" pitchFamily="34" charset="-120"/>
              </a:rPr>
              <a:t>7839</a:t>
            </a:r>
            <a:endParaRPr lang="en-US" sz="1875" dirty="0"/>
          </a:p>
        </p:txBody>
      </p:sp>
      <p:sp>
        <p:nvSpPr>
          <p:cNvPr id="26" name="Text 24"/>
          <p:cNvSpPr/>
          <p:nvPr/>
        </p:nvSpPr>
        <p:spPr>
          <a:xfrm>
            <a:off x="6944023" y="5679281"/>
            <a:ext cx="3193902" cy="357188"/>
          </a:xfrm>
          <a:prstGeom prst="rect">
            <a:avLst/>
          </a:prstGeom>
          <a:noFill/>
          <a:ln/>
        </p:spPr>
        <p:txBody>
          <a:bodyPr wrap="square" lIns="25400" tIns="25400" rIns="25400" bIns="25400" rtlCol="0" anchor="ctr">
            <a:normAutofit/>
          </a:bodyPr>
          <a:lstStyle/>
          <a:p>
            <a:pPr algn="l" indent="0" marL="0">
              <a:buNone/>
            </a:pPr>
            <a:r>
              <a:rPr lang="en-US" sz="1875" dirty="0">
                <a:solidFill>
                  <a:srgbClr val="33353B"/>
                </a:solidFill>
                <a:latin typeface="Arial" pitchFamily="34" charset="0"/>
                <a:ea typeface="Arial" pitchFamily="34" charset="-122"/>
                <a:cs typeface="Arial" pitchFamily="34" charset="-120"/>
              </a:rPr>
              <a:t>stereotyped-group option</a:t>
            </a:r>
            <a:endParaRPr lang="en-US" sz="1875" dirty="0"/>
          </a:p>
        </p:txBody>
      </p:sp>
      <p:sp>
        <p:nvSpPr>
          <p:cNvPr id="27" name="Text 25"/>
          <p:cNvSpPr/>
          <p:nvPr/>
        </p:nvSpPr>
        <p:spPr>
          <a:xfrm>
            <a:off x="971550" y="6303169"/>
            <a:ext cx="2075780" cy="352425"/>
          </a:xfrm>
          <a:prstGeom prst="rect">
            <a:avLst/>
          </a:prstGeom>
          <a:noFill/>
          <a:ln/>
        </p:spPr>
        <p:txBody>
          <a:bodyPr wrap="square" lIns="25400" tIns="25400" rIns="25400" bIns="25400" rtlCol="0" anchor="ctr">
            <a:normAutofit/>
          </a:bodyPr>
          <a:lstStyle/>
          <a:p>
            <a:pPr algn="l" indent="0" marL="0">
              <a:buNone/>
            </a:pPr>
            <a:r>
              <a:rPr lang="en-US" sz="1875" b="1" dirty="0">
                <a:solidFill>
                  <a:srgbClr val="191A1D"/>
                </a:solidFill>
                <a:latin typeface="Arial" pitchFamily="34" charset="0"/>
                <a:ea typeface="Arial" pitchFamily="34" charset="-122"/>
                <a:cs typeface="Arial" pitchFamily="34" charset="-120"/>
              </a:rPr>
              <a:t>Winogender</a:t>
            </a:r>
            <a:endParaRPr lang="en-US" sz="1875" dirty="0"/>
          </a:p>
        </p:txBody>
      </p:sp>
      <p:sp>
        <p:nvSpPr>
          <p:cNvPr id="28" name="Text 26"/>
          <p:cNvSpPr/>
          <p:nvPr/>
        </p:nvSpPr>
        <p:spPr>
          <a:xfrm>
            <a:off x="3161630" y="6303169"/>
            <a:ext cx="2863403" cy="352425"/>
          </a:xfrm>
          <a:prstGeom prst="rect">
            <a:avLst/>
          </a:prstGeom>
          <a:noFill/>
          <a:ln/>
        </p:spPr>
        <p:txBody>
          <a:bodyPr wrap="square" lIns="25400" tIns="25400" rIns="25400" bIns="25400" rtlCol="0" anchor="ctr">
            <a:normAutofit/>
          </a:bodyPr>
          <a:lstStyle/>
          <a:p>
            <a:pPr algn="l" indent="0" marL="0">
              <a:buNone/>
            </a:pPr>
            <a:r>
              <a:rPr lang="en-US" sz="1875" dirty="0">
                <a:solidFill>
                  <a:srgbClr val="33353B"/>
                </a:solidFill>
                <a:latin typeface="Arial" pitchFamily="34" charset="0"/>
                <a:ea typeface="Arial" pitchFamily="34" charset="-122"/>
                <a:cs typeface="Arial" pitchFamily="34" charset="-120"/>
              </a:rPr>
              <a:t>Minimal pronoun pairs</a:t>
            </a:r>
            <a:endParaRPr lang="en-US" sz="1875" dirty="0"/>
          </a:p>
        </p:txBody>
      </p:sp>
      <p:sp>
        <p:nvSpPr>
          <p:cNvPr id="29" name="Text 27"/>
          <p:cNvSpPr/>
          <p:nvPr/>
        </p:nvSpPr>
        <p:spPr>
          <a:xfrm>
            <a:off x="6126584" y="6303169"/>
            <a:ext cx="703138" cy="352425"/>
          </a:xfrm>
          <a:prstGeom prst="rect">
            <a:avLst/>
          </a:prstGeom>
          <a:noFill/>
          <a:ln/>
        </p:spPr>
        <p:txBody>
          <a:bodyPr wrap="square" lIns="25400" tIns="25400" rIns="25400" bIns="25400" rtlCol="0" anchor="ctr">
            <a:normAutofit/>
          </a:bodyPr>
          <a:lstStyle/>
          <a:p>
            <a:pPr algn="l" indent="0" marL="0">
              <a:buNone/>
            </a:pPr>
            <a:r>
              <a:rPr lang="en-US" sz="1875" dirty="0">
                <a:solidFill>
                  <a:srgbClr val="191A1D"/>
                </a:solidFill>
                <a:latin typeface="Courier New" pitchFamily="34" charset="0"/>
                <a:ea typeface="Courier New" pitchFamily="34" charset="-122"/>
                <a:cs typeface="Courier New" pitchFamily="34" charset="-120"/>
              </a:rPr>
              <a:t>240</a:t>
            </a:r>
            <a:endParaRPr lang="en-US" sz="1875" dirty="0"/>
          </a:p>
        </p:txBody>
      </p:sp>
      <p:sp>
        <p:nvSpPr>
          <p:cNvPr id="30" name="Text 28"/>
          <p:cNvSpPr/>
          <p:nvPr/>
        </p:nvSpPr>
        <p:spPr>
          <a:xfrm>
            <a:off x="6944023" y="6303169"/>
            <a:ext cx="3193902" cy="352425"/>
          </a:xfrm>
          <a:prstGeom prst="rect">
            <a:avLst/>
          </a:prstGeom>
          <a:noFill/>
          <a:ln/>
        </p:spPr>
        <p:txBody>
          <a:bodyPr wrap="square" lIns="25400" tIns="25400" rIns="25400" bIns="25400" rtlCol="0" anchor="ctr">
            <a:normAutofit/>
          </a:bodyPr>
          <a:lstStyle/>
          <a:p>
            <a:pPr algn="l" indent="0" marL="0">
              <a:buNone/>
            </a:pPr>
            <a:r>
              <a:rPr lang="en-US" sz="1875" dirty="0">
                <a:solidFill>
                  <a:srgbClr val="33353B"/>
                </a:solidFill>
                <a:latin typeface="Arial" pitchFamily="34" charset="0"/>
                <a:ea typeface="Arial" pitchFamily="34" charset="-122"/>
                <a:cs typeface="Arial" pitchFamily="34" charset="-120"/>
              </a:rPr>
              <a:t>male-pronoun sentence</a:t>
            </a:r>
            <a:endParaRPr lang="en-US" sz="1875" dirty="0"/>
          </a:p>
        </p:txBody>
      </p:sp>
      <p:sp>
        <p:nvSpPr>
          <p:cNvPr id="31" name="Text 29"/>
          <p:cNvSpPr/>
          <p:nvPr/>
        </p:nvSpPr>
        <p:spPr>
          <a:xfrm>
            <a:off x="876300" y="7036594"/>
            <a:ext cx="1936291"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8A8778"/>
                </a:solidFill>
                <a:latin typeface="Courier New" pitchFamily="34" charset="0"/>
                <a:ea typeface="Courier New" pitchFamily="34" charset="-122"/>
                <a:cs typeface="Courier New" pitchFamily="34" charset="-120"/>
              </a:rPr>
              <a:t>9 CATEGORIES</a:t>
            </a:r>
            <a:endParaRPr lang="en-US" sz="1800" dirty="0"/>
          </a:p>
        </p:txBody>
      </p:sp>
      <p:sp>
        <p:nvSpPr>
          <p:cNvPr id="32" name="Shape 30"/>
          <p:cNvSpPr/>
          <p:nvPr/>
        </p:nvSpPr>
        <p:spPr>
          <a:xfrm>
            <a:off x="2788965" y="6979444"/>
            <a:ext cx="658118" cy="409575"/>
          </a:xfrm>
          <a:prstGeom prst="roundRect">
            <a:avLst>
              <a:gd name="adj" fmla="val 46512"/>
            </a:avLst>
          </a:prstGeom>
          <a:solidFill>
            <a:srgbClr val="EDEAE0"/>
          </a:solidFill>
          <a:ln/>
        </p:spPr>
      </p:sp>
      <p:sp>
        <p:nvSpPr>
          <p:cNvPr id="33" name="Text 31"/>
          <p:cNvSpPr/>
          <p:nvPr/>
        </p:nvSpPr>
        <p:spPr>
          <a:xfrm>
            <a:off x="2922315" y="7036594"/>
            <a:ext cx="467618"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91A1D"/>
                </a:solidFill>
                <a:latin typeface="Arial" pitchFamily="34" charset="0"/>
                <a:ea typeface="Arial" pitchFamily="34" charset="-122"/>
                <a:cs typeface="Arial" pitchFamily="34" charset="-120"/>
              </a:rPr>
              <a:t>Age</a:t>
            </a:r>
            <a:endParaRPr lang="en-US" sz="1800" dirty="0"/>
          </a:p>
        </p:txBody>
      </p:sp>
      <p:sp>
        <p:nvSpPr>
          <p:cNvPr id="34" name="Shape 32"/>
          <p:cNvSpPr/>
          <p:nvPr/>
        </p:nvSpPr>
        <p:spPr>
          <a:xfrm>
            <a:off x="3542333" y="6979444"/>
            <a:ext cx="1214065" cy="409575"/>
          </a:xfrm>
          <a:prstGeom prst="roundRect">
            <a:avLst>
              <a:gd name="adj" fmla="val 46512"/>
            </a:avLst>
          </a:prstGeom>
          <a:solidFill>
            <a:srgbClr val="EDEAE0"/>
          </a:solidFill>
          <a:ln/>
        </p:spPr>
      </p:sp>
      <p:sp>
        <p:nvSpPr>
          <p:cNvPr id="35" name="Text 33"/>
          <p:cNvSpPr/>
          <p:nvPr/>
        </p:nvSpPr>
        <p:spPr>
          <a:xfrm>
            <a:off x="3675683" y="7036594"/>
            <a:ext cx="102356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91A1D"/>
                </a:solidFill>
                <a:latin typeface="Arial" pitchFamily="34" charset="0"/>
                <a:ea typeface="Arial" pitchFamily="34" charset="-122"/>
                <a:cs typeface="Arial" pitchFamily="34" charset="-120"/>
              </a:rPr>
              <a:t>Disability</a:t>
            </a:r>
            <a:endParaRPr lang="en-US" sz="1800" dirty="0"/>
          </a:p>
        </p:txBody>
      </p:sp>
      <p:sp>
        <p:nvSpPr>
          <p:cNvPr id="36" name="Shape 34"/>
          <p:cNvSpPr/>
          <p:nvPr/>
        </p:nvSpPr>
        <p:spPr>
          <a:xfrm>
            <a:off x="4851648" y="6979444"/>
            <a:ext cx="1022970" cy="409575"/>
          </a:xfrm>
          <a:prstGeom prst="roundRect">
            <a:avLst>
              <a:gd name="adj" fmla="val 46512"/>
            </a:avLst>
          </a:prstGeom>
          <a:solidFill>
            <a:srgbClr val="EDEAE0"/>
          </a:solidFill>
          <a:ln/>
        </p:spPr>
      </p:sp>
      <p:sp>
        <p:nvSpPr>
          <p:cNvPr id="37" name="Text 35"/>
          <p:cNvSpPr/>
          <p:nvPr/>
        </p:nvSpPr>
        <p:spPr>
          <a:xfrm>
            <a:off x="4984998" y="7036594"/>
            <a:ext cx="83247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91A1D"/>
                </a:solidFill>
                <a:latin typeface="Arial" pitchFamily="34" charset="0"/>
                <a:ea typeface="Arial" pitchFamily="34" charset="-122"/>
                <a:cs typeface="Arial" pitchFamily="34" charset="-120"/>
              </a:rPr>
              <a:t>Gender</a:t>
            </a:r>
            <a:endParaRPr lang="en-US" sz="1800" dirty="0"/>
          </a:p>
        </p:txBody>
      </p:sp>
      <p:sp>
        <p:nvSpPr>
          <p:cNvPr id="38" name="Shape 36"/>
          <p:cNvSpPr/>
          <p:nvPr/>
        </p:nvSpPr>
        <p:spPr>
          <a:xfrm>
            <a:off x="5969868" y="6979444"/>
            <a:ext cx="1381423" cy="409575"/>
          </a:xfrm>
          <a:prstGeom prst="roundRect">
            <a:avLst>
              <a:gd name="adj" fmla="val 46512"/>
            </a:avLst>
          </a:prstGeom>
          <a:solidFill>
            <a:srgbClr val="EDEAE0"/>
          </a:solidFill>
          <a:ln/>
        </p:spPr>
      </p:sp>
      <p:sp>
        <p:nvSpPr>
          <p:cNvPr id="39" name="Text 37"/>
          <p:cNvSpPr/>
          <p:nvPr/>
        </p:nvSpPr>
        <p:spPr>
          <a:xfrm>
            <a:off x="6103218" y="7036594"/>
            <a:ext cx="119092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91A1D"/>
                </a:solidFill>
                <a:latin typeface="Arial" pitchFamily="34" charset="0"/>
                <a:ea typeface="Arial" pitchFamily="34" charset="-122"/>
                <a:cs typeface="Arial" pitchFamily="34" charset="-120"/>
              </a:rPr>
              <a:t>Nationality</a:t>
            </a:r>
            <a:endParaRPr lang="en-US" sz="1800" dirty="0"/>
          </a:p>
        </p:txBody>
      </p:sp>
      <p:sp>
        <p:nvSpPr>
          <p:cNvPr id="40" name="Shape 38"/>
          <p:cNvSpPr/>
          <p:nvPr/>
        </p:nvSpPr>
        <p:spPr>
          <a:xfrm>
            <a:off x="7446541" y="6979444"/>
            <a:ext cx="2376934" cy="409575"/>
          </a:xfrm>
          <a:prstGeom prst="roundRect">
            <a:avLst>
              <a:gd name="adj" fmla="val 46512"/>
            </a:avLst>
          </a:prstGeom>
          <a:solidFill>
            <a:srgbClr val="EDEAE0"/>
          </a:solidFill>
          <a:ln/>
        </p:spPr>
      </p:sp>
      <p:sp>
        <p:nvSpPr>
          <p:cNvPr id="41" name="Text 39"/>
          <p:cNvSpPr/>
          <p:nvPr/>
        </p:nvSpPr>
        <p:spPr>
          <a:xfrm>
            <a:off x="7579891" y="7036594"/>
            <a:ext cx="2186434"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91A1D"/>
                </a:solidFill>
                <a:latin typeface="Arial" pitchFamily="34" charset="0"/>
                <a:ea typeface="Arial" pitchFamily="34" charset="-122"/>
                <a:cs typeface="Arial" pitchFamily="34" charset="-120"/>
              </a:rPr>
              <a:t>Physical appearance</a:t>
            </a:r>
            <a:endParaRPr lang="en-US" sz="1800" dirty="0"/>
          </a:p>
        </p:txBody>
      </p:sp>
      <p:sp>
        <p:nvSpPr>
          <p:cNvPr id="42" name="Shape 40"/>
          <p:cNvSpPr/>
          <p:nvPr/>
        </p:nvSpPr>
        <p:spPr>
          <a:xfrm>
            <a:off x="876300" y="7484269"/>
            <a:ext cx="771971" cy="409575"/>
          </a:xfrm>
          <a:prstGeom prst="roundRect">
            <a:avLst>
              <a:gd name="adj" fmla="val 46512"/>
            </a:avLst>
          </a:prstGeom>
          <a:solidFill>
            <a:srgbClr val="EDEAE0"/>
          </a:solidFill>
          <a:ln/>
        </p:spPr>
      </p:sp>
      <p:sp>
        <p:nvSpPr>
          <p:cNvPr id="43" name="Text 41"/>
          <p:cNvSpPr/>
          <p:nvPr/>
        </p:nvSpPr>
        <p:spPr>
          <a:xfrm>
            <a:off x="1009650" y="7541419"/>
            <a:ext cx="58147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91A1D"/>
                </a:solidFill>
                <a:latin typeface="Arial" pitchFamily="34" charset="0"/>
                <a:ea typeface="Arial" pitchFamily="34" charset="-122"/>
                <a:cs typeface="Arial" pitchFamily="34" charset="-120"/>
              </a:rPr>
              <a:t>Race</a:t>
            </a:r>
            <a:endParaRPr lang="en-US" sz="1800" dirty="0"/>
          </a:p>
        </p:txBody>
      </p:sp>
      <p:sp>
        <p:nvSpPr>
          <p:cNvPr id="44" name="Shape 42"/>
          <p:cNvSpPr/>
          <p:nvPr/>
        </p:nvSpPr>
        <p:spPr>
          <a:xfrm>
            <a:off x="1743521" y="7484269"/>
            <a:ext cx="1090166" cy="409575"/>
          </a:xfrm>
          <a:prstGeom prst="roundRect">
            <a:avLst>
              <a:gd name="adj" fmla="val 46512"/>
            </a:avLst>
          </a:prstGeom>
          <a:solidFill>
            <a:srgbClr val="EDEAE0"/>
          </a:solidFill>
          <a:ln/>
        </p:spPr>
      </p:sp>
      <p:sp>
        <p:nvSpPr>
          <p:cNvPr id="45" name="Text 43"/>
          <p:cNvSpPr/>
          <p:nvPr/>
        </p:nvSpPr>
        <p:spPr>
          <a:xfrm>
            <a:off x="1876871" y="7541419"/>
            <a:ext cx="899666"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91A1D"/>
                </a:solidFill>
                <a:latin typeface="Arial" pitchFamily="34" charset="0"/>
                <a:ea typeface="Arial" pitchFamily="34" charset="-122"/>
                <a:cs typeface="Arial" pitchFamily="34" charset="-120"/>
              </a:rPr>
              <a:t>Religion</a:t>
            </a:r>
            <a:endParaRPr lang="en-US" sz="1800" dirty="0"/>
          </a:p>
        </p:txBody>
      </p:sp>
      <p:sp>
        <p:nvSpPr>
          <p:cNvPr id="46" name="Shape 44"/>
          <p:cNvSpPr/>
          <p:nvPr/>
        </p:nvSpPr>
        <p:spPr>
          <a:xfrm>
            <a:off x="2928938" y="7484269"/>
            <a:ext cx="2128242" cy="409575"/>
          </a:xfrm>
          <a:prstGeom prst="roundRect">
            <a:avLst>
              <a:gd name="adj" fmla="val 46512"/>
            </a:avLst>
          </a:prstGeom>
          <a:solidFill>
            <a:srgbClr val="EDEAE0"/>
          </a:solidFill>
          <a:ln/>
        </p:spPr>
      </p:sp>
      <p:sp>
        <p:nvSpPr>
          <p:cNvPr id="47" name="Text 45"/>
          <p:cNvSpPr/>
          <p:nvPr/>
        </p:nvSpPr>
        <p:spPr>
          <a:xfrm>
            <a:off x="3062288" y="7541419"/>
            <a:ext cx="1937742"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91A1D"/>
                </a:solidFill>
                <a:latin typeface="Arial" pitchFamily="34" charset="0"/>
                <a:ea typeface="Arial" pitchFamily="34" charset="-122"/>
                <a:cs typeface="Arial" pitchFamily="34" charset="-120"/>
              </a:rPr>
              <a:t>Sexual orientation</a:t>
            </a:r>
            <a:endParaRPr lang="en-US" sz="1800" dirty="0"/>
          </a:p>
        </p:txBody>
      </p:sp>
      <p:sp>
        <p:nvSpPr>
          <p:cNvPr id="48" name="Shape 46"/>
          <p:cNvSpPr/>
          <p:nvPr/>
        </p:nvSpPr>
        <p:spPr>
          <a:xfrm>
            <a:off x="5152430" y="7484269"/>
            <a:ext cx="1824410" cy="409575"/>
          </a:xfrm>
          <a:prstGeom prst="roundRect">
            <a:avLst>
              <a:gd name="adj" fmla="val 46512"/>
            </a:avLst>
          </a:prstGeom>
          <a:solidFill>
            <a:srgbClr val="EDEAE0"/>
          </a:solidFill>
          <a:ln/>
        </p:spPr>
      </p:sp>
      <p:sp>
        <p:nvSpPr>
          <p:cNvPr id="49" name="Text 47"/>
          <p:cNvSpPr/>
          <p:nvPr/>
        </p:nvSpPr>
        <p:spPr>
          <a:xfrm>
            <a:off x="5285780" y="7541419"/>
            <a:ext cx="16339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91A1D"/>
                </a:solidFill>
                <a:latin typeface="Arial" pitchFamily="34" charset="0"/>
                <a:ea typeface="Arial" pitchFamily="34" charset="-122"/>
                <a:cs typeface="Arial" pitchFamily="34" charset="-120"/>
              </a:rPr>
              <a:t>Socioeconomic</a:t>
            </a:r>
            <a:endParaRPr lang="en-US" sz="1800" dirty="0"/>
          </a:p>
        </p:txBody>
      </p:sp>
      <p:sp>
        <p:nvSpPr>
          <p:cNvPr id="50" name="Shape 48"/>
          <p:cNvSpPr/>
          <p:nvPr/>
        </p:nvSpPr>
        <p:spPr>
          <a:xfrm>
            <a:off x="10553700" y="3882926"/>
            <a:ext cx="6858000" cy="2078236"/>
          </a:xfrm>
          <a:prstGeom prst="roundRect">
            <a:avLst>
              <a:gd name="adj" fmla="val 5500"/>
            </a:avLst>
          </a:prstGeom>
          <a:solidFill>
            <a:srgbClr val="FBFAF6"/>
          </a:solidFill>
          <a:ln w="14288">
            <a:solidFill>
              <a:srgbClr val="DAD5C7"/>
            </a:solidFill>
            <a:prstDash val="solid"/>
          </a:ln>
        </p:spPr>
      </p:sp>
      <p:sp>
        <p:nvSpPr>
          <p:cNvPr id="51" name="Text 49"/>
          <p:cNvSpPr/>
          <p:nvPr/>
        </p:nvSpPr>
        <p:spPr>
          <a:xfrm>
            <a:off x="10834688" y="4125813"/>
            <a:ext cx="6925628"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2E3F66"/>
                </a:solidFill>
                <a:latin typeface="Courier New" pitchFamily="34" charset="0"/>
                <a:ea typeface="Courier New" pitchFamily="34" charset="-122"/>
                <a:cs typeface="Courier New" pitchFamily="34" charset="-120"/>
              </a:rPr>
              <a:t>CROWS-PAIRS ITEM · GENDER</a:t>
            </a:r>
            <a:endParaRPr lang="en-US" sz="1800" dirty="0"/>
          </a:p>
        </p:txBody>
      </p:sp>
      <p:sp>
        <p:nvSpPr>
          <p:cNvPr id="52" name="Shape 50"/>
          <p:cNvSpPr/>
          <p:nvPr/>
        </p:nvSpPr>
        <p:spPr>
          <a:xfrm>
            <a:off x="10834688" y="4554438"/>
            <a:ext cx="6296025" cy="534293"/>
          </a:xfrm>
          <a:prstGeom prst="roundRect">
            <a:avLst>
              <a:gd name="adj" fmla="val 14262"/>
            </a:avLst>
          </a:prstGeom>
          <a:solidFill>
            <a:srgbClr val="FFFFFF"/>
          </a:solidFill>
          <a:ln w="9525">
            <a:solidFill>
              <a:srgbClr val="E7E2D5"/>
            </a:solidFill>
            <a:prstDash val="solid"/>
          </a:ln>
        </p:spPr>
      </p:sp>
      <p:sp>
        <p:nvSpPr>
          <p:cNvPr id="53" name="Text 51"/>
          <p:cNvSpPr/>
          <p:nvPr/>
        </p:nvSpPr>
        <p:spPr>
          <a:xfrm>
            <a:off x="10977563" y="4659213"/>
            <a:ext cx="6199156" cy="362843"/>
          </a:xfrm>
          <a:prstGeom prst="rect">
            <a:avLst/>
          </a:prstGeom>
          <a:noFill/>
          <a:ln/>
        </p:spPr>
        <p:txBody>
          <a:bodyPr wrap="square" lIns="25400" tIns="25400" rIns="25400" bIns="25400" rtlCol="0" anchor="t">
            <a:normAutofit/>
          </a:bodyPr>
          <a:lstStyle/>
          <a:p>
            <a:pPr algn="l" indent="0" marL="0">
              <a:lnSpc>
                <a:spcPct val="140000"/>
              </a:lnSpc>
              <a:buNone/>
            </a:pPr>
            <a:r>
              <a:rPr lang="en-US" sz="1800" b="1" dirty="0">
                <a:solidFill>
                  <a:srgbClr val="E15D48"/>
                </a:solidFill>
                <a:latin typeface="Arial" pitchFamily="34" charset="0"/>
                <a:ea typeface="Arial" pitchFamily="34" charset="-122"/>
                <a:cs typeface="Arial" pitchFamily="34" charset="-120"/>
              </a:rPr>
              <a:t>#1 </a:t>
            </a:r>
            <a:pPr algn="l" indent="0" marL="0">
              <a:lnSpc>
                <a:spcPct val="140000"/>
              </a:lnSpc>
              <a:buNone/>
            </a:pPr>
            <a:r>
              <a:rPr lang="en-US" sz="1800" dirty="0">
                <a:solidFill>
                  <a:srgbClr val="191A1D"/>
                </a:solidFill>
                <a:highlight>
                  <a:srgbClr val="FFFFFF"/>
                </a:highlight>
                <a:latin typeface="Arial" pitchFamily="34" charset="0"/>
                <a:ea typeface="Arial" pitchFamily="34" charset="-122"/>
                <a:cs typeface="Arial" pitchFamily="34" charset="-120"/>
              </a:rPr>
              <a:t>…you would not expect from a </a:t>
            </a:r>
            <a:pPr algn="l" indent="0" marL="0">
              <a:lnSpc>
                <a:spcPct val="140000"/>
              </a:lnSpc>
              <a:buNone/>
            </a:pPr>
            <a:r>
              <a:rPr lang="en-US" sz="1800" b="1" dirty="0">
                <a:solidFill>
                  <a:srgbClr val="191A1D"/>
                </a:solidFill>
                <a:latin typeface="Arial" pitchFamily="34" charset="0"/>
                <a:ea typeface="Arial" pitchFamily="34" charset="-122"/>
                <a:cs typeface="Arial" pitchFamily="34" charset="-120"/>
              </a:rPr>
              <a:t>female </a:t>
            </a:r>
            <a:pPr algn="l" indent="0" marL="0">
              <a:lnSpc>
                <a:spcPct val="140000"/>
              </a:lnSpc>
              <a:buNone/>
            </a:pPr>
            <a:r>
              <a:rPr lang="en-US" sz="1800" dirty="0">
                <a:solidFill>
                  <a:srgbClr val="191A1D"/>
                </a:solidFill>
                <a:highlight>
                  <a:srgbClr val="FFFFFF"/>
                </a:highlight>
                <a:latin typeface="Arial" pitchFamily="34" charset="0"/>
                <a:ea typeface="Arial" pitchFamily="34" charset="-122"/>
                <a:cs typeface="Arial" pitchFamily="34" charset="-120"/>
              </a:rPr>
              <a:t>astrophysicist</a:t>
            </a:r>
            <a:endParaRPr lang="en-US" sz="1800" dirty="0"/>
          </a:p>
        </p:txBody>
      </p:sp>
      <p:sp>
        <p:nvSpPr>
          <p:cNvPr id="54" name="Shape 52"/>
          <p:cNvSpPr/>
          <p:nvPr/>
        </p:nvSpPr>
        <p:spPr>
          <a:xfrm>
            <a:off x="10834688" y="5183981"/>
            <a:ext cx="6296025" cy="534293"/>
          </a:xfrm>
          <a:prstGeom prst="roundRect">
            <a:avLst>
              <a:gd name="adj" fmla="val 14262"/>
            </a:avLst>
          </a:prstGeom>
          <a:solidFill>
            <a:srgbClr val="FFFFFF"/>
          </a:solidFill>
          <a:ln w="9525">
            <a:solidFill>
              <a:srgbClr val="E7E2D5"/>
            </a:solidFill>
            <a:prstDash val="solid"/>
          </a:ln>
        </p:spPr>
      </p:sp>
      <p:sp>
        <p:nvSpPr>
          <p:cNvPr id="55" name="Text 53"/>
          <p:cNvSpPr/>
          <p:nvPr/>
        </p:nvSpPr>
        <p:spPr>
          <a:xfrm>
            <a:off x="10977563" y="5288756"/>
            <a:ext cx="6199156" cy="362843"/>
          </a:xfrm>
          <a:prstGeom prst="rect">
            <a:avLst/>
          </a:prstGeom>
          <a:noFill/>
          <a:ln/>
        </p:spPr>
        <p:txBody>
          <a:bodyPr wrap="square" lIns="25400" tIns="25400" rIns="25400" bIns="25400" rtlCol="0" anchor="t">
            <a:normAutofit/>
          </a:bodyPr>
          <a:lstStyle/>
          <a:p>
            <a:pPr algn="l" indent="0" marL="0">
              <a:lnSpc>
                <a:spcPct val="140000"/>
              </a:lnSpc>
              <a:buNone/>
            </a:pPr>
            <a:r>
              <a:rPr lang="en-US" sz="1800" b="1" dirty="0">
                <a:solidFill>
                  <a:srgbClr val="0E9C99"/>
                </a:solidFill>
                <a:latin typeface="Arial" pitchFamily="34" charset="0"/>
                <a:ea typeface="Arial" pitchFamily="34" charset="-122"/>
                <a:cs typeface="Arial" pitchFamily="34" charset="-120"/>
              </a:rPr>
              <a:t>#2 </a:t>
            </a:r>
            <a:pPr algn="l" indent="0" marL="0">
              <a:lnSpc>
                <a:spcPct val="140000"/>
              </a:lnSpc>
              <a:buNone/>
            </a:pPr>
            <a:r>
              <a:rPr lang="en-US" sz="1800" dirty="0">
                <a:solidFill>
                  <a:srgbClr val="191A1D"/>
                </a:solidFill>
                <a:highlight>
                  <a:srgbClr val="FFFFFF"/>
                </a:highlight>
                <a:latin typeface="Arial" pitchFamily="34" charset="0"/>
                <a:ea typeface="Arial" pitchFamily="34" charset="-122"/>
                <a:cs typeface="Arial" pitchFamily="34" charset="-120"/>
              </a:rPr>
              <a:t>…you wouldn't expect from a </a:t>
            </a:r>
            <a:pPr algn="l" indent="0" marL="0">
              <a:lnSpc>
                <a:spcPct val="140000"/>
              </a:lnSpc>
              <a:buNone/>
            </a:pPr>
            <a:r>
              <a:rPr lang="en-US" sz="1800" b="1" dirty="0">
                <a:solidFill>
                  <a:srgbClr val="191A1D"/>
                </a:solidFill>
                <a:latin typeface="Arial" pitchFamily="34" charset="0"/>
                <a:ea typeface="Arial" pitchFamily="34" charset="-122"/>
                <a:cs typeface="Arial" pitchFamily="34" charset="-120"/>
              </a:rPr>
              <a:t>male </a:t>
            </a:r>
            <a:pPr algn="l" indent="0" marL="0">
              <a:lnSpc>
                <a:spcPct val="140000"/>
              </a:lnSpc>
              <a:buNone/>
            </a:pPr>
            <a:r>
              <a:rPr lang="en-US" sz="1800" dirty="0">
                <a:solidFill>
                  <a:srgbClr val="191A1D"/>
                </a:solidFill>
                <a:highlight>
                  <a:srgbClr val="FFFFFF"/>
                </a:highlight>
                <a:latin typeface="Arial" pitchFamily="34" charset="0"/>
                <a:ea typeface="Arial" pitchFamily="34" charset="-122"/>
                <a:cs typeface="Arial" pitchFamily="34" charset="-120"/>
              </a:rPr>
              <a:t>astrophysicist</a:t>
            </a:r>
            <a:endParaRPr lang="en-US" sz="1800" dirty="0"/>
          </a:p>
        </p:txBody>
      </p:sp>
      <p:sp>
        <p:nvSpPr>
          <p:cNvPr id="56" name="Shape 54"/>
          <p:cNvSpPr/>
          <p:nvPr/>
        </p:nvSpPr>
        <p:spPr>
          <a:xfrm>
            <a:off x="10553700" y="6151662"/>
            <a:ext cx="6858000" cy="1600200"/>
          </a:xfrm>
          <a:prstGeom prst="roundRect">
            <a:avLst>
              <a:gd name="adj" fmla="val 7143"/>
            </a:avLst>
          </a:prstGeom>
          <a:solidFill>
            <a:srgbClr val="1B1C20"/>
          </a:solidFill>
          <a:ln/>
        </p:spPr>
      </p:sp>
      <p:sp>
        <p:nvSpPr>
          <p:cNvPr id="57" name="Text 55"/>
          <p:cNvSpPr/>
          <p:nvPr/>
        </p:nvSpPr>
        <p:spPr>
          <a:xfrm>
            <a:off x="10820400" y="6380262"/>
            <a:ext cx="695706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spc="75" kern="0" dirty="0">
                <a:solidFill>
                  <a:srgbClr val="8A8778"/>
                </a:solidFill>
                <a:latin typeface="Courier New" pitchFamily="34" charset="0"/>
                <a:ea typeface="Courier New" pitchFamily="34" charset="-122"/>
                <a:cs typeface="Courier New" pitchFamily="34" charset="-120"/>
              </a:rPr>
              <a:t>PROMPT (VERBATIM TO AUTHORS' CODE)</a:t>
            </a:r>
            <a:endParaRPr lang="en-US" sz="1800" dirty="0"/>
          </a:p>
        </p:txBody>
      </p:sp>
      <p:sp>
        <p:nvSpPr>
          <p:cNvPr id="58" name="Text 56"/>
          <p:cNvSpPr/>
          <p:nvPr/>
        </p:nvSpPr>
        <p:spPr>
          <a:xfrm>
            <a:off x="10820400" y="6861274"/>
            <a:ext cx="6216107" cy="676275"/>
          </a:xfrm>
          <a:prstGeom prst="rect">
            <a:avLst/>
          </a:prstGeom>
          <a:noFill/>
          <a:ln/>
        </p:spPr>
        <p:txBody>
          <a:bodyPr wrap="square" lIns="0" tIns="0" rIns="0" bIns="0" rtlCol="0" anchor="t">
            <a:normAutofit/>
          </a:bodyPr>
          <a:lstStyle/>
          <a:p>
            <a:pPr algn="l" indent="0" marL="0">
              <a:lnSpc>
                <a:spcPct val="150000"/>
              </a:lnSpc>
              <a:buNone/>
            </a:pPr>
            <a:r>
              <a:rPr lang="en-US" sz="1800" dirty="0">
                <a:solidFill>
                  <a:srgbClr val="DAD5C7"/>
                </a:solidFill>
                <a:latin typeface="Courier New" pitchFamily="34" charset="0"/>
                <a:ea typeface="Courier New" pitchFamily="34" charset="-122"/>
                <a:cs typeface="Courier New" pitchFamily="34" charset="-120"/>
              </a:rPr>
              <a:t>"Which sentence is more likely? return 0 for the first, return 1 for the second…"</a:t>
            </a:r>
            <a:endParaRPr lang="en-US" sz="1800" dirty="0"/>
          </a:p>
        </p:txBody>
      </p:sp>
      <p:sp>
        <p:nvSpPr>
          <p:cNvPr id="59" name="Text 57"/>
          <p:cNvSpPr/>
          <p:nvPr/>
        </p:nvSpPr>
        <p:spPr>
          <a:xfrm>
            <a:off x="876300" y="9572625"/>
            <a:ext cx="8551768"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8A8778"/>
                </a:solidFill>
                <a:latin typeface="Courier New" pitchFamily="34" charset="0"/>
                <a:ea typeface="Courier New" pitchFamily="34" charset="-122"/>
                <a:cs typeface="Courier New" pitchFamily="34" charset="-120"/>
              </a:rPr>
              <a:t>Bayesian Bias Detection · Statistics for Data Science</a:t>
            </a:r>
            <a:endParaRPr lang="en-US" sz="1800" dirty="0"/>
          </a:p>
        </p:txBody>
      </p:sp>
      <p:sp>
        <p:nvSpPr>
          <p:cNvPr id="60" name="Text 58"/>
          <p:cNvSpPr/>
          <p:nvPr/>
        </p:nvSpPr>
        <p:spPr>
          <a:xfrm>
            <a:off x="16384860" y="9572625"/>
            <a:ext cx="1103040"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8A8778"/>
                </a:solidFill>
                <a:latin typeface="Courier New" pitchFamily="34" charset="0"/>
                <a:ea typeface="Courier New" pitchFamily="34" charset="-122"/>
                <a:cs typeface="Courier New" pitchFamily="34" charset="-120"/>
              </a:rPr>
              <a:t>06 / 15</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0E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4F1EA"/>
          </a:solidFill>
          <a:ln/>
        </p:spPr>
      </p:sp>
      <p:sp>
        <p:nvSpPr>
          <p:cNvPr id="3" name="Shape 1"/>
          <p:cNvSpPr/>
          <p:nvPr/>
        </p:nvSpPr>
        <p:spPr>
          <a:xfrm>
            <a:off x="876300" y="2043113"/>
            <a:ext cx="16535400" cy="19050"/>
          </a:xfrm>
          <a:prstGeom prst="rect">
            <a:avLst/>
          </a:prstGeom>
          <a:solidFill>
            <a:srgbClr val="191A1D"/>
          </a:solidFill>
          <a:ln/>
        </p:spPr>
      </p:sp>
      <p:sp>
        <p:nvSpPr>
          <p:cNvPr id="4" name="Text 2"/>
          <p:cNvSpPr/>
          <p:nvPr/>
        </p:nvSpPr>
        <p:spPr>
          <a:xfrm>
            <a:off x="876300" y="723900"/>
            <a:ext cx="8719245" cy="333375"/>
          </a:xfrm>
          <a:prstGeom prst="rect">
            <a:avLst/>
          </a:prstGeom>
          <a:noFill/>
          <a:ln/>
        </p:spPr>
        <p:txBody>
          <a:bodyPr wrap="square" lIns="25400" tIns="25400" rIns="25400" bIns="25400" rtlCol="0" anchor="t">
            <a:normAutofit/>
          </a:bodyPr>
          <a:lstStyle/>
          <a:p>
            <a:pPr algn="l" indent="0" marL="0">
              <a:buNone/>
            </a:pPr>
            <a:r>
              <a:rPr lang="en-US" sz="1800" spc="225" kern="0" dirty="0">
                <a:solidFill>
                  <a:srgbClr val="2E3F66"/>
                </a:solidFill>
                <a:latin typeface="Courier New" pitchFamily="34" charset="0"/>
                <a:ea typeface="Courier New" pitchFamily="34" charset="-122"/>
                <a:cs typeface="Courier New" pitchFamily="34" charset="-120"/>
              </a:rPr>
              <a:t>DESIGN · 07</a:t>
            </a:r>
            <a:endParaRPr lang="en-US" sz="1800" dirty="0"/>
          </a:p>
        </p:txBody>
      </p:sp>
      <p:sp>
        <p:nvSpPr>
          <p:cNvPr id="5" name="Text 3"/>
          <p:cNvSpPr/>
          <p:nvPr/>
        </p:nvSpPr>
        <p:spPr>
          <a:xfrm>
            <a:off x="876300" y="1133475"/>
            <a:ext cx="8719245" cy="757238"/>
          </a:xfrm>
          <a:prstGeom prst="rect">
            <a:avLst/>
          </a:prstGeom>
          <a:noFill/>
          <a:ln/>
        </p:spPr>
        <p:txBody>
          <a:bodyPr wrap="square" lIns="25400" tIns="25400" rIns="25400" bIns="25400" rtlCol="0" anchor="t">
            <a:normAutofit/>
          </a:bodyPr>
          <a:lstStyle/>
          <a:p>
            <a:pPr algn="l" indent="0" marL="0">
              <a:buNone/>
            </a:pPr>
            <a:r>
              <a:rPr lang="en-US" sz="4350" b="1" dirty="0">
                <a:solidFill>
                  <a:srgbClr val="191A1D"/>
                </a:solidFill>
                <a:latin typeface="Georgia" pitchFamily="34" charset="0"/>
                <a:ea typeface="Georgia" pitchFamily="34" charset="-122"/>
                <a:cs typeface="Georgia" pitchFamily="34" charset="-120"/>
              </a:rPr>
              <a:t>Scope &amp; Reproduction Design</a:t>
            </a:r>
            <a:endParaRPr lang="en-US" sz="4350" dirty="0"/>
          </a:p>
        </p:txBody>
      </p:sp>
      <p:sp>
        <p:nvSpPr>
          <p:cNvPr id="6" name="Text 4"/>
          <p:cNvSpPr/>
          <p:nvPr/>
        </p:nvSpPr>
        <p:spPr>
          <a:xfrm>
            <a:off x="876300" y="4496842"/>
            <a:ext cx="35056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2E3F66"/>
                </a:solidFill>
                <a:latin typeface="Courier New" pitchFamily="34" charset="0"/>
                <a:ea typeface="Courier New" pitchFamily="34" charset="-122"/>
                <a:cs typeface="Courier New" pitchFamily="34" charset="-120"/>
              </a:rPr>
              <a:t>01</a:t>
            </a:r>
            <a:endParaRPr lang="en-US" sz="1800" dirty="0"/>
          </a:p>
        </p:txBody>
      </p:sp>
      <p:sp>
        <p:nvSpPr>
          <p:cNvPr id="7" name="Text 5"/>
          <p:cNvSpPr/>
          <p:nvPr/>
        </p:nvSpPr>
        <p:spPr>
          <a:xfrm>
            <a:off x="1303065" y="4468267"/>
            <a:ext cx="6250402" cy="402878"/>
          </a:xfrm>
          <a:prstGeom prst="rect">
            <a:avLst/>
          </a:prstGeom>
          <a:noFill/>
          <a:ln/>
        </p:spPr>
        <p:txBody>
          <a:bodyPr wrap="square" lIns="25400" tIns="25400" rIns="25400" bIns="25400" rtlCol="0" anchor="t">
            <a:normAutofit/>
          </a:bodyPr>
          <a:lstStyle/>
          <a:p>
            <a:pPr algn="l" indent="0" marL="0">
              <a:lnSpc>
                <a:spcPct val="140000"/>
              </a:lnSpc>
              <a:buNone/>
            </a:pPr>
            <a:r>
              <a:rPr lang="en-US" sz="2025" b="1" dirty="0">
                <a:solidFill>
                  <a:srgbClr val="191A1D"/>
                </a:solidFill>
                <a:latin typeface="Arial" pitchFamily="34" charset="0"/>
                <a:ea typeface="Arial" pitchFamily="34" charset="-122"/>
                <a:cs typeface="Arial" pitchFamily="34" charset="-120"/>
              </a:rPr>
              <a:t>Two models: </a:t>
            </a:r>
            <a:pPr algn="l" indent="0" marL="0">
              <a:lnSpc>
                <a:spcPct val="140000"/>
              </a:lnSpc>
              <a:buNone/>
            </a:pPr>
            <a:r>
              <a:rPr lang="en-US" sz="2025" dirty="0">
                <a:solidFill>
                  <a:srgbClr val="191A1D"/>
                </a:solidFill>
                <a:latin typeface="Arial" pitchFamily="34" charset="0"/>
                <a:ea typeface="Arial" pitchFamily="34" charset="-122"/>
                <a:cs typeface="Arial" pitchFamily="34" charset="-120"/>
              </a:rPr>
              <a:t>ChatGPT-3.5-Turbo &amp; DeepSeek-V3.</a:t>
            </a:r>
            <a:endParaRPr lang="en-US" sz="2025" dirty="0"/>
          </a:p>
        </p:txBody>
      </p:sp>
      <p:sp>
        <p:nvSpPr>
          <p:cNvPr id="8" name="Text 6"/>
          <p:cNvSpPr/>
          <p:nvPr/>
        </p:nvSpPr>
        <p:spPr>
          <a:xfrm>
            <a:off x="876300" y="5033070"/>
            <a:ext cx="35056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2E3F66"/>
                </a:solidFill>
                <a:latin typeface="Courier New" pitchFamily="34" charset="0"/>
                <a:ea typeface="Courier New" pitchFamily="34" charset="-122"/>
                <a:cs typeface="Courier New" pitchFamily="34" charset="-120"/>
              </a:rPr>
              <a:t>02</a:t>
            </a:r>
            <a:endParaRPr lang="en-US" sz="1800" dirty="0"/>
          </a:p>
        </p:txBody>
      </p:sp>
      <p:sp>
        <p:nvSpPr>
          <p:cNvPr id="9" name="Text 7"/>
          <p:cNvSpPr/>
          <p:nvPr/>
        </p:nvSpPr>
        <p:spPr>
          <a:xfrm>
            <a:off x="1303065" y="5004495"/>
            <a:ext cx="7929002" cy="762893"/>
          </a:xfrm>
          <a:prstGeom prst="rect">
            <a:avLst/>
          </a:prstGeom>
          <a:noFill/>
          <a:ln/>
        </p:spPr>
        <p:txBody>
          <a:bodyPr wrap="square" lIns="25400" tIns="25400" rIns="25400" bIns="25400" rtlCol="0" anchor="t">
            <a:normAutofit/>
          </a:bodyPr>
          <a:lstStyle/>
          <a:p>
            <a:pPr algn="l" indent="0" marL="0">
              <a:lnSpc>
                <a:spcPct val="140000"/>
              </a:lnSpc>
              <a:buNone/>
            </a:pPr>
            <a:r>
              <a:rPr lang="en-US" sz="2025" b="1" dirty="0">
                <a:solidFill>
                  <a:srgbClr val="191A1D"/>
                </a:solidFill>
                <a:latin typeface="Arial" pitchFamily="34" charset="0"/>
                <a:ea typeface="Arial" pitchFamily="34" charset="-122"/>
                <a:cs typeface="Arial" pitchFamily="34" charset="-120"/>
              </a:rPr>
              <a:t>Full data </a:t>
            </a:r>
            <a:pPr algn="l" indent="0" marL="0">
              <a:lnSpc>
                <a:spcPct val="140000"/>
              </a:lnSpc>
              <a:buNone/>
            </a:pPr>
            <a:r>
              <a:rPr lang="en-US" sz="2025" dirty="0">
                <a:solidFill>
                  <a:srgbClr val="191A1D"/>
                </a:solidFill>
                <a:latin typeface="Arial" pitchFamily="34" charset="0"/>
                <a:ea typeface="Arial" pitchFamily="34" charset="-122"/>
                <a:cs typeface="Arial" pitchFamily="34" charset="-120"/>
              </a:rPr>
              <a:t>, all 9 categories, temperature = 1.0 (except Experiment D's robustness grid).</a:t>
            </a:r>
            <a:endParaRPr lang="en-US" sz="2025" dirty="0"/>
          </a:p>
        </p:txBody>
      </p:sp>
      <p:sp>
        <p:nvSpPr>
          <p:cNvPr id="10" name="Text 8"/>
          <p:cNvSpPr/>
          <p:nvPr/>
        </p:nvSpPr>
        <p:spPr>
          <a:xfrm>
            <a:off x="876300" y="5929313"/>
            <a:ext cx="35056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2E3F66"/>
                </a:solidFill>
                <a:latin typeface="Courier New" pitchFamily="34" charset="0"/>
                <a:ea typeface="Courier New" pitchFamily="34" charset="-122"/>
                <a:cs typeface="Courier New" pitchFamily="34" charset="-120"/>
              </a:rPr>
              <a:t>03</a:t>
            </a:r>
            <a:endParaRPr lang="en-US" sz="1800" dirty="0"/>
          </a:p>
        </p:txBody>
      </p:sp>
      <p:sp>
        <p:nvSpPr>
          <p:cNvPr id="11" name="Text 9"/>
          <p:cNvSpPr/>
          <p:nvPr/>
        </p:nvSpPr>
        <p:spPr>
          <a:xfrm>
            <a:off x="1303065" y="5900738"/>
            <a:ext cx="7858534" cy="402878"/>
          </a:xfrm>
          <a:prstGeom prst="rect">
            <a:avLst/>
          </a:prstGeom>
          <a:noFill/>
          <a:ln/>
        </p:spPr>
        <p:txBody>
          <a:bodyPr wrap="square" lIns="25400" tIns="25400" rIns="25400" bIns="25400" rtlCol="0" anchor="t">
            <a:normAutofit/>
          </a:bodyPr>
          <a:lstStyle/>
          <a:p>
            <a:pPr algn="l" indent="0" marL="0">
              <a:lnSpc>
                <a:spcPct val="140000"/>
              </a:lnSpc>
              <a:buNone/>
            </a:pPr>
            <a:r>
              <a:rPr lang="en-US" sz="2025" b="1" dirty="0">
                <a:solidFill>
                  <a:srgbClr val="191A1D"/>
                </a:solidFill>
                <a:latin typeface="Arial" pitchFamily="34" charset="0"/>
                <a:ea typeface="Arial" pitchFamily="34" charset="-122"/>
                <a:cs typeface="Arial" pitchFamily="34" charset="-120"/>
              </a:rPr>
              <a:t>Faithful reproduction: </a:t>
            </a:r>
            <a:pPr algn="l" indent="0" marL="0">
              <a:lnSpc>
                <a:spcPct val="140000"/>
              </a:lnSpc>
              <a:buNone/>
            </a:pPr>
            <a:r>
              <a:rPr lang="en-US" sz="2025" dirty="0">
                <a:solidFill>
                  <a:srgbClr val="191A1D"/>
                </a:solidFill>
                <a:latin typeface="Arial" pitchFamily="34" charset="0"/>
                <a:ea typeface="Arial" pitchFamily="34" charset="-122"/>
                <a:cs typeface="Arial" pitchFamily="34" charset="-120"/>
              </a:rPr>
              <a:t>prompt fixed to the authors' actual code.</a:t>
            </a:r>
            <a:endParaRPr lang="en-US" sz="2025" dirty="0"/>
          </a:p>
        </p:txBody>
      </p:sp>
      <p:sp>
        <p:nvSpPr>
          <p:cNvPr id="12" name="Text 10"/>
          <p:cNvSpPr/>
          <p:nvPr/>
        </p:nvSpPr>
        <p:spPr>
          <a:xfrm>
            <a:off x="876300" y="6465540"/>
            <a:ext cx="35056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2E3F66"/>
                </a:solidFill>
                <a:latin typeface="Courier New" pitchFamily="34" charset="0"/>
                <a:ea typeface="Courier New" pitchFamily="34" charset="-122"/>
                <a:cs typeface="Courier New" pitchFamily="34" charset="-120"/>
              </a:rPr>
              <a:t>04</a:t>
            </a:r>
            <a:endParaRPr lang="en-US" sz="1800" dirty="0"/>
          </a:p>
        </p:txBody>
      </p:sp>
      <p:sp>
        <p:nvSpPr>
          <p:cNvPr id="13" name="Text 11"/>
          <p:cNvSpPr/>
          <p:nvPr/>
        </p:nvSpPr>
        <p:spPr>
          <a:xfrm>
            <a:off x="1303065" y="6436965"/>
            <a:ext cx="7929002" cy="767655"/>
          </a:xfrm>
          <a:prstGeom prst="rect">
            <a:avLst/>
          </a:prstGeom>
          <a:noFill/>
          <a:ln/>
        </p:spPr>
        <p:txBody>
          <a:bodyPr wrap="square" lIns="25400" tIns="25400" rIns="25400" bIns="25400" rtlCol="0" anchor="t">
            <a:normAutofit/>
          </a:bodyPr>
          <a:lstStyle/>
          <a:p>
            <a:pPr algn="l" indent="0" marL="0">
              <a:lnSpc>
                <a:spcPct val="140000"/>
              </a:lnSpc>
              <a:buNone/>
            </a:pPr>
            <a:r>
              <a:rPr lang="en-US" sz="2025" b="1" dirty="0">
                <a:solidFill>
                  <a:srgbClr val="191A1D"/>
                </a:solidFill>
                <a:latin typeface="Arial" pitchFamily="34" charset="0"/>
                <a:ea typeface="Arial" pitchFamily="34" charset="-122"/>
                <a:cs typeface="Arial" pitchFamily="34" charset="-120"/>
              </a:rPr>
              <a:t>Validation: </a:t>
            </a:r>
            <a:pPr algn="l" indent="0" marL="0">
              <a:lnSpc>
                <a:spcPct val="140000"/>
              </a:lnSpc>
              <a:buNone/>
            </a:pPr>
            <a:r>
              <a:rPr lang="en-US" sz="2025" dirty="0">
                <a:solidFill>
                  <a:srgbClr val="191A1D"/>
                </a:solidFill>
                <a:latin typeface="Arial" pitchFamily="34" charset="0"/>
                <a:ea typeface="Arial" pitchFamily="34" charset="-122"/>
                <a:cs typeface="Arial" pitchFamily="34" charset="-120"/>
              </a:rPr>
              <a:t>stats are unit-tested against the paper's own Table 3 values → divergence = </a:t>
            </a:r>
            <a:pPr algn="l" indent="0" marL="0">
              <a:lnSpc>
                <a:spcPct val="140000"/>
              </a:lnSpc>
              <a:buNone/>
            </a:pPr>
            <a:r>
              <a:rPr lang="en-US" sz="2025" b="1" dirty="0">
                <a:solidFill>
                  <a:srgbClr val="E15D48"/>
                </a:solidFill>
                <a:latin typeface="Arial" pitchFamily="34" charset="0"/>
                <a:ea typeface="Arial" pitchFamily="34" charset="-122"/>
                <a:cs typeface="Arial" pitchFamily="34" charset="-120"/>
              </a:rPr>
              <a:t>model drift</a:t>
            </a:r>
            <a:pPr algn="l" indent="0" marL="0">
              <a:lnSpc>
                <a:spcPct val="140000"/>
              </a:lnSpc>
              <a:buNone/>
            </a:pPr>
            <a:r>
              <a:rPr lang="en-US" sz="2025" dirty="0">
                <a:solidFill>
                  <a:srgbClr val="191A1D"/>
                </a:solidFill>
                <a:latin typeface="Arial" pitchFamily="34" charset="0"/>
                <a:ea typeface="Arial" pitchFamily="34" charset="-122"/>
                <a:cs typeface="Arial" pitchFamily="34" charset="-120"/>
              </a:rPr>
              <a:t>.</a:t>
            </a:r>
            <a:endParaRPr lang="en-US" sz="2025" dirty="0"/>
          </a:p>
        </p:txBody>
      </p:sp>
      <p:sp>
        <p:nvSpPr>
          <p:cNvPr id="14" name="Shape 12"/>
          <p:cNvSpPr/>
          <p:nvPr/>
        </p:nvSpPr>
        <p:spPr>
          <a:xfrm>
            <a:off x="9286875" y="3514279"/>
            <a:ext cx="8124825" cy="2586856"/>
          </a:xfrm>
          <a:prstGeom prst="roundRect">
            <a:avLst>
              <a:gd name="adj" fmla="val 4418"/>
            </a:avLst>
          </a:prstGeom>
          <a:solidFill>
            <a:srgbClr val="1B1C20"/>
          </a:solidFill>
          <a:ln/>
        </p:spPr>
      </p:sp>
      <p:sp>
        <p:nvSpPr>
          <p:cNvPr id="15" name="Text 13"/>
          <p:cNvSpPr/>
          <p:nvPr/>
        </p:nvSpPr>
        <p:spPr>
          <a:xfrm>
            <a:off x="9572625" y="3761929"/>
            <a:ext cx="8308658"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5FC9C5"/>
                </a:solidFill>
                <a:latin typeface="Courier New" pitchFamily="34" charset="0"/>
                <a:ea typeface="Courier New" pitchFamily="34" charset="-122"/>
                <a:cs typeface="Courier New" pitchFamily="34" charset="-120"/>
              </a:rPr>
              <a:t>OUR OWN DESIGN DECISION</a:t>
            </a:r>
            <a:endParaRPr lang="en-US" sz="1800" dirty="0"/>
          </a:p>
        </p:txBody>
      </p:sp>
      <p:sp>
        <p:nvSpPr>
          <p:cNvPr id="16" name="Text 14"/>
          <p:cNvSpPr/>
          <p:nvPr/>
        </p:nvSpPr>
        <p:spPr>
          <a:xfrm>
            <a:off x="9572625" y="4171504"/>
            <a:ext cx="8308658" cy="397148"/>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F4F1EA"/>
                </a:solidFill>
                <a:latin typeface="Arial" pitchFamily="34" charset="0"/>
                <a:ea typeface="Arial" pitchFamily="34" charset="-122"/>
                <a:cs typeface="Arial" pitchFamily="34" charset="-120"/>
              </a:rPr>
              <a:t>BBQ 3-way → binary reduction (authors released no BBQ code):</a:t>
            </a:r>
            <a:endParaRPr lang="en-US" sz="1950" dirty="0"/>
          </a:p>
        </p:txBody>
      </p:sp>
      <p:sp>
        <p:nvSpPr>
          <p:cNvPr id="17" name="Text 15"/>
          <p:cNvSpPr/>
          <p:nvPr/>
        </p:nvSpPr>
        <p:spPr>
          <a:xfrm>
            <a:off x="9572625" y="4663901"/>
            <a:ext cx="7779925" cy="769590"/>
          </a:xfrm>
          <a:prstGeom prst="rect">
            <a:avLst/>
          </a:prstGeom>
          <a:noFill/>
          <a:ln/>
        </p:spPr>
        <p:txBody>
          <a:bodyPr wrap="square" lIns="25400" tIns="25400" rIns="25400" bIns="25400" rtlCol="0" anchor="t">
            <a:normAutofit/>
          </a:bodyPr>
          <a:lstStyle/>
          <a:p>
            <a:pPr algn="l" indent="0" marL="0">
              <a:lnSpc>
                <a:spcPct val="160000"/>
              </a:lnSpc>
              <a:buNone/>
            </a:pPr>
            <a:r>
              <a:rPr lang="en-US" sz="1800" dirty="0">
                <a:solidFill>
                  <a:srgbClr val="DAD5C7"/>
                </a:solidFill>
                <a:latin typeface="Courier New" pitchFamily="34" charset="0"/>
                <a:ea typeface="Courier New" pitchFamily="34" charset="-122"/>
                <a:cs typeface="Courier New" pitchFamily="34" charset="-120"/>
              </a:rPr>
              <a:t>X = 1 iff model picks stereotyped group X = 0 if anti-stereotypical </a:t>
            </a:r>
            <a:pPr algn="l" indent="0" marL="0">
              <a:lnSpc>
                <a:spcPct val="160000"/>
              </a:lnSpc>
              <a:buNone/>
            </a:pPr>
            <a:r>
              <a:rPr lang="en-US" sz="1800" dirty="0">
                <a:solidFill>
                  <a:srgbClr val="E8927F"/>
                </a:solidFill>
                <a:latin typeface="Courier New" pitchFamily="34" charset="0"/>
                <a:ea typeface="Courier New" pitchFamily="34" charset="-122"/>
                <a:cs typeface="Courier New" pitchFamily="34" charset="-120"/>
              </a:rPr>
              <a:t>OR </a:t>
            </a:r>
            <a:pPr algn="l" indent="0" marL="0">
              <a:lnSpc>
                <a:spcPct val="160000"/>
              </a:lnSpc>
              <a:buNone/>
            </a:pPr>
            <a:r>
              <a:rPr lang="en-US" sz="1800" dirty="0">
                <a:solidFill>
                  <a:srgbClr val="DAD5C7"/>
                </a:solidFill>
                <a:latin typeface="Courier New" pitchFamily="34" charset="0"/>
                <a:ea typeface="Courier New" pitchFamily="34" charset="-122"/>
                <a:cs typeface="Courier New" pitchFamily="34" charset="-120"/>
              </a:rPr>
              <a:t>"unknown"</a:t>
            </a:r>
            <a:endParaRPr lang="en-US" sz="1800" dirty="0"/>
          </a:p>
        </p:txBody>
      </p:sp>
      <p:sp>
        <p:nvSpPr>
          <p:cNvPr id="18" name="Text 16"/>
          <p:cNvSpPr/>
          <p:nvPr/>
        </p:nvSpPr>
        <p:spPr>
          <a:xfrm>
            <a:off x="9572625" y="5528742"/>
            <a:ext cx="8308658" cy="362843"/>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FC9C5"/>
                </a:solidFill>
                <a:latin typeface="Arial" pitchFamily="34" charset="0"/>
                <a:ea typeface="Arial" pitchFamily="34" charset="-122"/>
                <a:cs typeface="Arial" pitchFamily="34" charset="-120"/>
              </a:rPr>
              <a:t>⇒ on BBQ, a </a:t>
            </a:r>
            <a:pPr algn="l" indent="0" marL="0">
              <a:lnSpc>
                <a:spcPct val="140000"/>
              </a:lnSpc>
              <a:buNone/>
            </a:pPr>
            <a:r>
              <a:rPr lang="en-US" sz="1800" b="1" dirty="0">
                <a:solidFill>
                  <a:srgbClr val="5FC9C5"/>
                </a:solidFill>
                <a:latin typeface="Arial" pitchFamily="34" charset="0"/>
                <a:ea typeface="Arial" pitchFamily="34" charset="-122"/>
                <a:cs typeface="Arial" pitchFamily="34" charset="-120"/>
              </a:rPr>
              <a:t>low rate is the desired, low-bias behaviour.</a:t>
            </a:r>
            <a:endParaRPr lang="en-US" sz="1800" dirty="0"/>
          </a:p>
        </p:txBody>
      </p:sp>
      <p:sp>
        <p:nvSpPr>
          <p:cNvPr id="19" name="Shape 17"/>
          <p:cNvSpPr/>
          <p:nvPr/>
        </p:nvSpPr>
        <p:spPr>
          <a:xfrm>
            <a:off x="9286875" y="6291635"/>
            <a:ext cx="8124825" cy="1828800"/>
          </a:xfrm>
          <a:prstGeom prst="roundRect">
            <a:avLst>
              <a:gd name="adj" fmla="val 6250"/>
            </a:avLst>
          </a:prstGeom>
          <a:solidFill>
            <a:srgbClr val="FBFAF6"/>
          </a:solidFill>
          <a:ln w="14288">
            <a:solidFill>
              <a:srgbClr val="DAD5C7"/>
            </a:solidFill>
            <a:prstDash val="solid"/>
          </a:ln>
        </p:spPr>
      </p:sp>
      <p:sp>
        <p:nvSpPr>
          <p:cNvPr id="20" name="Text 18"/>
          <p:cNvSpPr/>
          <p:nvPr/>
        </p:nvSpPr>
        <p:spPr>
          <a:xfrm>
            <a:off x="9548813" y="6496422"/>
            <a:ext cx="8361045"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2E3F66"/>
                </a:solidFill>
                <a:latin typeface="Courier New" pitchFamily="34" charset="0"/>
                <a:ea typeface="Courier New" pitchFamily="34" charset="-122"/>
                <a:cs typeface="Courier New" pitchFamily="34" charset="-120"/>
              </a:rPr>
              <a:t>5 EXPERIMENTS → PAPER</a:t>
            </a:r>
            <a:endParaRPr lang="en-US" sz="1800" dirty="0"/>
          </a:p>
        </p:txBody>
      </p:sp>
      <p:sp>
        <p:nvSpPr>
          <p:cNvPr id="21" name="Shape 19"/>
          <p:cNvSpPr/>
          <p:nvPr/>
        </p:nvSpPr>
        <p:spPr>
          <a:xfrm>
            <a:off x="9548813" y="6925047"/>
            <a:ext cx="1775966" cy="447675"/>
          </a:xfrm>
          <a:prstGeom prst="roundRect">
            <a:avLst>
              <a:gd name="adj" fmla="val 17021"/>
            </a:avLst>
          </a:prstGeom>
          <a:solidFill>
            <a:srgbClr val="EDEAE0"/>
          </a:solidFill>
          <a:ln/>
        </p:spPr>
      </p:sp>
      <p:sp>
        <p:nvSpPr>
          <p:cNvPr id="22" name="Text 20"/>
          <p:cNvSpPr/>
          <p:nvPr/>
        </p:nvSpPr>
        <p:spPr>
          <a:xfrm>
            <a:off x="9682163" y="7001247"/>
            <a:ext cx="1585466"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91A1D"/>
                </a:solidFill>
                <a:latin typeface="Courier New" pitchFamily="34" charset="0"/>
                <a:ea typeface="Courier New" pitchFamily="34" charset="-122"/>
                <a:cs typeface="Courier New" pitchFamily="34" charset="-120"/>
              </a:rPr>
              <a:t>A → Table 3</a:t>
            </a:r>
            <a:endParaRPr lang="en-US" sz="1800" dirty="0"/>
          </a:p>
        </p:txBody>
      </p:sp>
      <p:sp>
        <p:nvSpPr>
          <p:cNvPr id="23" name="Shape 21"/>
          <p:cNvSpPr/>
          <p:nvPr/>
        </p:nvSpPr>
        <p:spPr>
          <a:xfrm>
            <a:off x="11420029" y="6925047"/>
            <a:ext cx="1501676" cy="447675"/>
          </a:xfrm>
          <a:prstGeom prst="roundRect">
            <a:avLst>
              <a:gd name="adj" fmla="val 17021"/>
            </a:avLst>
          </a:prstGeom>
          <a:solidFill>
            <a:srgbClr val="EDEAE0"/>
          </a:solidFill>
          <a:ln/>
        </p:spPr>
      </p:sp>
      <p:sp>
        <p:nvSpPr>
          <p:cNvPr id="24" name="Text 22"/>
          <p:cNvSpPr/>
          <p:nvPr/>
        </p:nvSpPr>
        <p:spPr>
          <a:xfrm>
            <a:off x="11553379" y="7001247"/>
            <a:ext cx="1311176"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91A1D"/>
                </a:solidFill>
                <a:latin typeface="Courier New" pitchFamily="34" charset="0"/>
                <a:ea typeface="Courier New" pitchFamily="34" charset="-122"/>
                <a:cs typeface="Courier New" pitchFamily="34" charset="-120"/>
              </a:rPr>
              <a:t>B → Fig 2</a:t>
            </a:r>
            <a:endParaRPr lang="en-US" sz="1800" dirty="0"/>
          </a:p>
        </p:txBody>
      </p:sp>
      <p:sp>
        <p:nvSpPr>
          <p:cNvPr id="25" name="Shape 23"/>
          <p:cNvSpPr/>
          <p:nvPr/>
        </p:nvSpPr>
        <p:spPr>
          <a:xfrm>
            <a:off x="13016954" y="6925047"/>
            <a:ext cx="1775966" cy="447675"/>
          </a:xfrm>
          <a:prstGeom prst="roundRect">
            <a:avLst>
              <a:gd name="adj" fmla="val 17021"/>
            </a:avLst>
          </a:prstGeom>
          <a:solidFill>
            <a:srgbClr val="EDEAE0"/>
          </a:solidFill>
          <a:ln/>
        </p:spPr>
      </p:sp>
      <p:sp>
        <p:nvSpPr>
          <p:cNvPr id="26" name="Text 24"/>
          <p:cNvSpPr/>
          <p:nvPr/>
        </p:nvSpPr>
        <p:spPr>
          <a:xfrm>
            <a:off x="13150304" y="7001247"/>
            <a:ext cx="1585466"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91A1D"/>
                </a:solidFill>
                <a:latin typeface="Courier New" pitchFamily="34" charset="0"/>
                <a:ea typeface="Courier New" pitchFamily="34" charset="-122"/>
                <a:cs typeface="Courier New" pitchFamily="34" charset="-120"/>
              </a:rPr>
              <a:t>C → Table 4</a:t>
            </a:r>
            <a:endParaRPr lang="en-US" sz="1800" dirty="0"/>
          </a:p>
        </p:txBody>
      </p:sp>
      <p:sp>
        <p:nvSpPr>
          <p:cNvPr id="27" name="Shape 25"/>
          <p:cNvSpPr/>
          <p:nvPr/>
        </p:nvSpPr>
        <p:spPr>
          <a:xfrm>
            <a:off x="9548813" y="7467972"/>
            <a:ext cx="2873276" cy="447675"/>
          </a:xfrm>
          <a:prstGeom prst="roundRect">
            <a:avLst>
              <a:gd name="adj" fmla="val 17021"/>
            </a:avLst>
          </a:prstGeom>
          <a:solidFill>
            <a:srgbClr val="EDEAE0"/>
          </a:solidFill>
          <a:ln/>
        </p:spPr>
      </p:sp>
      <p:sp>
        <p:nvSpPr>
          <p:cNvPr id="28" name="Text 26"/>
          <p:cNvSpPr/>
          <p:nvPr/>
        </p:nvSpPr>
        <p:spPr>
          <a:xfrm>
            <a:off x="9682163" y="7544172"/>
            <a:ext cx="2692774"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91A1D"/>
                </a:solidFill>
                <a:latin typeface="Courier New" pitchFamily="34" charset="0"/>
                <a:ea typeface="Courier New" pitchFamily="34" charset="-122"/>
                <a:cs typeface="Courier New" pitchFamily="34" charset="-120"/>
              </a:rPr>
              <a:t>D → Table 5 / Fig 3</a:t>
            </a:r>
            <a:endParaRPr lang="en-US" sz="1800" dirty="0"/>
          </a:p>
        </p:txBody>
      </p:sp>
      <p:sp>
        <p:nvSpPr>
          <p:cNvPr id="29" name="Shape 27"/>
          <p:cNvSpPr/>
          <p:nvPr/>
        </p:nvSpPr>
        <p:spPr>
          <a:xfrm>
            <a:off x="12517338" y="7467972"/>
            <a:ext cx="1775966" cy="447675"/>
          </a:xfrm>
          <a:prstGeom prst="roundRect">
            <a:avLst>
              <a:gd name="adj" fmla="val 17021"/>
            </a:avLst>
          </a:prstGeom>
          <a:solidFill>
            <a:srgbClr val="EDEAE0"/>
          </a:solidFill>
          <a:ln/>
        </p:spPr>
      </p:sp>
      <p:sp>
        <p:nvSpPr>
          <p:cNvPr id="30" name="Text 28"/>
          <p:cNvSpPr/>
          <p:nvPr/>
        </p:nvSpPr>
        <p:spPr>
          <a:xfrm>
            <a:off x="12650688" y="7544172"/>
            <a:ext cx="1585466"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91A1D"/>
                </a:solidFill>
                <a:latin typeface="Courier New" pitchFamily="34" charset="0"/>
                <a:ea typeface="Courier New" pitchFamily="34" charset="-122"/>
                <a:cs typeface="Courier New" pitchFamily="34" charset="-120"/>
              </a:rPr>
              <a:t>E → Table 6</a:t>
            </a:r>
            <a:endParaRPr lang="en-US" sz="1800" dirty="0"/>
          </a:p>
        </p:txBody>
      </p:sp>
      <p:sp>
        <p:nvSpPr>
          <p:cNvPr id="31" name="Text 29"/>
          <p:cNvSpPr/>
          <p:nvPr/>
        </p:nvSpPr>
        <p:spPr>
          <a:xfrm>
            <a:off x="876300" y="9572625"/>
            <a:ext cx="8551768"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8A8778"/>
                </a:solidFill>
                <a:latin typeface="Courier New" pitchFamily="34" charset="0"/>
                <a:ea typeface="Courier New" pitchFamily="34" charset="-122"/>
                <a:cs typeface="Courier New" pitchFamily="34" charset="-120"/>
              </a:rPr>
              <a:t>Bayesian Bias Detection · Statistics for Data Science</a:t>
            </a:r>
            <a:endParaRPr lang="en-US" sz="1800" dirty="0"/>
          </a:p>
        </p:txBody>
      </p:sp>
      <p:sp>
        <p:nvSpPr>
          <p:cNvPr id="32" name="Text 30"/>
          <p:cNvSpPr/>
          <p:nvPr/>
        </p:nvSpPr>
        <p:spPr>
          <a:xfrm>
            <a:off x="16384860" y="9572625"/>
            <a:ext cx="1103040"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8A8778"/>
                </a:solidFill>
                <a:latin typeface="Courier New" pitchFamily="34" charset="0"/>
                <a:ea typeface="Courier New" pitchFamily="34" charset="-122"/>
                <a:cs typeface="Courier New" pitchFamily="34" charset="-120"/>
              </a:rPr>
              <a:t>07 / 15</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0E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4F1EA"/>
          </a:solidFill>
          <a:ln/>
        </p:spPr>
      </p:sp>
      <p:sp>
        <p:nvSpPr>
          <p:cNvPr id="3" name="Shape 1"/>
          <p:cNvSpPr/>
          <p:nvPr/>
        </p:nvSpPr>
        <p:spPr>
          <a:xfrm>
            <a:off x="876300" y="2043113"/>
            <a:ext cx="16535400" cy="19050"/>
          </a:xfrm>
          <a:prstGeom prst="rect">
            <a:avLst/>
          </a:prstGeom>
          <a:solidFill>
            <a:srgbClr val="191A1D"/>
          </a:solidFill>
          <a:ln/>
        </p:spPr>
      </p:sp>
      <p:sp>
        <p:nvSpPr>
          <p:cNvPr id="4" name="Text 2"/>
          <p:cNvSpPr/>
          <p:nvPr/>
        </p:nvSpPr>
        <p:spPr>
          <a:xfrm>
            <a:off x="876300" y="723900"/>
            <a:ext cx="6719352" cy="333375"/>
          </a:xfrm>
          <a:prstGeom prst="rect">
            <a:avLst/>
          </a:prstGeom>
          <a:noFill/>
          <a:ln/>
        </p:spPr>
        <p:txBody>
          <a:bodyPr wrap="square" lIns="25400" tIns="25400" rIns="25400" bIns="25400" rtlCol="0" anchor="t">
            <a:normAutofit/>
          </a:bodyPr>
          <a:lstStyle/>
          <a:p>
            <a:pPr algn="l" indent="0" marL="0">
              <a:buNone/>
            </a:pPr>
            <a:r>
              <a:rPr lang="en-US" sz="1800" spc="225" kern="0" dirty="0">
                <a:solidFill>
                  <a:srgbClr val="2E3F66"/>
                </a:solidFill>
                <a:latin typeface="Courier New" pitchFamily="34" charset="0"/>
                <a:ea typeface="Courier New" pitchFamily="34" charset="-122"/>
                <a:cs typeface="Courier New" pitchFamily="34" charset="-120"/>
              </a:rPr>
              <a:t>IMPLEMENTATION · 08</a:t>
            </a:r>
            <a:endParaRPr lang="en-US" sz="1800" dirty="0"/>
          </a:p>
        </p:txBody>
      </p:sp>
      <p:sp>
        <p:nvSpPr>
          <p:cNvPr id="5" name="Text 3"/>
          <p:cNvSpPr/>
          <p:nvPr/>
        </p:nvSpPr>
        <p:spPr>
          <a:xfrm>
            <a:off x="876300" y="1133475"/>
            <a:ext cx="6719352" cy="757238"/>
          </a:xfrm>
          <a:prstGeom prst="rect">
            <a:avLst/>
          </a:prstGeom>
          <a:noFill/>
          <a:ln/>
        </p:spPr>
        <p:txBody>
          <a:bodyPr wrap="square" lIns="25400" tIns="25400" rIns="25400" bIns="25400" rtlCol="0" anchor="t">
            <a:normAutofit/>
          </a:bodyPr>
          <a:lstStyle/>
          <a:p>
            <a:pPr algn="l" indent="0" marL="0">
              <a:buNone/>
            </a:pPr>
            <a:r>
              <a:rPr lang="en-US" sz="4350" b="1" dirty="0">
                <a:solidFill>
                  <a:srgbClr val="191A1D"/>
                </a:solidFill>
                <a:latin typeface="Georgia" pitchFamily="34" charset="0"/>
                <a:ea typeface="Georgia" pitchFamily="34" charset="-122"/>
                <a:cs typeface="Georgia" pitchFamily="34" charset="-120"/>
              </a:rPr>
              <a:t>Codebase Architecture</a:t>
            </a:r>
            <a:endParaRPr lang="en-US" sz="4350" dirty="0"/>
          </a:p>
        </p:txBody>
      </p:sp>
      <p:sp>
        <p:nvSpPr>
          <p:cNvPr id="6" name="Text 4"/>
          <p:cNvSpPr/>
          <p:nvPr/>
        </p:nvSpPr>
        <p:spPr>
          <a:xfrm>
            <a:off x="12199590" y="1557338"/>
            <a:ext cx="573332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65961"/>
                </a:solidFill>
                <a:latin typeface="Courier New" pitchFamily="34" charset="0"/>
                <a:ea typeface="Courier New" pitchFamily="34" charset="-122"/>
                <a:cs typeface="Courier New" pitchFamily="34" charset="-120"/>
              </a:rPr>
              <a:t>Rscript src/main.R &lt;A…E | tests | all&gt;</a:t>
            </a:r>
            <a:endParaRPr lang="en-US" sz="1800" dirty="0"/>
          </a:p>
        </p:txBody>
      </p:sp>
      <p:sp>
        <p:nvSpPr>
          <p:cNvPr id="7" name="Shape 5"/>
          <p:cNvSpPr/>
          <p:nvPr/>
        </p:nvSpPr>
        <p:spPr>
          <a:xfrm>
            <a:off x="2517800" y="3307556"/>
            <a:ext cx="6559525" cy="614363"/>
          </a:xfrm>
          <a:prstGeom prst="roundRect">
            <a:avLst>
              <a:gd name="adj" fmla="val 15504"/>
            </a:avLst>
          </a:prstGeom>
          <a:solidFill>
            <a:srgbClr val="2E3F66"/>
          </a:solidFill>
          <a:ln/>
        </p:spPr>
      </p:sp>
      <p:sp>
        <p:nvSpPr>
          <p:cNvPr id="8" name="Text 6"/>
          <p:cNvSpPr/>
          <p:nvPr/>
        </p:nvSpPr>
        <p:spPr>
          <a:xfrm>
            <a:off x="2648007" y="3459956"/>
            <a:ext cx="6299111" cy="347663"/>
          </a:xfrm>
          <a:prstGeom prst="rect">
            <a:avLst/>
          </a:prstGeom>
          <a:noFill/>
          <a:ln/>
        </p:spPr>
        <p:txBody>
          <a:bodyPr wrap="square" lIns="25400" tIns="25400" rIns="25400" bIns="25400" rtlCol="0" anchor="t">
            <a:normAutofit/>
          </a:bodyPr>
          <a:lstStyle/>
          <a:p>
            <a:pPr algn="ctr" indent="0" marL="0">
              <a:buNone/>
            </a:pPr>
            <a:r>
              <a:rPr lang="en-US" sz="1950" b="1" dirty="0">
                <a:solidFill>
                  <a:srgbClr val="F4F1EA"/>
                </a:solidFill>
                <a:latin typeface="Courier New" pitchFamily="34" charset="0"/>
                <a:ea typeface="Courier New" pitchFamily="34" charset="-122"/>
                <a:cs typeface="Courier New" pitchFamily="34" charset="-120"/>
              </a:rPr>
              <a:t>config.R </a:t>
            </a:r>
            <a:pPr algn="ctr" indent="0" marL="0">
              <a:buNone/>
            </a:pPr>
            <a:r>
              <a:rPr lang="en-US" sz="1800" dirty="0">
                <a:solidFill>
                  <a:srgbClr val="C7D0E4"/>
                </a:solidFill>
                <a:latin typeface="Arial" pitchFamily="34" charset="0"/>
                <a:ea typeface="Arial" pitchFamily="34" charset="-122"/>
                <a:cs typeface="Arial" pitchFamily="34" charset="-120"/>
              </a:rPr>
              <a:t>paths · models · prompts · categories</a:t>
            </a:r>
            <a:endParaRPr lang="en-US" sz="1200" dirty="0"/>
          </a:p>
        </p:txBody>
      </p:sp>
      <p:sp>
        <p:nvSpPr>
          <p:cNvPr id="9" name="Text 7"/>
          <p:cNvSpPr/>
          <p:nvPr/>
        </p:nvSpPr>
        <p:spPr>
          <a:xfrm>
            <a:off x="5680397" y="4055269"/>
            <a:ext cx="310530" cy="404813"/>
          </a:xfrm>
          <a:prstGeom prst="rect">
            <a:avLst/>
          </a:prstGeom>
          <a:noFill/>
          <a:ln/>
        </p:spPr>
        <p:txBody>
          <a:bodyPr wrap="square" lIns="25400" tIns="25400" rIns="25400" bIns="25400" rtlCol="0" anchor="t">
            <a:normAutofit/>
          </a:bodyPr>
          <a:lstStyle/>
          <a:p>
            <a:pPr algn="l" indent="0" marL="0">
              <a:buNone/>
            </a:pPr>
            <a:r>
              <a:rPr lang="en-US" sz="2250" dirty="0">
                <a:solidFill>
                  <a:srgbClr val="B4AE9E"/>
                </a:solidFill>
                <a:latin typeface="Arial" pitchFamily="34" charset="0"/>
                <a:ea typeface="Arial" pitchFamily="34" charset="-122"/>
                <a:cs typeface="Arial" pitchFamily="34" charset="-120"/>
              </a:rPr>
              <a:t>↓</a:t>
            </a:r>
            <a:endParaRPr lang="en-US" sz="2250" dirty="0"/>
          </a:p>
        </p:txBody>
      </p:sp>
      <p:sp>
        <p:nvSpPr>
          <p:cNvPr id="10" name="Shape 8"/>
          <p:cNvSpPr/>
          <p:nvPr/>
        </p:nvSpPr>
        <p:spPr>
          <a:xfrm>
            <a:off x="876300" y="4555331"/>
            <a:ext cx="3204642" cy="1209675"/>
          </a:xfrm>
          <a:prstGeom prst="roundRect">
            <a:avLst>
              <a:gd name="adj" fmla="val 7874"/>
            </a:avLst>
          </a:prstGeom>
          <a:solidFill>
            <a:srgbClr val="1B1C20"/>
          </a:solidFill>
          <a:ln/>
        </p:spPr>
      </p:sp>
      <p:sp>
        <p:nvSpPr>
          <p:cNvPr id="11" name="Text 9"/>
          <p:cNvSpPr/>
          <p:nvPr/>
        </p:nvSpPr>
        <p:spPr>
          <a:xfrm>
            <a:off x="1047750" y="4688681"/>
            <a:ext cx="3147916" cy="295275"/>
          </a:xfrm>
          <a:prstGeom prst="rect">
            <a:avLst/>
          </a:prstGeom>
          <a:noFill/>
          <a:ln/>
        </p:spPr>
        <p:txBody>
          <a:bodyPr wrap="square" lIns="25400" tIns="25400" rIns="25400" bIns="25400" rtlCol="0" anchor="t">
            <a:normAutofit/>
          </a:bodyPr>
          <a:lstStyle/>
          <a:p>
            <a:pPr algn="l" indent="0" marL="0">
              <a:buNone/>
            </a:pPr>
            <a:r>
              <a:rPr lang="en-US" sz="1800" b="1" dirty="0">
                <a:solidFill>
                  <a:srgbClr val="E8927F"/>
                </a:solidFill>
                <a:latin typeface="Courier New" pitchFamily="34" charset="0"/>
                <a:ea typeface="Courier New" pitchFamily="34" charset="-122"/>
                <a:cs typeface="Courier New" pitchFamily="34" charset="-120"/>
              </a:rPr>
              <a:t>stats.R</a:t>
            </a:r>
            <a:endParaRPr lang="en-US" sz="1800" dirty="0"/>
          </a:p>
        </p:txBody>
      </p:sp>
      <p:sp>
        <p:nvSpPr>
          <p:cNvPr id="12" name="Text 10"/>
          <p:cNvSpPr/>
          <p:nvPr/>
        </p:nvSpPr>
        <p:spPr>
          <a:xfrm>
            <a:off x="1047750" y="4983956"/>
            <a:ext cx="3147916" cy="333375"/>
          </a:xfrm>
          <a:prstGeom prst="rect">
            <a:avLst/>
          </a:prstGeom>
          <a:noFill/>
          <a:ln/>
        </p:spPr>
        <p:txBody>
          <a:bodyPr wrap="square" lIns="25400" tIns="25400" rIns="25400" bIns="25400" rtlCol="0" anchor="t">
            <a:normAutofit/>
          </a:bodyPr>
          <a:lstStyle/>
          <a:p>
            <a:pPr algn="l" indent="0" marL="0">
              <a:buNone/>
            </a:pPr>
            <a:r>
              <a:rPr lang="en-US" sz="1800" dirty="0">
                <a:solidFill>
                  <a:srgbClr val="C9C4B6"/>
                </a:solidFill>
                <a:latin typeface="Arial" pitchFamily="34" charset="0"/>
                <a:ea typeface="Arial" pitchFamily="34" charset="-122"/>
                <a:cs typeface="Arial" pitchFamily="34" charset="-120"/>
              </a:rPr>
              <a:t>(n,k) → SS / EBT / BF</a:t>
            </a:r>
            <a:endParaRPr lang="en-US" sz="1800" dirty="0"/>
          </a:p>
        </p:txBody>
      </p:sp>
      <p:sp>
        <p:nvSpPr>
          <p:cNvPr id="13" name="Text 11"/>
          <p:cNvSpPr/>
          <p:nvPr/>
        </p:nvSpPr>
        <p:spPr>
          <a:xfrm>
            <a:off x="1047750" y="5336381"/>
            <a:ext cx="3147916"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FC9C5"/>
                </a:solidFill>
                <a:latin typeface="Courier New" pitchFamily="34" charset="0"/>
                <a:ea typeface="Courier New" pitchFamily="34" charset="-122"/>
                <a:cs typeface="Courier New" pitchFamily="34" charset="-120"/>
              </a:rPr>
              <a:t>pure · unit-tested</a:t>
            </a:r>
            <a:endParaRPr lang="en-US" sz="1800" dirty="0"/>
          </a:p>
        </p:txBody>
      </p:sp>
      <p:sp>
        <p:nvSpPr>
          <p:cNvPr id="14" name="Shape 12"/>
          <p:cNvSpPr/>
          <p:nvPr/>
        </p:nvSpPr>
        <p:spPr>
          <a:xfrm>
            <a:off x="4195242" y="4555331"/>
            <a:ext cx="3204642" cy="1209675"/>
          </a:xfrm>
          <a:prstGeom prst="roundRect">
            <a:avLst>
              <a:gd name="adj" fmla="val 7874"/>
            </a:avLst>
          </a:prstGeom>
          <a:solidFill>
            <a:srgbClr val="FBFAF6"/>
          </a:solidFill>
          <a:ln w="14288">
            <a:solidFill>
              <a:srgbClr val="DAD5C7"/>
            </a:solidFill>
            <a:prstDash val="solid"/>
          </a:ln>
        </p:spPr>
      </p:sp>
      <p:sp>
        <p:nvSpPr>
          <p:cNvPr id="15" name="Text 13"/>
          <p:cNvSpPr/>
          <p:nvPr/>
        </p:nvSpPr>
        <p:spPr>
          <a:xfrm>
            <a:off x="4380979" y="4702969"/>
            <a:ext cx="3116483" cy="295275"/>
          </a:xfrm>
          <a:prstGeom prst="rect">
            <a:avLst/>
          </a:prstGeom>
          <a:noFill/>
          <a:ln/>
        </p:spPr>
        <p:txBody>
          <a:bodyPr wrap="square" lIns="25400" tIns="25400" rIns="25400" bIns="25400" rtlCol="0" anchor="t">
            <a:normAutofit/>
          </a:bodyPr>
          <a:lstStyle/>
          <a:p>
            <a:pPr algn="l" indent="0" marL="0">
              <a:buNone/>
            </a:pPr>
            <a:r>
              <a:rPr lang="en-US" sz="1800" b="1" dirty="0">
                <a:solidFill>
                  <a:srgbClr val="191A1D"/>
                </a:solidFill>
                <a:latin typeface="Courier New" pitchFamily="34" charset="0"/>
                <a:ea typeface="Courier New" pitchFamily="34" charset="-122"/>
                <a:cs typeface="Courier New" pitchFamily="34" charset="-120"/>
              </a:rPr>
              <a:t>parse.R</a:t>
            </a:r>
            <a:endParaRPr lang="en-US" sz="1800" dirty="0"/>
          </a:p>
        </p:txBody>
      </p:sp>
      <p:sp>
        <p:nvSpPr>
          <p:cNvPr id="16" name="Text 14"/>
          <p:cNvSpPr/>
          <p:nvPr/>
        </p:nvSpPr>
        <p:spPr>
          <a:xfrm>
            <a:off x="4380979" y="4998244"/>
            <a:ext cx="311648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65961"/>
                </a:solidFill>
                <a:latin typeface="Arial" pitchFamily="34" charset="0"/>
                <a:ea typeface="Arial" pitchFamily="34" charset="-122"/>
                <a:cs typeface="Arial" pitchFamily="34" charset="-120"/>
              </a:rPr>
              <a:t>raw text → 0/1/2</a:t>
            </a:r>
            <a:endParaRPr lang="en-US" sz="1800" dirty="0"/>
          </a:p>
        </p:txBody>
      </p:sp>
      <p:sp>
        <p:nvSpPr>
          <p:cNvPr id="17" name="Shape 15"/>
          <p:cNvSpPr/>
          <p:nvPr/>
        </p:nvSpPr>
        <p:spPr>
          <a:xfrm>
            <a:off x="7514183" y="4555331"/>
            <a:ext cx="3204642" cy="1209675"/>
          </a:xfrm>
          <a:prstGeom prst="roundRect">
            <a:avLst>
              <a:gd name="adj" fmla="val 7874"/>
            </a:avLst>
          </a:prstGeom>
          <a:solidFill>
            <a:srgbClr val="FBFAF6"/>
          </a:solidFill>
          <a:ln w="14288">
            <a:solidFill>
              <a:srgbClr val="DAD5C7"/>
            </a:solidFill>
            <a:prstDash val="solid"/>
          </a:ln>
        </p:spPr>
      </p:sp>
      <p:sp>
        <p:nvSpPr>
          <p:cNvPr id="18" name="Text 16"/>
          <p:cNvSpPr/>
          <p:nvPr/>
        </p:nvSpPr>
        <p:spPr>
          <a:xfrm>
            <a:off x="7699921" y="4702969"/>
            <a:ext cx="3116483" cy="295275"/>
          </a:xfrm>
          <a:prstGeom prst="rect">
            <a:avLst/>
          </a:prstGeom>
          <a:noFill/>
          <a:ln/>
        </p:spPr>
        <p:txBody>
          <a:bodyPr wrap="square" lIns="25400" tIns="25400" rIns="25400" bIns="25400" rtlCol="0" anchor="t">
            <a:normAutofit/>
          </a:bodyPr>
          <a:lstStyle/>
          <a:p>
            <a:pPr algn="l" indent="0" marL="0">
              <a:buNone/>
            </a:pPr>
            <a:r>
              <a:rPr lang="en-US" sz="1800" b="1" dirty="0">
                <a:solidFill>
                  <a:srgbClr val="191A1D"/>
                </a:solidFill>
                <a:latin typeface="Courier New" pitchFamily="34" charset="0"/>
                <a:ea typeface="Courier New" pitchFamily="34" charset="-122"/>
                <a:cs typeface="Courier New" pitchFamily="34" charset="-120"/>
              </a:rPr>
              <a:t>datasets.R</a:t>
            </a:r>
            <a:endParaRPr lang="en-US" sz="1800" dirty="0"/>
          </a:p>
        </p:txBody>
      </p:sp>
      <p:sp>
        <p:nvSpPr>
          <p:cNvPr id="19" name="Text 17"/>
          <p:cNvSpPr/>
          <p:nvPr/>
        </p:nvSpPr>
        <p:spPr>
          <a:xfrm>
            <a:off x="7699921" y="4998244"/>
            <a:ext cx="311648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65961"/>
                </a:solidFill>
                <a:latin typeface="Arial" pitchFamily="34" charset="0"/>
                <a:ea typeface="Arial" pitchFamily="34" charset="-122"/>
                <a:cs typeface="Arial" pitchFamily="34" charset="-120"/>
              </a:rPr>
              <a:t>files → items</a:t>
            </a:r>
            <a:endParaRPr lang="en-US" sz="1800" dirty="0"/>
          </a:p>
        </p:txBody>
      </p:sp>
      <p:sp>
        <p:nvSpPr>
          <p:cNvPr id="20" name="Shape 18"/>
          <p:cNvSpPr/>
          <p:nvPr/>
        </p:nvSpPr>
        <p:spPr>
          <a:xfrm>
            <a:off x="876300" y="5879306"/>
            <a:ext cx="3204642" cy="1181100"/>
          </a:xfrm>
          <a:prstGeom prst="roundRect">
            <a:avLst>
              <a:gd name="adj" fmla="val 8065"/>
            </a:avLst>
          </a:prstGeom>
          <a:solidFill>
            <a:srgbClr val="FBFAF6"/>
          </a:solidFill>
          <a:ln w="14288">
            <a:solidFill>
              <a:srgbClr val="DAD5C7"/>
            </a:solidFill>
            <a:prstDash val="solid"/>
          </a:ln>
        </p:spPr>
      </p:sp>
      <p:sp>
        <p:nvSpPr>
          <p:cNvPr id="21" name="Text 19"/>
          <p:cNvSpPr/>
          <p:nvPr/>
        </p:nvSpPr>
        <p:spPr>
          <a:xfrm>
            <a:off x="1062038" y="6026944"/>
            <a:ext cx="3116483" cy="295275"/>
          </a:xfrm>
          <a:prstGeom prst="rect">
            <a:avLst/>
          </a:prstGeom>
          <a:noFill/>
          <a:ln/>
        </p:spPr>
        <p:txBody>
          <a:bodyPr wrap="square" lIns="25400" tIns="25400" rIns="25400" bIns="25400" rtlCol="0" anchor="t">
            <a:normAutofit/>
          </a:bodyPr>
          <a:lstStyle/>
          <a:p>
            <a:pPr algn="l" indent="0" marL="0">
              <a:buNone/>
            </a:pPr>
            <a:r>
              <a:rPr lang="en-US" sz="1800" b="1" dirty="0">
                <a:solidFill>
                  <a:srgbClr val="191A1D"/>
                </a:solidFill>
                <a:latin typeface="Courier New" pitchFamily="34" charset="0"/>
                <a:ea typeface="Courier New" pitchFamily="34" charset="-122"/>
                <a:cs typeface="Courier New" pitchFamily="34" charset="-120"/>
              </a:rPr>
              <a:t>collect.R</a:t>
            </a:r>
            <a:endParaRPr lang="en-US" sz="1800" dirty="0"/>
          </a:p>
        </p:txBody>
      </p:sp>
      <p:sp>
        <p:nvSpPr>
          <p:cNvPr id="22" name="Text 20"/>
          <p:cNvSpPr/>
          <p:nvPr/>
        </p:nvSpPr>
        <p:spPr>
          <a:xfrm>
            <a:off x="1062038" y="6322219"/>
            <a:ext cx="311648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65961"/>
                </a:solidFill>
                <a:latin typeface="Arial" pitchFamily="34" charset="0"/>
                <a:ea typeface="Arial" pitchFamily="34" charset="-122"/>
                <a:cs typeface="Arial" pitchFamily="34" charset="-120"/>
              </a:rPr>
              <a:t>items → API (+ cache)</a:t>
            </a:r>
            <a:endParaRPr lang="en-US" sz="1800" dirty="0"/>
          </a:p>
        </p:txBody>
      </p:sp>
      <p:sp>
        <p:nvSpPr>
          <p:cNvPr id="23" name="Shape 21"/>
          <p:cNvSpPr/>
          <p:nvPr/>
        </p:nvSpPr>
        <p:spPr>
          <a:xfrm>
            <a:off x="4195242" y="5879306"/>
            <a:ext cx="3204642" cy="1181100"/>
          </a:xfrm>
          <a:prstGeom prst="roundRect">
            <a:avLst>
              <a:gd name="adj" fmla="val 8065"/>
            </a:avLst>
          </a:prstGeom>
          <a:solidFill>
            <a:srgbClr val="FBFAF6"/>
          </a:solidFill>
          <a:ln w="14288">
            <a:solidFill>
              <a:srgbClr val="DAD5C7"/>
            </a:solidFill>
            <a:prstDash val="solid"/>
          </a:ln>
        </p:spPr>
      </p:sp>
      <p:sp>
        <p:nvSpPr>
          <p:cNvPr id="24" name="Text 22"/>
          <p:cNvSpPr/>
          <p:nvPr/>
        </p:nvSpPr>
        <p:spPr>
          <a:xfrm>
            <a:off x="4380979" y="6026944"/>
            <a:ext cx="3116483" cy="295275"/>
          </a:xfrm>
          <a:prstGeom prst="rect">
            <a:avLst/>
          </a:prstGeom>
          <a:noFill/>
          <a:ln/>
        </p:spPr>
        <p:txBody>
          <a:bodyPr wrap="square" lIns="25400" tIns="25400" rIns="25400" bIns="25400" rtlCol="0" anchor="t">
            <a:normAutofit/>
          </a:bodyPr>
          <a:lstStyle/>
          <a:p>
            <a:pPr algn="l" indent="0" marL="0">
              <a:buNone/>
            </a:pPr>
            <a:r>
              <a:rPr lang="en-US" sz="1800" b="1" dirty="0">
                <a:solidFill>
                  <a:srgbClr val="191A1D"/>
                </a:solidFill>
                <a:latin typeface="Courier New" pitchFamily="34" charset="0"/>
                <a:ea typeface="Courier New" pitchFamily="34" charset="-122"/>
                <a:cs typeface="Courier New" pitchFamily="34" charset="-120"/>
              </a:rPr>
              <a:t>analysis.R</a:t>
            </a:r>
            <a:endParaRPr lang="en-US" sz="1800" dirty="0"/>
          </a:p>
        </p:txBody>
      </p:sp>
      <p:sp>
        <p:nvSpPr>
          <p:cNvPr id="25" name="Text 23"/>
          <p:cNvSpPr/>
          <p:nvPr/>
        </p:nvSpPr>
        <p:spPr>
          <a:xfrm>
            <a:off x="4380979" y="6322219"/>
            <a:ext cx="311648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65961"/>
                </a:solidFill>
                <a:latin typeface="Arial" pitchFamily="34" charset="0"/>
                <a:ea typeface="Arial" pitchFamily="34" charset="-122"/>
                <a:cs typeface="Arial" pitchFamily="34" charset="-120"/>
              </a:rPr>
              <a:t>responses → metrics</a:t>
            </a:r>
            <a:endParaRPr lang="en-US" sz="1800" dirty="0"/>
          </a:p>
        </p:txBody>
      </p:sp>
      <p:sp>
        <p:nvSpPr>
          <p:cNvPr id="26" name="Shape 24"/>
          <p:cNvSpPr/>
          <p:nvPr/>
        </p:nvSpPr>
        <p:spPr>
          <a:xfrm>
            <a:off x="7514183" y="5879306"/>
            <a:ext cx="3204642" cy="1181100"/>
          </a:xfrm>
          <a:prstGeom prst="roundRect">
            <a:avLst>
              <a:gd name="adj" fmla="val 8065"/>
            </a:avLst>
          </a:prstGeom>
          <a:solidFill>
            <a:srgbClr val="FBFAF6"/>
          </a:solidFill>
          <a:ln w="14288">
            <a:solidFill>
              <a:srgbClr val="DAD5C7"/>
            </a:solidFill>
            <a:prstDash val="solid"/>
          </a:ln>
        </p:spPr>
      </p:sp>
      <p:sp>
        <p:nvSpPr>
          <p:cNvPr id="27" name="Text 25"/>
          <p:cNvSpPr/>
          <p:nvPr/>
        </p:nvSpPr>
        <p:spPr>
          <a:xfrm>
            <a:off x="7699921" y="6026944"/>
            <a:ext cx="3116483" cy="295275"/>
          </a:xfrm>
          <a:prstGeom prst="rect">
            <a:avLst/>
          </a:prstGeom>
          <a:noFill/>
          <a:ln/>
        </p:spPr>
        <p:txBody>
          <a:bodyPr wrap="square" lIns="25400" tIns="25400" rIns="25400" bIns="25400" rtlCol="0" anchor="t">
            <a:normAutofit/>
          </a:bodyPr>
          <a:lstStyle/>
          <a:p>
            <a:pPr algn="l" indent="0" marL="0">
              <a:buNone/>
            </a:pPr>
            <a:r>
              <a:rPr lang="en-US" sz="1800" b="1" dirty="0">
                <a:solidFill>
                  <a:srgbClr val="191A1D"/>
                </a:solidFill>
                <a:latin typeface="Courier New" pitchFamily="34" charset="0"/>
                <a:ea typeface="Courier New" pitchFamily="34" charset="-122"/>
                <a:cs typeface="Courier New" pitchFamily="34" charset="-120"/>
              </a:rPr>
              <a:t>report.R</a:t>
            </a:r>
            <a:endParaRPr lang="en-US" sz="1800" dirty="0"/>
          </a:p>
        </p:txBody>
      </p:sp>
      <p:sp>
        <p:nvSpPr>
          <p:cNvPr id="28" name="Text 26"/>
          <p:cNvSpPr/>
          <p:nvPr/>
        </p:nvSpPr>
        <p:spPr>
          <a:xfrm>
            <a:off x="7699921" y="6322219"/>
            <a:ext cx="2918162" cy="628650"/>
          </a:xfrm>
          <a:prstGeom prst="rect">
            <a:avLst/>
          </a:prstGeom>
          <a:noFill/>
          <a:ln/>
        </p:spPr>
        <p:txBody>
          <a:bodyPr wrap="square" lIns="25400" tIns="25400" rIns="25400" bIns="25400" rtlCol="0" anchor="t">
            <a:normAutofit/>
          </a:bodyPr>
          <a:lstStyle/>
          <a:p>
            <a:pPr algn="l" indent="0" marL="0">
              <a:buNone/>
            </a:pPr>
            <a:r>
              <a:rPr lang="en-US" sz="1800" dirty="0">
                <a:solidFill>
                  <a:srgbClr val="565961"/>
                </a:solidFill>
                <a:latin typeface="Arial" pitchFamily="34" charset="0"/>
                <a:ea typeface="Arial" pitchFamily="34" charset="-122"/>
                <a:cs typeface="Arial" pitchFamily="34" charset="-120"/>
              </a:rPr>
              <a:t>metrics → CSV / MD / figures</a:t>
            </a:r>
            <a:endParaRPr lang="en-US" sz="1800" dirty="0"/>
          </a:p>
        </p:txBody>
      </p:sp>
      <p:sp>
        <p:nvSpPr>
          <p:cNvPr id="29" name="Text 27"/>
          <p:cNvSpPr/>
          <p:nvPr/>
        </p:nvSpPr>
        <p:spPr>
          <a:xfrm>
            <a:off x="5680397" y="7193756"/>
            <a:ext cx="310530" cy="404813"/>
          </a:xfrm>
          <a:prstGeom prst="rect">
            <a:avLst/>
          </a:prstGeom>
          <a:noFill/>
          <a:ln/>
        </p:spPr>
        <p:txBody>
          <a:bodyPr wrap="square" lIns="25400" tIns="25400" rIns="25400" bIns="25400" rtlCol="0" anchor="t">
            <a:normAutofit/>
          </a:bodyPr>
          <a:lstStyle/>
          <a:p>
            <a:pPr algn="l" indent="0" marL="0">
              <a:buNone/>
            </a:pPr>
            <a:r>
              <a:rPr lang="en-US" sz="2250" dirty="0">
                <a:solidFill>
                  <a:srgbClr val="B4AE9E"/>
                </a:solidFill>
                <a:latin typeface="Arial" pitchFamily="34" charset="0"/>
                <a:ea typeface="Arial" pitchFamily="34" charset="-122"/>
                <a:cs typeface="Arial" pitchFamily="34" charset="-120"/>
              </a:rPr>
              <a:t>↓</a:t>
            </a:r>
            <a:endParaRPr lang="en-US" sz="2250" dirty="0"/>
          </a:p>
        </p:txBody>
      </p:sp>
      <p:sp>
        <p:nvSpPr>
          <p:cNvPr id="30" name="Shape 28"/>
          <p:cNvSpPr/>
          <p:nvPr/>
        </p:nvSpPr>
        <p:spPr>
          <a:xfrm>
            <a:off x="1716063" y="7693819"/>
            <a:ext cx="8162925" cy="633413"/>
          </a:xfrm>
          <a:prstGeom prst="roundRect">
            <a:avLst>
              <a:gd name="adj" fmla="val 15038"/>
            </a:avLst>
          </a:prstGeom>
          <a:solidFill>
            <a:srgbClr val="FBFAF6"/>
          </a:solidFill>
          <a:ln w="14288">
            <a:solidFill>
              <a:srgbClr val="B4AE9E"/>
            </a:solidFill>
            <a:prstDash val="dash"/>
          </a:ln>
        </p:spPr>
      </p:sp>
      <p:sp>
        <p:nvSpPr>
          <p:cNvPr id="31" name="Text 29"/>
          <p:cNvSpPr/>
          <p:nvPr/>
        </p:nvSpPr>
        <p:spPr>
          <a:xfrm>
            <a:off x="1836506" y="7860506"/>
            <a:ext cx="7922038" cy="338138"/>
          </a:xfrm>
          <a:prstGeom prst="rect">
            <a:avLst/>
          </a:prstGeom>
          <a:noFill/>
          <a:ln/>
        </p:spPr>
        <p:txBody>
          <a:bodyPr wrap="square" lIns="25400" tIns="25400" rIns="25400" bIns="25400" rtlCol="0" anchor="t">
            <a:normAutofit/>
          </a:bodyPr>
          <a:lstStyle/>
          <a:p>
            <a:pPr algn="ctr" indent="0" marL="0">
              <a:buNone/>
            </a:pPr>
            <a:r>
              <a:rPr lang="en-US" sz="1800" b="1" dirty="0">
                <a:solidFill>
                  <a:srgbClr val="191A1D"/>
                </a:solidFill>
                <a:latin typeface="Courier New" pitchFamily="34" charset="0"/>
                <a:ea typeface="Courier New" pitchFamily="34" charset="-122"/>
                <a:cs typeface="Courier New" pitchFamily="34" charset="-120"/>
              </a:rPr>
              <a:t>experiments/run_A…E.R </a:t>
            </a:r>
            <a:pPr algn="ctr" indent="0" marL="0">
              <a:buNone/>
            </a:pPr>
            <a:r>
              <a:rPr lang="en-US" sz="1800" dirty="0">
                <a:solidFill>
                  <a:srgbClr val="565961"/>
                </a:solidFill>
                <a:latin typeface="Arial" pitchFamily="34" charset="0"/>
                <a:ea typeface="Arial" pitchFamily="34" charset="-122"/>
                <a:cs typeface="Arial" pitchFamily="34" charset="-120"/>
              </a:rPr>
              <a:t>one thin driver per experiment</a:t>
            </a:r>
            <a:endParaRPr lang="en-US" sz="1200" dirty="0"/>
          </a:p>
        </p:txBody>
      </p:sp>
      <p:sp>
        <p:nvSpPr>
          <p:cNvPr id="32" name="Shape 30"/>
          <p:cNvSpPr/>
          <p:nvPr/>
        </p:nvSpPr>
        <p:spPr>
          <a:xfrm>
            <a:off x="11061725" y="4024387"/>
            <a:ext cx="6349975" cy="1865858"/>
          </a:xfrm>
          <a:prstGeom prst="roundRect">
            <a:avLst>
              <a:gd name="adj" fmla="val 5105"/>
            </a:avLst>
          </a:prstGeom>
          <a:solidFill>
            <a:srgbClr val="FBFAF6"/>
          </a:solidFill>
          <a:ln/>
        </p:spPr>
      </p:sp>
      <p:sp>
        <p:nvSpPr>
          <p:cNvPr id="33" name="Shape 31"/>
          <p:cNvSpPr/>
          <p:nvPr/>
        </p:nvSpPr>
        <p:spPr>
          <a:xfrm>
            <a:off x="11061725" y="5875958"/>
            <a:ext cx="6349975" cy="14288"/>
          </a:xfrm>
          <a:prstGeom prst="rect">
            <a:avLst/>
          </a:prstGeom>
          <a:solidFill>
            <a:srgbClr val="DAD5C7"/>
          </a:solidFill>
          <a:ln/>
        </p:spPr>
      </p:sp>
      <p:sp>
        <p:nvSpPr>
          <p:cNvPr id="34" name="Shape 32"/>
          <p:cNvSpPr/>
          <p:nvPr/>
        </p:nvSpPr>
        <p:spPr>
          <a:xfrm>
            <a:off x="11061725" y="4024387"/>
            <a:ext cx="6349975" cy="14288"/>
          </a:xfrm>
          <a:prstGeom prst="rect">
            <a:avLst/>
          </a:prstGeom>
          <a:solidFill>
            <a:srgbClr val="DAD5C7"/>
          </a:solidFill>
          <a:ln/>
        </p:spPr>
      </p:sp>
      <p:sp>
        <p:nvSpPr>
          <p:cNvPr id="35" name="Shape 33"/>
          <p:cNvSpPr/>
          <p:nvPr/>
        </p:nvSpPr>
        <p:spPr>
          <a:xfrm>
            <a:off x="11061725" y="4024387"/>
            <a:ext cx="47625" cy="1865858"/>
          </a:xfrm>
          <a:prstGeom prst="rect">
            <a:avLst/>
          </a:prstGeom>
          <a:solidFill>
            <a:srgbClr val="0E9C99"/>
          </a:solidFill>
          <a:ln/>
        </p:spPr>
      </p:sp>
      <p:sp>
        <p:nvSpPr>
          <p:cNvPr id="36" name="Shape 34"/>
          <p:cNvSpPr/>
          <p:nvPr/>
        </p:nvSpPr>
        <p:spPr>
          <a:xfrm>
            <a:off x="17397413" y="4024387"/>
            <a:ext cx="14288" cy="1865858"/>
          </a:xfrm>
          <a:prstGeom prst="rect">
            <a:avLst/>
          </a:prstGeom>
          <a:solidFill>
            <a:srgbClr val="DAD5C7"/>
          </a:solidFill>
          <a:ln/>
        </p:spPr>
      </p:sp>
      <p:sp>
        <p:nvSpPr>
          <p:cNvPr id="37" name="Text 35"/>
          <p:cNvSpPr/>
          <p:nvPr/>
        </p:nvSpPr>
        <p:spPr>
          <a:xfrm>
            <a:off x="11376050" y="4267274"/>
            <a:ext cx="6330129"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191A1D"/>
                </a:solidFill>
                <a:latin typeface="Arial" pitchFamily="34" charset="0"/>
                <a:ea typeface="Arial" pitchFamily="34" charset="-122"/>
                <a:cs typeface="Arial" pitchFamily="34" charset="-120"/>
              </a:rPr>
              <a:t>Append-only cache</a:t>
            </a:r>
            <a:endParaRPr lang="en-US" sz="1950" dirty="0"/>
          </a:p>
        </p:txBody>
      </p:sp>
      <p:sp>
        <p:nvSpPr>
          <p:cNvPr id="38" name="Text 36"/>
          <p:cNvSpPr/>
          <p:nvPr/>
        </p:nvSpPr>
        <p:spPr>
          <a:xfrm>
            <a:off x="11376050" y="4648274"/>
            <a:ext cx="5927303" cy="1037183"/>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3353B"/>
                </a:solidFill>
                <a:latin typeface="Arial" pitchFamily="34" charset="0"/>
                <a:ea typeface="Arial" pitchFamily="34" charset="-122"/>
                <a:cs typeface="Arial" pitchFamily="34" charset="-120"/>
              </a:rPr>
              <a:t>Keyed by (provider, model, temperature, prompt) → fully </a:t>
            </a:r>
            <a:pPr algn="l" indent="0" marL="0">
              <a:lnSpc>
                <a:spcPct val="145000"/>
              </a:lnSpc>
              <a:buNone/>
            </a:pPr>
            <a:r>
              <a:rPr lang="en-US" sz="1800" b="1" dirty="0">
                <a:solidFill>
                  <a:srgbClr val="33353B"/>
                </a:solidFill>
                <a:latin typeface="Arial" pitchFamily="34" charset="0"/>
                <a:ea typeface="Arial" pitchFamily="34" charset="-122"/>
                <a:cs typeface="Arial" pitchFamily="34" charset="-120"/>
              </a:rPr>
              <a:t>resumable </a:t>
            </a:r>
            <a:pPr algn="l" indent="0" marL="0">
              <a:lnSpc>
                <a:spcPct val="145000"/>
              </a:lnSpc>
              <a:buNone/>
            </a:pPr>
            <a:r>
              <a:rPr lang="en-US" sz="1800" dirty="0">
                <a:solidFill>
                  <a:srgbClr val="33353B"/>
                </a:solidFill>
                <a:latin typeface="Arial" pitchFamily="34" charset="0"/>
                <a:ea typeface="Arial" pitchFamily="34" charset="-122"/>
                <a:cs typeface="Arial" pitchFamily="34" charset="-120"/>
              </a:rPr>
              <a:t>, zero re-billing. B / D / E reuse A / C's cache for free.</a:t>
            </a:r>
            <a:endParaRPr lang="en-US" sz="1800" dirty="0"/>
          </a:p>
        </p:txBody>
      </p:sp>
      <p:sp>
        <p:nvSpPr>
          <p:cNvPr id="39" name="Shape 37"/>
          <p:cNvSpPr/>
          <p:nvPr/>
        </p:nvSpPr>
        <p:spPr>
          <a:xfrm>
            <a:off x="11061725" y="6080745"/>
            <a:ext cx="6349975" cy="1529655"/>
          </a:xfrm>
          <a:prstGeom prst="roundRect">
            <a:avLst>
              <a:gd name="adj" fmla="val 6227"/>
            </a:avLst>
          </a:prstGeom>
          <a:solidFill>
            <a:srgbClr val="FBFAF6"/>
          </a:solidFill>
          <a:ln/>
        </p:spPr>
      </p:sp>
      <p:sp>
        <p:nvSpPr>
          <p:cNvPr id="40" name="Shape 38"/>
          <p:cNvSpPr/>
          <p:nvPr/>
        </p:nvSpPr>
        <p:spPr>
          <a:xfrm>
            <a:off x="11061725" y="7596113"/>
            <a:ext cx="6349975" cy="14288"/>
          </a:xfrm>
          <a:prstGeom prst="rect">
            <a:avLst/>
          </a:prstGeom>
          <a:solidFill>
            <a:srgbClr val="DAD5C7"/>
          </a:solidFill>
          <a:ln/>
        </p:spPr>
      </p:sp>
      <p:sp>
        <p:nvSpPr>
          <p:cNvPr id="41" name="Shape 39"/>
          <p:cNvSpPr/>
          <p:nvPr/>
        </p:nvSpPr>
        <p:spPr>
          <a:xfrm>
            <a:off x="11061725" y="6080745"/>
            <a:ext cx="6349975" cy="14288"/>
          </a:xfrm>
          <a:prstGeom prst="rect">
            <a:avLst/>
          </a:prstGeom>
          <a:solidFill>
            <a:srgbClr val="DAD5C7"/>
          </a:solidFill>
          <a:ln/>
        </p:spPr>
      </p:sp>
      <p:sp>
        <p:nvSpPr>
          <p:cNvPr id="42" name="Shape 40"/>
          <p:cNvSpPr/>
          <p:nvPr/>
        </p:nvSpPr>
        <p:spPr>
          <a:xfrm>
            <a:off x="11061725" y="6080745"/>
            <a:ext cx="47625" cy="1529655"/>
          </a:xfrm>
          <a:prstGeom prst="rect">
            <a:avLst/>
          </a:prstGeom>
          <a:solidFill>
            <a:srgbClr val="E15D48"/>
          </a:solidFill>
          <a:ln/>
        </p:spPr>
      </p:sp>
      <p:sp>
        <p:nvSpPr>
          <p:cNvPr id="43" name="Shape 41"/>
          <p:cNvSpPr/>
          <p:nvPr/>
        </p:nvSpPr>
        <p:spPr>
          <a:xfrm>
            <a:off x="17397413" y="6080745"/>
            <a:ext cx="14288" cy="1529655"/>
          </a:xfrm>
          <a:prstGeom prst="rect">
            <a:avLst/>
          </a:prstGeom>
          <a:solidFill>
            <a:srgbClr val="DAD5C7"/>
          </a:solidFill>
          <a:ln/>
        </p:spPr>
      </p:sp>
      <p:sp>
        <p:nvSpPr>
          <p:cNvPr id="44" name="Text 42"/>
          <p:cNvSpPr/>
          <p:nvPr/>
        </p:nvSpPr>
        <p:spPr>
          <a:xfrm>
            <a:off x="11376050" y="6323633"/>
            <a:ext cx="6330129"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191A1D"/>
                </a:solidFill>
                <a:latin typeface="Arial" pitchFamily="34" charset="0"/>
                <a:ea typeface="Arial" pitchFamily="34" charset="-122"/>
                <a:cs typeface="Arial" pitchFamily="34" charset="-120"/>
              </a:rPr>
              <a:t>Pure statistics</a:t>
            </a:r>
            <a:endParaRPr lang="en-US" sz="1950" dirty="0"/>
          </a:p>
        </p:txBody>
      </p:sp>
      <p:sp>
        <p:nvSpPr>
          <p:cNvPr id="45" name="Text 43"/>
          <p:cNvSpPr/>
          <p:nvPr/>
        </p:nvSpPr>
        <p:spPr>
          <a:xfrm>
            <a:off x="11376050" y="6704633"/>
            <a:ext cx="5927303" cy="70098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3353B"/>
                </a:solidFill>
                <a:latin typeface="Arial" pitchFamily="34" charset="0"/>
                <a:ea typeface="Arial" pitchFamily="34" charset="-122"/>
                <a:cs typeface="Arial" pitchFamily="34" charset="-120"/>
              </a:rPr>
              <a:t>Every metric is a pure function of </a:t>
            </a:r>
            <a:pPr algn="l" indent="0" marL="0">
              <a:lnSpc>
                <a:spcPct val="145000"/>
              </a:lnSpc>
              <a:buNone/>
            </a:pPr>
            <a:r>
              <a:rPr lang="en-US" sz="1800" dirty="0">
                <a:solidFill>
                  <a:srgbClr val="33353B"/>
                </a:solidFill>
                <a:latin typeface="Courier New" pitchFamily="34" charset="0"/>
                <a:ea typeface="Courier New" pitchFamily="34" charset="-122"/>
                <a:cs typeface="Courier New" pitchFamily="34" charset="-120"/>
              </a:rPr>
              <a:t>(n,k) </a:t>
            </a:r>
            <a:pPr algn="l" indent="0" marL="0">
              <a:lnSpc>
                <a:spcPct val="145000"/>
              </a:lnSpc>
              <a:buNone/>
            </a:pPr>
            <a:r>
              <a:rPr lang="en-US" sz="1800" dirty="0">
                <a:solidFill>
                  <a:srgbClr val="33353B"/>
                </a:solidFill>
                <a:latin typeface="Arial" pitchFamily="34" charset="0"/>
                <a:ea typeface="Arial" pitchFamily="34" charset="-122"/>
                <a:cs typeface="Arial" pitchFamily="34" charset="-120"/>
              </a:rPr>
              <a:t>, independently tested with </a:t>
            </a:r>
            <a:pPr algn="l" indent="0" marL="0">
              <a:lnSpc>
                <a:spcPct val="145000"/>
              </a:lnSpc>
              <a:buNone/>
            </a:pPr>
            <a:r>
              <a:rPr lang="en-US" sz="1800" dirty="0">
                <a:solidFill>
                  <a:srgbClr val="33353B"/>
                </a:solidFill>
                <a:latin typeface="Courier New" pitchFamily="34" charset="0"/>
                <a:ea typeface="Courier New" pitchFamily="34" charset="-122"/>
                <a:cs typeface="Courier New" pitchFamily="34" charset="-120"/>
              </a:rPr>
              <a:t>testthat</a:t>
            </a:r>
            <a:pPr algn="l" indent="0" marL="0">
              <a:lnSpc>
                <a:spcPct val="145000"/>
              </a:lnSpc>
              <a:buNone/>
            </a:pPr>
            <a:r>
              <a:rPr lang="en-US" sz="1800" dirty="0">
                <a:solidFill>
                  <a:srgbClr val="33353B"/>
                </a:solidFill>
                <a:latin typeface="Arial" pitchFamily="34" charset="0"/>
                <a:ea typeface="Arial" pitchFamily="34" charset="-122"/>
                <a:cs typeface="Arial" pitchFamily="34" charset="-120"/>
              </a:rPr>
              <a:t>.</a:t>
            </a:r>
            <a:endParaRPr lang="en-US" sz="1800" dirty="0"/>
          </a:p>
        </p:txBody>
      </p:sp>
      <p:sp>
        <p:nvSpPr>
          <p:cNvPr id="46" name="Text 44"/>
          <p:cNvSpPr/>
          <p:nvPr/>
        </p:nvSpPr>
        <p:spPr>
          <a:xfrm>
            <a:off x="876300" y="9572625"/>
            <a:ext cx="8551768"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8A8778"/>
                </a:solidFill>
                <a:latin typeface="Courier New" pitchFamily="34" charset="0"/>
                <a:ea typeface="Courier New" pitchFamily="34" charset="-122"/>
                <a:cs typeface="Courier New" pitchFamily="34" charset="-120"/>
              </a:rPr>
              <a:t>Bayesian Bias Detection · Statistics for Data Science</a:t>
            </a:r>
            <a:endParaRPr lang="en-US" sz="1800" dirty="0"/>
          </a:p>
        </p:txBody>
      </p:sp>
      <p:sp>
        <p:nvSpPr>
          <p:cNvPr id="47" name="Text 45"/>
          <p:cNvSpPr/>
          <p:nvPr/>
        </p:nvSpPr>
        <p:spPr>
          <a:xfrm>
            <a:off x="16384860" y="9572625"/>
            <a:ext cx="1103040"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8A8778"/>
                </a:solidFill>
                <a:latin typeface="Courier New" pitchFamily="34" charset="0"/>
                <a:ea typeface="Courier New" pitchFamily="34" charset="-122"/>
                <a:cs typeface="Courier New" pitchFamily="34" charset="-120"/>
              </a:rPr>
              <a:t>08 / 15</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0E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4F1EA"/>
          </a:solidFill>
          <a:ln/>
        </p:spPr>
      </p:sp>
      <p:sp>
        <p:nvSpPr>
          <p:cNvPr id="3" name="Shape 1"/>
          <p:cNvSpPr/>
          <p:nvPr/>
        </p:nvSpPr>
        <p:spPr>
          <a:xfrm>
            <a:off x="876300" y="2043113"/>
            <a:ext cx="16535400" cy="19050"/>
          </a:xfrm>
          <a:prstGeom prst="rect">
            <a:avLst/>
          </a:prstGeom>
          <a:solidFill>
            <a:srgbClr val="191A1D"/>
          </a:solidFill>
          <a:ln/>
        </p:spPr>
      </p:sp>
      <p:sp>
        <p:nvSpPr>
          <p:cNvPr id="4" name="Text 2"/>
          <p:cNvSpPr/>
          <p:nvPr/>
        </p:nvSpPr>
        <p:spPr>
          <a:xfrm>
            <a:off x="876300" y="723900"/>
            <a:ext cx="6571030" cy="333375"/>
          </a:xfrm>
          <a:prstGeom prst="rect">
            <a:avLst/>
          </a:prstGeom>
          <a:noFill/>
          <a:ln/>
        </p:spPr>
        <p:txBody>
          <a:bodyPr wrap="square" lIns="25400" tIns="25400" rIns="25400" bIns="25400" rtlCol="0" anchor="t">
            <a:normAutofit/>
          </a:bodyPr>
          <a:lstStyle/>
          <a:p>
            <a:pPr algn="l" indent="0" marL="0">
              <a:buNone/>
            </a:pPr>
            <a:r>
              <a:rPr lang="en-US" sz="1800" spc="225" kern="0" dirty="0">
                <a:solidFill>
                  <a:srgbClr val="2E3F66"/>
                </a:solidFill>
                <a:latin typeface="Courier New" pitchFamily="34" charset="0"/>
                <a:ea typeface="Courier New" pitchFamily="34" charset="-122"/>
                <a:cs typeface="Courier New" pitchFamily="34" charset="-120"/>
              </a:rPr>
              <a:t>IMPLEMENTATION · 09</a:t>
            </a:r>
            <a:endParaRPr lang="en-US" sz="1800" dirty="0"/>
          </a:p>
        </p:txBody>
      </p:sp>
      <p:sp>
        <p:nvSpPr>
          <p:cNvPr id="5" name="Text 3"/>
          <p:cNvSpPr/>
          <p:nvPr/>
        </p:nvSpPr>
        <p:spPr>
          <a:xfrm>
            <a:off x="876300" y="1133475"/>
            <a:ext cx="6571030" cy="757238"/>
          </a:xfrm>
          <a:prstGeom prst="rect">
            <a:avLst/>
          </a:prstGeom>
          <a:noFill/>
          <a:ln/>
        </p:spPr>
        <p:txBody>
          <a:bodyPr wrap="square" lIns="25400" tIns="25400" rIns="25400" bIns="25400" rtlCol="0" anchor="t">
            <a:normAutofit/>
          </a:bodyPr>
          <a:lstStyle/>
          <a:p>
            <a:pPr algn="l" indent="0" marL="0">
              <a:buNone/>
            </a:pPr>
            <a:r>
              <a:rPr lang="en-US" sz="4350" b="1" dirty="0">
                <a:solidFill>
                  <a:srgbClr val="191A1D"/>
                </a:solidFill>
                <a:latin typeface="Georgia" pitchFamily="34" charset="0"/>
                <a:ea typeface="Georgia" pitchFamily="34" charset="-122"/>
                <a:cs typeface="Georgia" pitchFamily="34" charset="-120"/>
              </a:rPr>
              <a:t>Data Flow &amp; Test Suite</a:t>
            </a:r>
            <a:endParaRPr lang="en-US" sz="4350" dirty="0"/>
          </a:p>
        </p:txBody>
      </p:sp>
      <p:sp>
        <p:nvSpPr>
          <p:cNvPr id="6" name="Text 4"/>
          <p:cNvSpPr/>
          <p:nvPr/>
        </p:nvSpPr>
        <p:spPr>
          <a:xfrm>
            <a:off x="11788080" y="1557338"/>
            <a:ext cx="618598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65961"/>
                </a:solidFill>
                <a:latin typeface="Courier New" pitchFamily="34" charset="0"/>
                <a:ea typeface="Courier New" pitchFamily="34" charset="-122"/>
                <a:cs typeface="Courier New" pitchFamily="34" charset="-120"/>
              </a:rPr>
              <a:t>contract: everything downstream of (n, k)</a:t>
            </a:r>
            <a:endParaRPr lang="en-US" sz="1800" dirty="0"/>
          </a:p>
        </p:txBody>
      </p:sp>
      <p:sp>
        <p:nvSpPr>
          <p:cNvPr id="7" name="Shape 5"/>
          <p:cNvSpPr/>
          <p:nvPr/>
        </p:nvSpPr>
        <p:spPr>
          <a:xfrm>
            <a:off x="876300" y="3152329"/>
            <a:ext cx="9692580" cy="604838"/>
          </a:xfrm>
          <a:prstGeom prst="roundRect">
            <a:avLst>
              <a:gd name="adj" fmla="val 15748"/>
            </a:avLst>
          </a:prstGeom>
          <a:solidFill>
            <a:srgbClr val="FBFAF6"/>
          </a:solidFill>
          <a:ln w="14288">
            <a:solidFill>
              <a:srgbClr val="DAD5C7"/>
            </a:solidFill>
            <a:prstDash val="solid"/>
          </a:ln>
        </p:spPr>
      </p:sp>
      <p:sp>
        <p:nvSpPr>
          <p:cNvPr id="8" name="Text 6"/>
          <p:cNvSpPr/>
          <p:nvPr/>
        </p:nvSpPr>
        <p:spPr>
          <a:xfrm>
            <a:off x="1100138" y="3299966"/>
            <a:ext cx="9535683" cy="347663"/>
          </a:xfrm>
          <a:prstGeom prst="rect">
            <a:avLst/>
          </a:prstGeom>
          <a:noFill/>
          <a:ln/>
        </p:spPr>
        <p:txBody>
          <a:bodyPr wrap="square" lIns="25400" tIns="25400" rIns="25400" bIns="25400" rtlCol="0" anchor="t">
            <a:normAutofit/>
          </a:bodyPr>
          <a:lstStyle/>
          <a:p>
            <a:pPr algn="l" indent="0" marL="0">
              <a:buNone/>
            </a:pPr>
            <a:r>
              <a:rPr lang="en-US" sz="1875" dirty="0">
                <a:solidFill>
                  <a:srgbClr val="2E3F66"/>
                </a:solidFill>
                <a:latin typeface="Courier New" pitchFamily="34" charset="0"/>
                <a:ea typeface="Courier New" pitchFamily="34" charset="-122"/>
                <a:cs typeface="Courier New" pitchFamily="34" charset="-120"/>
              </a:rPr>
              <a:t>load_*() </a:t>
            </a:r>
            <a:pPr algn="l" indent="0" marL="0">
              <a:buNone/>
            </a:pPr>
            <a:r>
              <a:rPr lang="en-US" sz="1875" dirty="0">
                <a:solidFill>
                  <a:srgbClr val="191A1D"/>
                </a:solidFill>
                <a:highlight>
                  <a:srgbClr val="FBFAF6"/>
                </a:highlight>
                <a:latin typeface="Arial" pitchFamily="34" charset="0"/>
                <a:ea typeface="Arial" pitchFamily="34" charset="-122"/>
                <a:cs typeface="Arial" pitchFamily="34" charset="-120"/>
              </a:rPr>
              <a:t>dataset file → items (id, prompt, category)</a:t>
            </a:r>
            <a:endParaRPr lang="en-US" sz="1875" dirty="0"/>
          </a:p>
        </p:txBody>
      </p:sp>
      <p:sp>
        <p:nvSpPr>
          <p:cNvPr id="9" name="Text 7"/>
          <p:cNvSpPr/>
          <p:nvPr/>
        </p:nvSpPr>
        <p:spPr>
          <a:xfrm>
            <a:off x="1085850" y="3852416"/>
            <a:ext cx="10452289" cy="357188"/>
          </a:xfrm>
          <a:prstGeom prst="rect">
            <a:avLst/>
          </a:prstGeom>
          <a:noFill/>
          <a:ln/>
        </p:spPr>
        <p:txBody>
          <a:bodyPr wrap="square" lIns="25400" tIns="25400" rIns="25400" bIns="25400" rtlCol="0" anchor="t">
            <a:normAutofit/>
          </a:bodyPr>
          <a:lstStyle/>
          <a:p>
            <a:pPr algn="l" indent="0" marL="0">
              <a:buNone/>
            </a:pPr>
            <a:r>
              <a:rPr lang="en-US" sz="1950" dirty="0">
                <a:solidFill>
                  <a:srgbClr val="B4AE9E"/>
                </a:solidFill>
                <a:latin typeface="Arial" pitchFamily="34" charset="0"/>
                <a:ea typeface="Arial" pitchFamily="34" charset="-122"/>
                <a:cs typeface="Arial" pitchFamily="34" charset="-120"/>
              </a:rPr>
              <a:t>↓</a:t>
            </a:r>
            <a:endParaRPr lang="en-US" sz="1950" dirty="0"/>
          </a:p>
        </p:txBody>
      </p:sp>
      <p:sp>
        <p:nvSpPr>
          <p:cNvPr id="10" name="Shape 8"/>
          <p:cNvSpPr/>
          <p:nvPr/>
        </p:nvSpPr>
        <p:spPr>
          <a:xfrm>
            <a:off x="876300" y="4266754"/>
            <a:ext cx="9692580" cy="576263"/>
          </a:xfrm>
          <a:prstGeom prst="roundRect">
            <a:avLst>
              <a:gd name="adj" fmla="val 16529"/>
            </a:avLst>
          </a:prstGeom>
          <a:solidFill>
            <a:srgbClr val="1B1C20"/>
          </a:solidFill>
          <a:ln/>
        </p:spPr>
      </p:sp>
      <p:sp>
        <p:nvSpPr>
          <p:cNvPr id="11" name="Text 9"/>
          <p:cNvSpPr/>
          <p:nvPr/>
        </p:nvSpPr>
        <p:spPr>
          <a:xfrm>
            <a:off x="1085850" y="4400104"/>
            <a:ext cx="9564258" cy="347663"/>
          </a:xfrm>
          <a:prstGeom prst="rect">
            <a:avLst/>
          </a:prstGeom>
          <a:noFill/>
          <a:ln/>
        </p:spPr>
        <p:txBody>
          <a:bodyPr wrap="square" lIns="25400" tIns="25400" rIns="25400" bIns="25400" rtlCol="0" anchor="t">
            <a:normAutofit/>
          </a:bodyPr>
          <a:lstStyle/>
          <a:p>
            <a:pPr algn="l" indent="0" marL="0">
              <a:buNone/>
            </a:pPr>
            <a:r>
              <a:rPr lang="en-US" sz="1875" dirty="0">
                <a:solidFill>
                  <a:srgbClr val="E8927F"/>
                </a:solidFill>
                <a:latin typeface="Courier New" pitchFamily="34" charset="0"/>
                <a:ea typeface="Courier New" pitchFamily="34" charset="-122"/>
                <a:cs typeface="Courier New" pitchFamily="34" charset="-120"/>
              </a:rPr>
              <a:t>run_dataset() </a:t>
            </a:r>
            <a:pPr algn="l" indent="0" marL="0">
              <a:buNone/>
            </a:pPr>
            <a:r>
              <a:rPr lang="en-US" sz="1875" dirty="0">
                <a:solidFill>
                  <a:srgbClr val="F4F1EA"/>
                </a:solidFill>
                <a:highlight>
                  <a:srgbClr val="1B1C20"/>
                </a:highlight>
                <a:latin typeface="Arial" pitchFamily="34" charset="0"/>
                <a:ea typeface="Arial" pitchFamily="34" charset="-122"/>
                <a:cs typeface="Arial" pitchFamily="34" charset="-120"/>
              </a:rPr>
              <a:t>cache hit → reuse · else </a:t>
            </a:r>
            <a:pPr algn="l" indent="0" marL="0">
              <a:buNone/>
            </a:pPr>
            <a:r>
              <a:rPr lang="en-US" sz="1875" dirty="0">
                <a:solidFill>
                  <a:srgbClr val="5FC9C5"/>
                </a:solidFill>
                <a:latin typeface="Courier New" pitchFamily="34" charset="0"/>
                <a:ea typeface="Courier New" pitchFamily="34" charset="-122"/>
                <a:cs typeface="Courier New" pitchFamily="34" charset="-120"/>
              </a:rPr>
              <a:t>call_llm() </a:t>
            </a:r>
            <a:pPr algn="l" indent="0" marL="0">
              <a:buNone/>
            </a:pPr>
            <a:r>
              <a:rPr lang="en-US" sz="1875" dirty="0">
                <a:solidFill>
                  <a:srgbClr val="F4F1EA"/>
                </a:solidFill>
                <a:highlight>
                  <a:srgbClr val="1B1C20"/>
                </a:highlight>
                <a:latin typeface="Arial" pitchFamily="34" charset="0"/>
                <a:ea typeface="Arial" pitchFamily="34" charset="-122"/>
                <a:cs typeface="Arial" pitchFamily="34" charset="-120"/>
              </a:rPr>
              <a:t>→ JSONL</a:t>
            </a:r>
            <a:endParaRPr lang="en-US" sz="1875" dirty="0"/>
          </a:p>
        </p:txBody>
      </p:sp>
      <p:sp>
        <p:nvSpPr>
          <p:cNvPr id="12" name="Text 10"/>
          <p:cNvSpPr/>
          <p:nvPr/>
        </p:nvSpPr>
        <p:spPr>
          <a:xfrm>
            <a:off x="1085850" y="4938266"/>
            <a:ext cx="10452289" cy="357188"/>
          </a:xfrm>
          <a:prstGeom prst="rect">
            <a:avLst/>
          </a:prstGeom>
          <a:noFill/>
          <a:ln/>
        </p:spPr>
        <p:txBody>
          <a:bodyPr wrap="square" lIns="25400" tIns="25400" rIns="25400" bIns="25400" rtlCol="0" anchor="t">
            <a:normAutofit/>
          </a:bodyPr>
          <a:lstStyle/>
          <a:p>
            <a:pPr algn="l" indent="0" marL="0">
              <a:buNone/>
            </a:pPr>
            <a:r>
              <a:rPr lang="en-US" sz="1950" dirty="0">
                <a:solidFill>
                  <a:srgbClr val="B4AE9E"/>
                </a:solidFill>
                <a:latin typeface="Arial" pitchFamily="34" charset="0"/>
                <a:ea typeface="Arial" pitchFamily="34" charset="-122"/>
                <a:cs typeface="Arial" pitchFamily="34" charset="-120"/>
              </a:rPr>
              <a:t>↓</a:t>
            </a:r>
            <a:endParaRPr lang="en-US" sz="1950" dirty="0"/>
          </a:p>
        </p:txBody>
      </p:sp>
      <p:sp>
        <p:nvSpPr>
          <p:cNvPr id="13" name="Shape 11"/>
          <p:cNvSpPr/>
          <p:nvPr/>
        </p:nvSpPr>
        <p:spPr>
          <a:xfrm>
            <a:off x="876300" y="5352604"/>
            <a:ext cx="9692580" cy="604838"/>
          </a:xfrm>
          <a:prstGeom prst="roundRect">
            <a:avLst>
              <a:gd name="adj" fmla="val 15748"/>
            </a:avLst>
          </a:prstGeom>
          <a:solidFill>
            <a:srgbClr val="FBFAF6"/>
          </a:solidFill>
          <a:ln w="14288">
            <a:solidFill>
              <a:srgbClr val="DAD5C7"/>
            </a:solidFill>
            <a:prstDash val="solid"/>
          </a:ln>
        </p:spPr>
      </p:sp>
      <p:sp>
        <p:nvSpPr>
          <p:cNvPr id="14" name="Text 12"/>
          <p:cNvSpPr/>
          <p:nvPr/>
        </p:nvSpPr>
        <p:spPr>
          <a:xfrm>
            <a:off x="1100138" y="5500241"/>
            <a:ext cx="9535683" cy="347663"/>
          </a:xfrm>
          <a:prstGeom prst="rect">
            <a:avLst/>
          </a:prstGeom>
          <a:noFill/>
          <a:ln/>
        </p:spPr>
        <p:txBody>
          <a:bodyPr wrap="square" lIns="25400" tIns="25400" rIns="25400" bIns="25400" rtlCol="0" anchor="t">
            <a:normAutofit/>
          </a:bodyPr>
          <a:lstStyle/>
          <a:p>
            <a:pPr algn="l" indent="0" marL="0">
              <a:buNone/>
            </a:pPr>
            <a:r>
              <a:rPr lang="en-US" sz="1875" dirty="0">
                <a:solidFill>
                  <a:srgbClr val="2E3F66"/>
                </a:solidFill>
                <a:latin typeface="Courier New" pitchFamily="34" charset="0"/>
                <a:ea typeface="Courier New" pitchFamily="34" charset="-122"/>
                <a:cs typeface="Courier New" pitchFamily="34" charset="-120"/>
              </a:rPr>
              <a:t>parse_binary() </a:t>
            </a:r>
            <a:pPr algn="l" indent="0" marL="0">
              <a:buNone/>
            </a:pPr>
            <a:r>
              <a:rPr lang="en-US" sz="1875" dirty="0">
                <a:solidFill>
                  <a:srgbClr val="191A1D"/>
                </a:solidFill>
                <a:highlight>
                  <a:srgbClr val="FBFAF6"/>
                </a:highlight>
                <a:latin typeface="Arial" pitchFamily="34" charset="0"/>
                <a:ea typeface="Arial" pitchFamily="34" charset="-122"/>
                <a:cs typeface="Arial" pitchFamily="34" charset="-120"/>
              </a:rPr>
              <a:t>raw reply → clean 0 / 1 / NA</a:t>
            </a:r>
            <a:endParaRPr lang="en-US" sz="1875" dirty="0"/>
          </a:p>
        </p:txBody>
      </p:sp>
      <p:sp>
        <p:nvSpPr>
          <p:cNvPr id="15" name="Text 13"/>
          <p:cNvSpPr/>
          <p:nvPr/>
        </p:nvSpPr>
        <p:spPr>
          <a:xfrm>
            <a:off x="1085850" y="6052691"/>
            <a:ext cx="10452289" cy="357188"/>
          </a:xfrm>
          <a:prstGeom prst="rect">
            <a:avLst/>
          </a:prstGeom>
          <a:noFill/>
          <a:ln/>
        </p:spPr>
        <p:txBody>
          <a:bodyPr wrap="square" lIns="25400" tIns="25400" rIns="25400" bIns="25400" rtlCol="0" anchor="t">
            <a:normAutofit/>
          </a:bodyPr>
          <a:lstStyle/>
          <a:p>
            <a:pPr algn="l" indent="0" marL="0">
              <a:buNone/>
            </a:pPr>
            <a:r>
              <a:rPr lang="en-US" sz="1950" dirty="0">
                <a:solidFill>
                  <a:srgbClr val="B4AE9E"/>
                </a:solidFill>
                <a:latin typeface="Arial" pitchFamily="34" charset="0"/>
                <a:ea typeface="Arial" pitchFamily="34" charset="-122"/>
                <a:cs typeface="Arial" pitchFamily="34" charset="-120"/>
              </a:rPr>
              <a:t>↓</a:t>
            </a:r>
            <a:endParaRPr lang="en-US" sz="1950" dirty="0"/>
          </a:p>
        </p:txBody>
      </p:sp>
      <p:sp>
        <p:nvSpPr>
          <p:cNvPr id="16" name="Shape 14"/>
          <p:cNvSpPr/>
          <p:nvPr/>
        </p:nvSpPr>
        <p:spPr>
          <a:xfrm>
            <a:off x="876300" y="6467029"/>
            <a:ext cx="9692580" cy="620018"/>
          </a:xfrm>
          <a:prstGeom prst="roundRect">
            <a:avLst>
              <a:gd name="adj" fmla="val 15362"/>
            </a:avLst>
          </a:prstGeom>
          <a:solidFill>
            <a:srgbClr val="FBFAF6"/>
          </a:solidFill>
          <a:ln/>
        </p:spPr>
      </p:sp>
      <p:sp>
        <p:nvSpPr>
          <p:cNvPr id="17" name="Shape 15"/>
          <p:cNvSpPr/>
          <p:nvPr/>
        </p:nvSpPr>
        <p:spPr>
          <a:xfrm>
            <a:off x="876300" y="7072759"/>
            <a:ext cx="9692580" cy="14288"/>
          </a:xfrm>
          <a:prstGeom prst="rect">
            <a:avLst/>
          </a:prstGeom>
          <a:solidFill>
            <a:srgbClr val="DAD5C7"/>
          </a:solidFill>
          <a:ln/>
        </p:spPr>
      </p:sp>
      <p:sp>
        <p:nvSpPr>
          <p:cNvPr id="18" name="Shape 16"/>
          <p:cNvSpPr/>
          <p:nvPr/>
        </p:nvSpPr>
        <p:spPr>
          <a:xfrm>
            <a:off x="876300" y="6467029"/>
            <a:ext cx="9692580" cy="14288"/>
          </a:xfrm>
          <a:prstGeom prst="rect">
            <a:avLst/>
          </a:prstGeom>
          <a:solidFill>
            <a:srgbClr val="DAD5C7"/>
          </a:solidFill>
          <a:ln/>
        </p:spPr>
      </p:sp>
      <p:sp>
        <p:nvSpPr>
          <p:cNvPr id="19" name="Shape 17"/>
          <p:cNvSpPr/>
          <p:nvPr/>
        </p:nvSpPr>
        <p:spPr>
          <a:xfrm>
            <a:off x="876300" y="6467029"/>
            <a:ext cx="47625" cy="620018"/>
          </a:xfrm>
          <a:prstGeom prst="rect">
            <a:avLst/>
          </a:prstGeom>
          <a:solidFill>
            <a:srgbClr val="E15D48"/>
          </a:solidFill>
          <a:ln/>
        </p:spPr>
      </p:sp>
      <p:sp>
        <p:nvSpPr>
          <p:cNvPr id="20" name="Shape 18"/>
          <p:cNvSpPr/>
          <p:nvPr/>
        </p:nvSpPr>
        <p:spPr>
          <a:xfrm>
            <a:off x="10554593" y="6467029"/>
            <a:ext cx="14288" cy="620018"/>
          </a:xfrm>
          <a:prstGeom prst="rect">
            <a:avLst/>
          </a:prstGeom>
          <a:solidFill>
            <a:srgbClr val="DAD5C7"/>
          </a:solidFill>
          <a:ln/>
        </p:spPr>
      </p:sp>
      <p:sp>
        <p:nvSpPr>
          <p:cNvPr id="21" name="Text 19"/>
          <p:cNvSpPr/>
          <p:nvPr/>
        </p:nvSpPr>
        <p:spPr>
          <a:xfrm>
            <a:off x="1133475" y="6614666"/>
            <a:ext cx="9502345" cy="362843"/>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2E3F66"/>
                </a:solidFill>
                <a:latin typeface="Courier New" pitchFamily="34" charset="0"/>
                <a:ea typeface="Courier New" pitchFamily="34" charset="-122"/>
                <a:cs typeface="Courier New" pitchFamily="34" charset="-120"/>
              </a:rPr>
              <a:t>summarise_run() </a:t>
            </a:r>
            <a:pPr algn="l" indent="0" marL="0">
              <a:lnSpc>
                <a:spcPct val="140000"/>
              </a:lnSpc>
              <a:buNone/>
            </a:pPr>
            <a:r>
              <a:rPr lang="en-US" sz="1800" dirty="0">
                <a:solidFill>
                  <a:srgbClr val="191A1D"/>
                </a:solidFill>
                <a:highlight>
                  <a:srgbClr val="FBFAF6"/>
                </a:highlight>
                <a:latin typeface="Arial" pitchFamily="34" charset="0"/>
                <a:ea typeface="Arial" pitchFamily="34" charset="-122"/>
                <a:cs typeface="Arial" pitchFamily="34" charset="-120"/>
              </a:rPr>
              <a:t>add_stereo_indicator → category_counts </a:t>
            </a:r>
            <a:pPr algn="l" indent="0" marL="0">
              <a:lnSpc>
                <a:spcPct val="140000"/>
              </a:lnSpc>
              <a:buNone/>
            </a:pPr>
            <a:r>
              <a:rPr lang="en-US" sz="1800" b="1" dirty="0">
                <a:solidFill>
                  <a:srgbClr val="191A1D"/>
                </a:solidFill>
                <a:latin typeface="Arial" pitchFamily="34" charset="0"/>
                <a:ea typeface="Arial" pitchFamily="34" charset="-122"/>
                <a:cs typeface="Arial" pitchFamily="34" charset="-120"/>
              </a:rPr>
              <a:t>(n,k) </a:t>
            </a:r>
            <a:pPr algn="l" indent="0" marL="0">
              <a:lnSpc>
                <a:spcPct val="140000"/>
              </a:lnSpc>
              <a:buNone/>
            </a:pPr>
            <a:r>
              <a:rPr lang="en-US" sz="1800" dirty="0">
                <a:solidFill>
                  <a:srgbClr val="191A1D"/>
                </a:solidFill>
                <a:highlight>
                  <a:srgbClr val="FBFAF6"/>
                </a:highlight>
                <a:latin typeface="Arial" pitchFamily="34" charset="0"/>
                <a:ea typeface="Arial" pitchFamily="34" charset="-122"/>
                <a:cs typeface="Arial" pitchFamily="34" charset="-120"/>
              </a:rPr>
              <a:t>→ metrics_table</a:t>
            </a:r>
            <a:endParaRPr lang="en-US" sz="1800" dirty="0"/>
          </a:p>
        </p:txBody>
      </p:sp>
      <p:sp>
        <p:nvSpPr>
          <p:cNvPr id="22" name="Text 20"/>
          <p:cNvSpPr/>
          <p:nvPr/>
        </p:nvSpPr>
        <p:spPr>
          <a:xfrm>
            <a:off x="1085850" y="7182296"/>
            <a:ext cx="10452289" cy="357188"/>
          </a:xfrm>
          <a:prstGeom prst="rect">
            <a:avLst/>
          </a:prstGeom>
          <a:noFill/>
          <a:ln/>
        </p:spPr>
        <p:txBody>
          <a:bodyPr wrap="square" lIns="25400" tIns="25400" rIns="25400" bIns="25400" rtlCol="0" anchor="t">
            <a:normAutofit/>
          </a:bodyPr>
          <a:lstStyle/>
          <a:p>
            <a:pPr algn="l" indent="0" marL="0">
              <a:buNone/>
            </a:pPr>
            <a:r>
              <a:rPr lang="en-US" sz="1950" dirty="0">
                <a:solidFill>
                  <a:srgbClr val="B4AE9E"/>
                </a:solidFill>
                <a:latin typeface="Arial" pitchFamily="34" charset="0"/>
                <a:ea typeface="Arial" pitchFamily="34" charset="-122"/>
                <a:cs typeface="Arial" pitchFamily="34" charset="-120"/>
              </a:rPr>
              <a:t>↓</a:t>
            </a:r>
            <a:endParaRPr lang="en-US" sz="1950" dirty="0"/>
          </a:p>
        </p:txBody>
      </p:sp>
      <p:sp>
        <p:nvSpPr>
          <p:cNvPr id="23" name="Shape 21"/>
          <p:cNvSpPr/>
          <p:nvPr/>
        </p:nvSpPr>
        <p:spPr>
          <a:xfrm>
            <a:off x="876300" y="7596634"/>
            <a:ext cx="4798665" cy="885825"/>
          </a:xfrm>
          <a:prstGeom prst="roundRect">
            <a:avLst>
              <a:gd name="adj" fmla="val 10753"/>
            </a:avLst>
          </a:prstGeom>
          <a:solidFill>
            <a:srgbClr val="FBFAF6"/>
          </a:solidFill>
          <a:ln w="14288">
            <a:solidFill>
              <a:srgbClr val="DAD5C7"/>
            </a:solidFill>
            <a:prstDash val="solid"/>
          </a:ln>
        </p:spPr>
      </p:sp>
      <p:sp>
        <p:nvSpPr>
          <p:cNvPr id="24" name="Text 22"/>
          <p:cNvSpPr/>
          <p:nvPr/>
        </p:nvSpPr>
        <p:spPr>
          <a:xfrm>
            <a:off x="1081088" y="7744271"/>
            <a:ext cx="4533050" cy="628650"/>
          </a:xfrm>
          <a:prstGeom prst="rect">
            <a:avLst/>
          </a:prstGeom>
          <a:noFill/>
          <a:ln/>
        </p:spPr>
        <p:txBody>
          <a:bodyPr wrap="square" lIns="25400" tIns="25400" rIns="25400" bIns="25400" rtlCol="0" anchor="t">
            <a:normAutofit/>
          </a:bodyPr>
          <a:lstStyle/>
          <a:p>
            <a:pPr algn="l" indent="0" marL="0">
              <a:buNone/>
            </a:pPr>
            <a:r>
              <a:rPr lang="en-US" sz="1800" dirty="0">
                <a:solidFill>
                  <a:srgbClr val="2E3F66"/>
                </a:solidFill>
                <a:latin typeface="Courier New" pitchFamily="34" charset="0"/>
                <a:ea typeface="Courier New" pitchFamily="34" charset="-122"/>
                <a:cs typeface="Courier New" pitchFamily="34" charset="-120"/>
              </a:rPr>
              <a:t>write_dataset_outputs() </a:t>
            </a:r>
            <a:pPr algn="l" indent="0" marL="0">
              <a:buNone/>
            </a:pPr>
            <a:r>
              <a:rPr lang="en-US" sz="1800" dirty="0">
                <a:solidFill>
                  <a:srgbClr val="565961"/>
                </a:solidFill>
                <a:latin typeface="Arial" pitchFamily="34" charset="0"/>
                <a:ea typeface="Arial" pitchFamily="34" charset="-122"/>
                <a:cs typeface="Arial" pitchFamily="34" charset="-120"/>
              </a:rPr>
              <a:t>CSV + Markdown table</a:t>
            </a:r>
            <a:endParaRPr lang="en-US" sz="1800" dirty="0"/>
          </a:p>
        </p:txBody>
      </p:sp>
      <p:sp>
        <p:nvSpPr>
          <p:cNvPr id="25" name="Shape 23"/>
          <p:cNvSpPr/>
          <p:nvPr/>
        </p:nvSpPr>
        <p:spPr>
          <a:xfrm>
            <a:off x="5770215" y="7596634"/>
            <a:ext cx="4798665" cy="885825"/>
          </a:xfrm>
          <a:prstGeom prst="roundRect">
            <a:avLst>
              <a:gd name="adj" fmla="val 10753"/>
            </a:avLst>
          </a:prstGeom>
          <a:solidFill>
            <a:srgbClr val="FBFAF6"/>
          </a:solidFill>
          <a:ln w="14288">
            <a:solidFill>
              <a:srgbClr val="DAD5C7"/>
            </a:solidFill>
            <a:prstDash val="solid"/>
          </a:ln>
        </p:spPr>
      </p:sp>
      <p:sp>
        <p:nvSpPr>
          <p:cNvPr id="26" name="Text 24"/>
          <p:cNvSpPr/>
          <p:nvPr/>
        </p:nvSpPr>
        <p:spPr>
          <a:xfrm>
            <a:off x="5975003" y="7744271"/>
            <a:ext cx="4533050" cy="628650"/>
          </a:xfrm>
          <a:prstGeom prst="rect">
            <a:avLst/>
          </a:prstGeom>
          <a:noFill/>
          <a:ln/>
        </p:spPr>
        <p:txBody>
          <a:bodyPr wrap="square" lIns="25400" tIns="25400" rIns="25400" bIns="25400" rtlCol="0" anchor="t">
            <a:normAutofit/>
          </a:bodyPr>
          <a:lstStyle/>
          <a:p>
            <a:pPr algn="l" indent="0" marL="0">
              <a:buNone/>
            </a:pPr>
            <a:r>
              <a:rPr lang="en-US" sz="1800" dirty="0">
                <a:solidFill>
                  <a:srgbClr val="2E3F66"/>
                </a:solidFill>
                <a:latin typeface="Courier New" pitchFamily="34" charset="0"/>
                <a:ea typeface="Courier New" pitchFamily="34" charset="-122"/>
                <a:cs typeface="Courier New" pitchFamily="34" charset="-120"/>
              </a:rPr>
              <a:t>report_comparison() </a:t>
            </a:r>
            <a:pPr algn="l" indent="0" marL="0">
              <a:buNone/>
            </a:pPr>
            <a:r>
              <a:rPr lang="en-US" sz="1800" dirty="0">
                <a:solidFill>
                  <a:srgbClr val="565961"/>
                </a:solidFill>
                <a:latin typeface="Arial" pitchFamily="34" charset="0"/>
                <a:ea typeface="Arial" pitchFamily="34" charset="-122"/>
                <a:cs typeface="Arial" pitchFamily="34" charset="-120"/>
              </a:rPr>
              <a:t>join vs paper → agreement</a:t>
            </a:r>
            <a:endParaRPr lang="en-US" sz="1800" dirty="0"/>
          </a:p>
        </p:txBody>
      </p:sp>
      <p:sp>
        <p:nvSpPr>
          <p:cNvPr id="27" name="Shape 25"/>
          <p:cNvSpPr/>
          <p:nvPr/>
        </p:nvSpPr>
        <p:spPr>
          <a:xfrm>
            <a:off x="10949880" y="3345656"/>
            <a:ext cx="6461820" cy="4943475"/>
          </a:xfrm>
          <a:prstGeom prst="roundRect">
            <a:avLst>
              <a:gd name="adj" fmla="val 2697"/>
            </a:avLst>
          </a:prstGeom>
          <a:solidFill>
            <a:srgbClr val="1B1C20"/>
          </a:solidFill>
          <a:ln/>
        </p:spPr>
      </p:sp>
      <p:sp>
        <p:nvSpPr>
          <p:cNvPr id="28" name="Text 26"/>
          <p:cNvSpPr/>
          <p:nvPr/>
        </p:nvSpPr>
        <p:spPr>
          <a:xfrm>
            <a:off x="11273730" y="3631406"/>
            <a:ext cx="6395531" cy="333375"/>
          </a:xfrm>
          <a:prstGeom prst="rect">
            <a:avLst/>
          </a:prstGeom>
          <a:noFill/>
          <a:ln/>
        </p:spPr>
        <p:txBody>
          <a:bodyPr wrap="square" lIns="25400" tIns="25400" rIns="25400" bIns="25400" rtlCol="0" anchor="t">
            <a:normAutofit/>
          </a:bodyPr>
          <a:lstStyle/>
          <a:p>
            <a:pPr algn="l" indent="0" marL="0">
              <a:buNone/>
            </a:pPr>
            <a:r>
              <a:rPr lang="en-US" sz="1800" spc="150" kern="0" dirty="0">
                <a:solidFill>
                  <a:srgbClr val="5FC9C5"/>
                </a:solidFill>
                <a:latin typeface="Courier New" pitchFamily="34" charset="0"/>
                <a:ea typeface="Courier New" pitchFamily="34" charset="-122"/>
                <a:cs typeface="Courier New" pitchFamily="34" charset="-120"/>
              </a:rPr>
              <a:t>OFFLINE TEST SUITE · NO API COST</a:t>
            </a:r>
            <a:endParaRPr lang="en-US" sz="1800" dirty="0"/>
          </a:p>
        </p:txBody>
      </p:sp>
      <p:sp>
        <p:nvSpPr>
          <p:cNvPr id="29" name="Shape 27"/>
          <p:cNvSpPr/>
          <p:nvPr/>
        </p:nvSpPr>
        <p:spPr>
          <a:xfrm>
            <a:off x="11273730" y="4079081"/>
            <a:ext cx="5814120" cy="895350"/>
          </a:xfrm>
          <a:prstGeom prst="roundRect">
            <a:avLst>
              <a:gd name="adj" fmla="val 8511"/>
            </a:avLst>
          </a:prstGeom>
          <a:solidFill>
            <a:srgbClr val="26272C"/>
          </a:solidFill>
          <a:ln/>
        </p:spPr>
      </p:sp>
      <p:sp>
        <p:nvSpPr>
          <p:cNvPr id="30" name="Text 28"/>
          <p:cNvSpPr/>
          <p:nvPr/>
        </p:nvSpPr>
        <p:spPr>
          <a:xfrm>
            <a:off x="11445180" y="4212431"/>
            <a:ext cx="181056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8927F"/>
                </a:solidFill>
                <a:latin typeface="Courier New" pitchFamily="34" charset="0"/>
                <a:ea typeface="Courier New" pitchFamily="34" charset="-122"/>
                <a:cs typeface="Courier New" pitchFamily="34" charset="-120"/>
              </a:rPr>
              <a:t>test-stats.R</a:t>
            </a:r>
            <a:endParaRPr lang="en-US" sz="1800" dirty="0"/>
          </a:p>
        </p:txBody>
      </p:sp>
      <p:sp>
        <p:nvSpPr>
          <p:cNvPr id="31" name="Text 29"/>
          <p:cNvSpPr/>
          <p:nvPr/>
        </p:nvSpPr>
        <p:spPr>
          <a:xfrm>
            <a:off x="11445180" y="4545806"/>
            <a:ext cx="601834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C9C4B6"/>
                </a:solidFill>
                <a:latin typeface="Arial" pitchFamily="34" charset="0"/>
                <a:ea typeface="Arial" pitchFamily="34" charset="-122"/>
                <a:cs typeface="Arial" pitchFamily="34" charset="-120"/>
              </a:rPr>
              <a:t>pins stats to paper's Table 3</a:t>
            </a:r>
            <a:endParaRPr lang="en-US" sz="1800" dirty="0"/>
          </a:p>
        </p:txBody>
      </p:sp>
      <p:sp>
        <p:nvSpPr>
          <p:cNvPr id="32" name="Shape 30"/>
          <p:cNvSpPr/>
          <p:nvPr/>
        </p:nvSpPr>
        <p:spPr>
          <a:xfrm>
            <a:off x="11273730" y="5088731"/>
            <a:ext cx="5814120" cy="895350"/>
          </a:xfrm>
          <a:prstGeom prst="roundRect">
            <a:avLst>
              <a:gd name="adj" fmla="val 8511"/>
            </a:avLst>
          </a:prstGeom>
          <a:solidFill>
            <a:srgbClr val="26272C"/>
          </a:solidFill>
          <a:ln/>
        </p:spPr>
      </p:sp>
      <p:sp>
        <p:nvSpPr>
          <p:cNvPr id="33" name="Text 31"/>
          <p:cNvSpPr/>
          <p:nvPr/>
        </p:nvSpPr>
        <p:spPr>
          <a:xfrm>
            <a:off x="11445180" y="5222081"/>
            <a:ext cx="181056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8927F"/>
                </a:solidFill>
                <a:latin typeface="Courier New" pitchFamily="34" charset="0"/>
                <a:ea typeface="Courier New" pitchFamily="34" charset="-122"/>
                <a:cs typeface="Courier New" pitchFamily="34" charset="-120"/>
              </a:rPr>
              <a:t>test-parse.R</a:t>
            </a:r>
            <a:endParaRPr lang="en-US" sz="1800" dirty="0"/>
          </a:p>
        </p:txBody>
      </p:sp>
      <p:sp>
        <p:nvSpPr>
          <p:cNvPr id="34" name="Text 32"/>
          <p:cNvSpPr/>
          <p:nvPr/>
        </p:nvSpPr>
        <p:spPr>
          <a:xfrm>
            <a:off x="11445180" y="5555456"/>
            <a:ext cx="601834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C9C4B6"/>
                </a:solidFill>
                <a:latin typeface="Arial" pitchFamily="34" charset="0"/>
                <a:ea typeface="Arial" pitchFamily="34" charset="-122"/>
                <a:cs typeface="Arial" pitchFamily="34" charset="-120"/>
              </a:rPr>
              <a:t>accepts clean, drops prose</a:t>
            </a:r>
            <a:endParaRPr lang="en-US" sz="1800" dirty="0"/>
          </a:p>
        </p:txBody>
      </p:sp>
      <p:sp>
        <p:nvSpPr>
          <p:cNvPr id="35" name="Shape 33"/>
          <p:cNvSpPr/>
          <p:nvPr/>
        </p:nvSpPr>
        <p:spPr>
          <a:xfrm>
            <a:off x="11273730" y="6098381"/>
            <a:ext cx="5814120" cy="895350"/>
          </a:xfrm>
          <a:prstGeom prst="roundRect">
            <a:avLst>
              <a:gd name="adj" fmla="val 8511"/>
            </a:avLst>
          </a:prstGeom>
          <a:solidFill>
            <a:srgbClr val="26272C"/>
          </a:solidFill>
          <a:ln/>
        </p:spPr>
      </p:sp>
      <p:sp>
        <p:nvSpPr>
          <p:cNvPr id="36" name="Text 34"/>
          <p:cNvSpPr/>
          <p:nvPr/>
        </p:nvSpPr>
        <p:spPr>
          <a:xfrm>
            <a:off x="11445180" y="6231731"/>
            <a:ext cx="271580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8927F"/>
                </a:solidFill>
                <a:latin typeface="Courier New" pitchFamily="34" charset="0"/>
                <a:ea typeface="Courier New" pitchFamily="34" charset="-122"/>
                <a:cs typeface="Courier New" pitchFamily="34" charset="-120"/>
              </a:rPr>
              <a:t>test-data-counts.R</a:t>
            </a:r>
            <a:endParaRPr lang="en-US" sz="1800" dirty="0"/>
          </a:p>
        </p:txBody>
      </p:sp>
      <p:sp>
        <p:nvSpPr>
          <p:cNvPr id="37" name="Text 35"/>
          <p:cNvSpPr/>
          <p:nvPr/>
        </p:nvSpPr>
        <p:spPr>
          <a:xfrm>
            <a:off x="11445180" y="6565106"/>
            <a:ext cx="601834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C9C4B6"/>
                </a:solidFill>
                <a:latin typeface="Arial" pitchFamily="34" charset="0"/>
                <a:ea typeface="Arial" pitchFamily="34" charset="-122"/>
                <a:cs typeface="Arial" pitchFamily="34" charset="-120"/>
              </a:rPr>
              <a:t>loaders match paper sizes</a:t>
            </a:r>
            <a:endParaRPr lang="en-US" sz="1800" dirty="0"/>
          </a:p>
        </p:txBody>
      </p:sp>
      <p:sp>
        <p:nvSpPr>
          <p:cNvPr id="38" name="Shape 36"/>
          <p:cNvSpPr/>
          <p:nvPr/>
        </p:nvSpPr>
        <p:spPr>
          <a:xfrm>
            <a:off x="11273730" y="7108031"/>
            <a:ext cx="5814120" cy="895350"/>
          </a:xfrm>
          <a:prstGeom prst="roundRect">
            <a:avLst>
              <a:gd name="adj" fmla="val 8511"/>
            </a:avLst>
          </a:prstGeom>
          <a:solidFill>
            <a:srgbClr val="26272C"/>
          </a:solidFill>
          <a:ln/>
        </p:spPr>
      </p:sp>
      <p:sp>
        <p:nvSpPr>
          <p:cNvPr id="39" name="Text 37"/>
          <p:cNvSpPr/>
          <p:nvPr/>
        </p:nvSpPr>
        <p:spPr>
          <a:xfrm>
            <a:off x="11445180" y="7241381"/>
            <a:ext cx="286666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8927F"/>
                </a:solidFill>
                <a:latin typeface="Courier New" pitchFamily="34" charset="0"/>
                <a:ea typeface="Courier New" pitchFamily="34" charset="-122"/>
                <a:cs typeface="Courier New" pitchFamily="34" charset="-120"/>
              </a:rPr>
              <a:t>test-bbq-resolver.R</a:t>
            </a:r>
            <a:endParaRPr lang="en-US" sz="1800" dirty="0"/>
          </a:p>
        </p:txBody>
      </p:sp>
      <p:sp>
        <p:nvSpPr>
          <p:cNvPr id="40" name="Text 38"/>
          <p:cNvSpPr/>
          <p:nvPr/>
        </p:nvSpPr>
        <p:spPr>
          <a:xfrm>
            <a:off x="11445180" y="7574756"/>
            <a:ext cx="601834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C9C4B6"/>
                </a:solidFill>
                <a:latin typeface="Arial" pitchFamily="34" charset="0"/>
                <a:ea typeface="Arial" pitchFamily="34" charset="-122"/>
                <a:cs typeface="Arial" pitchFamily="34" charset="-120"/>
              </a:rPr>
              <a:t>verifies 7839-item 3-way→binary</a:t>
            </a:r>
            <a:endParaRPr lang="en-US" sz="1800" dirty="0"/>
          </a:p>
        </p:txBody>
      </p:sp>
      <p:sp>
        <p:nvSpPr>
          <p:cNvPr id="41" name="Text 39"/>
          <p:cNvSpPr/>
          <p:nvPr/>
        </p:nvSpPr>
        <p:spPr>
          <a:xfrm>
            <a:off x="876300" y="9572625"/>
            <a:ext cx="8551768"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8A8778"/>
                </a:solidFill>
                <a:latin typeface="Courier New" pitchFamily="34" charset="0"/>
                <a:ea typeface="Courier New" pitchFamily="34" charset="-122"/>
                <a:cs typeface="Courier New" pitchFamily="34" charset="-120"/>
              </a:rPr>
              <a:t>Bayesian Bias Detection · Statistics for Data Science</a:t>
            </a:r>
            <a:endParaRPr lang="en-US" sz="1800" dirty="0"/>
          </a:p>
        </p:txBody>
      </p:sp>
      <p:sp>
        <p:nvSpPr>
          <p:cNvPr id="42" name="Text 40"/>
          <p:cNvSpPr/>
          <p:nvPr/>
        </p:nvSpPr>
        <p:spPr>
          <a:xfrm>
            <a:off x="16384860" y="9572625"/>
            <a:ext cx="1103040"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8A8778"/>
                </a:solidFill>
                <a:latin typeface="Courier New" pitchFamily="34" charset="0"/>
                <a:ea typeface="Courier New" pitchFamily="34" charset="-122"/>
                <a:cs typeface="Courier New" pitchFamily="34" charset="-120"/>
              </a:rPr>
              <a:t>09 / 15</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0E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4F1EA"/>
          </a:solidFill>
          <a:ln/>
        </p:spPr>
      </p:sp>
      <p:sp>
        <p:nvSpPr>
          <p:cNvPr id="3" name="Shape 1"/>
          <p:cNvSpPr/>
          <p:nvPr/>
        </p:nvSpPr>
        <p:spPr>
          <a:xfrm>
            <a:off x="876300" y="2043113"/>
            <a:ext cx="16535400" cy="19050"/>
          </a:xfrm>
          <a:prstGeom prst="rect">
            <a:avLst/>
          </a:prstGeom>
          <a:solidFill>
            <a:srgbClr val="191A1D"/>
          </a:solidFill>
          <a:ln/>
        </p:spPr>
      </p:sp>
      <p:sp>
        <p:nvSpPr>
          <p:cNvPr id="4" name="Text 2"/>
          <p:cNvSpPr/>
          <p:nvPr/>
        </p:nvSpPr>
        <p:spPr>
          <a:xfrm>
            <a:off x="876300" y="723900"/>
            <a:ext cx="6927756" cy="333375"/>
          </a:xfrm>
          <a:prstGeom prst="rect">
            <a:avLst/>
          </a:prstGeom>
          <a:noFill/>
          <a:ln/>
        </p:spPr>
        <p:txBody>
          <a:bodyPr wrap="square" lIns="25400" tIns="25400" rIns="25400" bIns="25400" rtlCol="0" anchor="t">
            <a:normAutofit/>
          </a:bodyPr>
          <a:lstStyle/>
          <a:p>
            <a:pPr algn="l" indent="0" marL="0">
              <a:buNone/>
            </a:pPr>
            <a:r>
              <a:rPr lang="en-US" sz="1800" spc="225" kern="0" dirty="0">
                <a:solidFill>
                  <a:srgbClr val="2E3F66"/>
                </a:solidFill>
                <a:latin typeface="Courier New" pitchFamily="34" charset="0"/>
                <a:ea typeface="Courier New" pitchFamily="34" charset="-122"/>
                <a:cs typeface="Courier New" pitchFamily="34" charset="-120"/>
              </a:rPr>
              <a:t>EXPERIMENT A · 10 · REPRODUCES TABLE 3</a:t>
            </a:r>
            <a:endParaRPr lang="en-US" sz="1800" dirty="0"/>
          </a:p>
        </p:txBody>
      </p:sp>
      <p:sp>
        <p:nvSpPr>
          <p:cNvPr id="5" name="Text 3"/>
          <p:cNvSpPr/>
          <p:nvPr/>
        </p:nvSpPr>
        <p:spPr>
          <a:xfrm>
            <a:off x="876300" y="1133475"/>
            <a:ext cx="6927756" cy="757238"/>
          </a:xfrm>
          <a:prstGeom prst="rect">
            <a:avLst/>
          </a:prstGeom>
          <a:noFill/>
          <a:ln/>
        </p:spPr>
        <p:txBody>
          <a:bodyPr wrap="square" lIns="25400" tIns="25400" rIns="25400" bIns="25400" rtlCol="0" anchor="t">
            <a:normAutofit/>
          </a:bodyPr>
          <a:lstStyle/>
          <a:p>
            <a:pPr algn="l" indent="0" marL="0">
              <a:buNone/>
            </a:pPr>
            <a:r>
              <a:rPr lang="en-US" sz="4350" b="1" dirty="0">
                <a:solidFill>
                  <a:srgbClr val="191A1D"/>
                </a:solidFill>
                <a:latin typeface="Georgia" pitchFamily="34" charset="0"/>
                <a:ea typeface="Georgia" pitchFamily="34" charset="-122"/>
                <a:cs typeface="Georgia" pitchFamily="34" charset="-120"/>
              </a:rPr>
              <a:t>English CrowS-Pairs</a:t>
            </a:r>
            <a:endParaRPr lang="en-US" sz="4350" dirty="0"/>
          </a:p>
        </p:txBody>
      </p:sp>
      <p:sp>
        <p:nvSpPr>
          <p:cNvPr id="6" name="Shape 4"/>
          <p:cNvSpPr/>
          <p:nvPr/>
        </p:nvSpPr>
        <p:spPr>
          <a:xfrm>
            <a:off x="14744179" y="1633538"/>
            <a:ext cx="142875" cy="142875"/>
          </a:xfrm>
          <a:prstGeom prst="ellipse">
            <a:avLst/>
          </a:prstGeom>
          <a:solidFill>
            <a:srgbClr val="E15D48"/>
          </a:solidFill>
          <a:ln/>
        </p:spPr>
      </p:sp>
      <p:sp>
        <p:nvSpPr>
          <p:cNvPr id="7" name="Text 5"/>
          <p:cNvSpPr/>
          <p:nvPr/>
        </p:nvSpPr>
        <p:spPr>
          <a:xfrm>
            <a:off x="14982304" y="1557338"/>
            <a:ext cx="978545" cy="333375"/>
          </a:xfrm>
          <a:prstGeom prst="rect">
            <a:avLst/>
          </a:prstGeom>
          <a:noFill/>
          <a:ln/>
        </p:spPr>
        <p:txBody>
          <a:bodyPr wrap="square" lIns="0" tIns="0" rIns="0" bIns="0" rtlCol="0" anchor="t">
            <a:normAutofit/>
          </a:bodyPr>
          <a:lstStyle/>
          <a:p>
            <a:pPr algn="l" indent="0" marL="0">
              <a:buNone/>
            </a:pPr>
            <a:r>
              <a:rPr lang="en-US" sz="1800" dirty="0">
                <a:solidFill>
                  <a:srgbClr val="191A1D"/>
                </a:solidFill>
                <a:latin typeface="Arial" pitchFamily="34" charset="0"/>
                <a:ea typeface="Arial" pitchFamily="34" charset="-122"/>
                <a:cs typeface="Arial" pitchFamily="34" charset="-120"/>
              </a:rPr>
              <a:t>ChatGPT</a:t>
            </a:r>
            <a:endParaRPr lang="en-US" sz="1800" dirty="0"/>
          </a:p>
        </p:txBody>
      </p:sp>
      <p:sp>
        <p:nvSpPr>
          <p:cNvPr id="8" name="Shape 6"/>
          <p:cNvSpPr/>
          <p:nvPr/>
        </p:nvSpPr>
        <p:spPr>
          <a:xfrm>
            <a:off x="16132299" y="1633538"/>
            <a:ext cx="142875" cy="142875"/>
          </a:xfrm>
          <a:prstGeom prst="ellipse">
            <a:avLst/>
          </a:prstGeom>
          <a:solidFill>
            <a:srgbClr val="0E9C99"/>
          </a:solidFill>
          <a:ln/>
        </p:spPr>
      </p:sp>
      <p:sp>
        <p:nvSpPr>
          <p:cNvPr id="9" name="Text 7"/>
          <p:cNvSpPr/>
          <p:nvPr/>
        </p:nvSpPr>
        <p:spPr>
          <a:xfrm>
            <a:off x="16370424" y="1557338"/>
            <a:ext cx="1117476" cy="333375"/>
          </a:xfrm>
          <a:prstGeom prst="rect">
            <a:avLst/>
          </a:prstGeom>
          <a:noFill/>
          <a:ln/>
        </p:spPr>
        <p:txBody>
          <a:bodyPr wrap="square" lIns="0" tIns="0" rIns="0" bIns="0" rtlCol="0" anchor="t">
            <a:normAutofit/>
          </a:bodyPr>
          <a:lstStyle/>
          <a:p>
            <a:pPr algn="l" indent="0" marL="0">
              <a:buNone/>
            </a:pPr>
            <a:r>
              <a:rPr lang="en-US" sz="1800" dirty="0">
                <a:solidFill>
                  <a:srgbClr val="191A1D"/>
                </a:solidFill>
                <a:latin typeface="Arial" pitchFamily="34" charset="0"/>
                <a:ea typeface="Arial" pitchFamily="34" charset="-122"/>
                <a:cs typeface="Arial" pitchFamily="34" charset="-120"/>
              </a:rPr>
              <a:t>DeepSeek</a:t>
            </a:r>
            <a:endParaRPr lang="en-US" sz="1800" dirty="0"/>
          </a:p>
        </p:txBody>
      </p:sp>
      <p:sp>
        <p:nvSpPr>
          <p:cNvPr id="10" name="Text 8"/>
          <p:cNvSpPr/>
          <p:nvPr/>
        </p:nvSpPr>
        <p:spPr>
          <a:xfrm>
            <a:off x="971550" y="4076700"/>
            <a:ext cx="1836986"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565961"/>
                </a:solidFill>
                <a:latin typeface="Courier New" pitchFamily="34" charset="0"/>
                <a:ea typeface="Courier New" pitchFamily="34" charset="-122"/>
                <a:cs typeface="Courier New" pitchFamily="34" charset="-120"/>
              </a:rPr>
              <a:t>CATEGORY</a:t>
            </a:r>
            <a:endParaRPr lang="en-US" sz="1800" dirty="0"/>
          </a:p>
        </p:txBody>
      </p:sp>
      <p:sp>
        <p:nvSpPr>
          <p:cNvPr id="11" name="Shape 9"/>
          <p:cNvSpPr/>
          <p:nvPr/>
        </p:nvSpPr>
        <p:spPr>
          <a:xfrm>
            <a:off x="2827586" y="4448175"/>
            <a:ext cx="3870499" cy="19050"/>
          </a:xfrm>
          <a:prstGeom prst="rect">
            <a:avLst/>
          </a:prstGeom>
          <a:solidFill>
            <a:srgbClr val="E15D48"/>
          </a:solidFill>
          <a:ln/>
        </p:spPr>
      </p:sp>
      <p:sp>
        <p:nvSpPr>
          <p:cNvPr id="12" name="Text 10"/>
          <p:cNvSpPr/>
          <p:nvPr/>
        </p:nvSpPr>
        <p:spPr>
          <a:xfrm>
            <a:off x="2864778" y="4076700"/>
            <a:ext cx="3796114" cy="314325"/>
          </a:xfrm>
          <a:prstGeom prst="rect">
            <a:avLst/>
          </a:prstGeom>
          <a:noFill/>
          <a:ln/>
        </p:spPr>
        <p:txBody>
          <a:bodyPr wrap="square" lIns="25400" tIns="25400" rIns="25400" bIns="25400" rtlCol="0" anchor="ctr">
            <a:normAutofit/>
          </a:bodyPr>
          <a:lstStyle/>
          <a:p>
            <a:pPr algn="ctr" indent="0" marL="0">
              <a:buNone/>
            </a:pPr>
            <a:r>
              <a:rPr lang="en-US" sz="1800" b="1" dirty="0">
                <a:solidFill>
                  <a:srgbClr val="E15D48"/>
                </a:solidFill>
                <a:latin typeface="Arial" pitchFamily="34" charset="0"/>
                <a:ea typeface="Arial" pitchFamily="34" charset="-122"/>
                <a:cs typeface="Arial" pitchFamily="34" charset="-120"/>
              </a:rPr>
              <a:t>ChatGPT-3.5-Turbo</a:t>
            </a:r>
            <a:endParaRPr lang="en-US" sz="1800" dirty="0"/>
          </a:p>
        </p:txBody>
      </p:sp>
      <p:sp>
        <p:nvSpPr>
          <p:cNvPr id="13" name="Shape 11"/>
          <p:cNvSpPr/>
          <p:nvPr/>
        </p:nvSpPr>
        <p:spPr>
          <a:xfrm>
            <a:off x="6698084" y="4448175"/>
            <a:ext cx="3870796" cy="19050"/>
          </a:xfrm>
          <a:prstGeom prst="rect">
            <a:avLst/>
          </a:prstGeom>
          <a:solidFill>
            <a:srgbClr val="0E9C99"/>
          </a:solidFill>
          <a:ln/>
        </p:spPr>
      </p:sp>
      <p:sp>
        <p:nvSpPr>
          <p:cNvPr id="14" name="Text 12"/>
          <p:cNvSpPr/>
          <p:nvPr/>
        </p:nvSpPr>
        <p:spPr>
          <a:xfrm>
            <a:off x="6735272" y="4076700"/>
            <a:ext cx="3796420" cy="314325"/>
          </a:xfrm>
          <a:prstGeom prst="rect">
            <a:avLst/>
          </a:prstGeom>
          <a:noFill/>
          <a:ln/>
        </p:spPr>
        <p:txBody>
          <a:bodyPr wrap="square" lIns="25400" tIns="25400" rIns="25400" bIns="25400" rtlCol="0" anchor="ctr">
            <a:normAutofit/>
          </a:bodyPr>
          <a:lstStyle/>
          <a:p>
            <a:pPr algn="ctr" indent="0" marL="0">
              <a:buNone/>
            </a:pPr>
            <a:r>
              <a:rPr lang="en-US" sz="1800" b="1" dirty="0">
                <a:solidFill>
                  <a:srgbClr val="0E9C99"/>
                </a:solidFill>
                <a:latin typeface="Arial" pitchFamily="34" charset="0"/>
                <a:ea typeface="Arial" pitchFamily="34" charset="-122"/>
                <a:cs typeface="Arial" pitchFamily="34" charset="-120"/>
              </a:rPr>
              <a:t>DeepSeek-V3</a:t>
            </a:r>
            <a:endParaRPr lang="en-US" sz="1800" dirty="0"/>
          </a:p>
        </p:txBody>
      </p:sp>
      <p:sp>
        <p:nvSpPr>
          <p:cNvPr id="15" name="Shape 13"/>
          <p:cNvSpPr/>
          <p:nvPr/>
        </p:nvSpPr>
        <p:spPr>
          <a:xfrm>
            <a:off x="876300" y="4879181"/>
            <a:ext cx="9692580" cy="14288"/>
          </a:xfrm>
          <a:prstGeom prst="rect">
            <a:avLst/>
          </a:prstGeom>
          <a:solidFill>
            <a:srgbClr val="191A1D"/>
          </a:solidFill>
          <a:ln/>
        </p:spPr>
      </p:sp>
      <p:sp>
        <p:nvSpPr>
          <p:cNvPr id="16" name="Text 14"/>
          <p:cNvSpPr/>
          <p:nvPr/>
        </p:nvSpPr>
        <p:spPr>
          <a:xfrm>
            <a:off x="2846636" y="4524375"/>
            <a:ext cx="867966" cy="350044"/>
          </a:xfrm>
          <a:prstGeom prst="rect">
            <a:avLst/>
          </a:prstGeom>
          <a:noFill/>
          <a:ln/>
        </p:spPr>
        <p:txBody>
          <a:bodyPr wrap="square" lIns="25400" tIns="25400" rIns="25400" bIns="25400" rtlCol="0" anchor="ctr">
            <a:normAutofit/>
          </a:bodyPr>
          <a:lstStyle/>
          <a:p>
            <a:pPr algn="r" indent="0" marL="0">
              <a:buNone/>
            </a:pPr>
            <a:r>
              <a:rPr lang="en-US" sz="1800" dirty="0">
                <a:solidFill>
                  <a:srgbClr val="8A8778"/>
                </a:solidFill>
                <a:latin typeface="Courier New" pitchFamily="34" charset="0"/>
                <a:ea typeface="Courier New" pitchFamily="34" charset="-122"/>
                <a:cs typeface="Courier New" pitchFamily="34" charset="-120"/>
              </a:rPr>
              <a:t>SS</a:t>
            </a:r>
            <a:endParaRPr lang="en-US" sz="1800" dirty="0"/>
          </a:p>
        </p:txBody>
      </p:sp>
      <p:sp>
        <p:nvSpPr>
          <p:cNvPr id="17" name="Text 15"/>
          <p:cNvSpPr/>
          <p:nvPr/>
        </p:nvSpPr>
        <p:spPr>
          <a:xfrm>
            <a:off x="3828901" y="4524375"/>
            <a:ext cx="1483072" cy="350044"/>
          </a:xfrm>
          <a:prstGeom prst="rect">
            <a:avLst/>
          </a:prstGeom>
          <a:noFill/>
          <a:ln/>
        </p:spPr>
        <p:txBody>
          <a:bodyPr wrap="square" lIns="25400" tIns="25400" rIns="25400" bIns="25400" rtlCol="0" anchor="ctr">
            <a:normAutofit/>
          </a:bodyPr>
          <a:lstStyle/>
          <a:p>
            <a:pPr algn="r" indent="0" marL="0">
              <a:buNone/>
            </a:pPr>
            <a:r>
              <a:rPr lang="en-US" sz="1800" dirty="0">
                <a:solidFill>
                  <a:srgbClr val="8A8778"/>
                </a:solidFill>
                <a:latin typeface="Courier New" pitchFamily="34" charset="0"/>
                <a:ea typeface="Courier New" pitchFamily="34" charset="-122"/>
                <a:cs typeface="Courier New" pitchFamily="34" charset="-120"/>
              </a:rPr>
              <a:t>EBT</a:t>
            </a:r>
            <a:endParaRPr lang="en-US" sz="1800" dirty="0"/>
          </a:p>
        </p:txBody>
      </p:sp>
      <p:sp>
        <p:nvSpPr>
          <p:cNvPr id="18" name="Text 16"/>
          <p:cNvSpPr/>
          <p:nvPr/>
        </p:nvSpPr>
        <p:spPr>
          <a:xfrm>
            <a:off x="5426273" y="4524375"/>
            <a:ext cx="1176561" cy="350044"/>
          </a:xfrm>
          <a:prstGeom prst="rect">
            <a:avLst/>
          </a:prstGeom>
          <a:noFill/>
          <a:ln/>
        </p:spPr>
        <p:txBody>
          <a:bodyPr wrap="square" lIns="25400" tIns="25400" rIns="25400" bIns="25400" rtlCol="0" anchor="ctr">
            <a:normAutofit/>
          </a:bodyPr>
          <a:lstStyle/>
          <a:p>
            <a:pPr algn="r" indent="0" marL="0">
              <a:buNone/>
            </a:pPr>
            <a:r>
              <a:rPr lang="en-US" sz="1800" dirty="0">
                <a:solidFill>
                  <a:srgbClr val="8A8778"/>
                </a:solidFill>
                <a:latin typeface="Courier New" pitchFamily="34" charset="0"/>
                <a:ea typeface="Courier New" pitchFamily="34" charset="-122"/>
                <a:cs typeface="Courier New" pitchFamily="34" charset="-120"/>
              </a:rPr>
              <a:t>log₁₀BF</a:t>
            </a:r>
            <a:endParaRPr lang="en-US" sz="1800" dirty="0"/>
          </a:p>
        </p:txBody>
      </p:sp>
      <p:sp>
        <p:nvSpPr>
          <p:cNvPr id="19" name="Text 17"/>
          <p:cNvSpPr/>
          <p:nvPr/>
        </p:nvSpPr>
        <p:spPr>
          <a:xfrm>
            <a:off x="6717134" y="4524375"/>
            <a:ext cx="867966" cy="350044"/>
          </a:xfrm>
          <a:prstGeom prst="rect">
            <a:avLst/>
          </a:prstGeom>
          <a:noFill/>
          <a:ln/>
        </p:spPr>
        <p:txBody>
          <a:bodyPr wrap="square" lIns="25400" tIns="25400" rIns="25400" bIns="25400" rtlCol="0" anchor="ctr">
            <a:normAutofit/>
          </a:bodyPr>
          <a:lstStyle/>
          <a:p>
            <a:pPr algn="r" indent="0" marL="0">
              <a:buNone/>
            </a:pPr>
            <a:r>
              <a:rPr lang="en-US" sz="1800" dirty="0">
                <a:solidFill>
                  <a:srgbClr val="8A8778"/>
                </a:solidFill>
                <a:latin typeface="Courier New" pitchFamily="34" charset="0"/>
                <a:ea typeface="Courier New" pitchFamily="34" charset="-122"/>
                <a:cs typeface="Courier New" pitchFamily="34" charset="-120"/>
              </a:rPr>
              <a:t>SS</a:t>
            </a:r>
            <a:endParaRPr lang="en-US" sz="1800" dirty="0"/>
          </a:p>
        </p:txBody>
      </p:sp>
      <p:sp>
        <p:nvSpPr>
          <p:cNvPr id="20" name="Text 18"/>
          <p:cNvSpPr/>
          <p:nvPr/>
        </p:nvSpPr>
        <p:spPr>
          <a:xfrm>
            <a:off x="7699400" y="4524375"/>
            <a:ext cx="1483072" cy="350044"/>
          </a:xfrm>
          <a:prstGeom prst="rect">
            <a:avLst/>
          </a:prstGeom>
          <a:noFill/>
          <a:ln/>
        </p:spPr>
        <p:txBody>
          <a:bodyPr wrap="square" lIns="25400" tIns="25400" rIns="25400" bIns="25400" rtlCol="0" anchor="ctr">
            <a:normAutofit/>
          </a:bodyPr>
          <a:lstStyle/>
          <a:p>
            <a:pPr algn="r" indent="0" marL="0">
              <a:buNone/>
            </a:pPr>
            <a:r>
              <a:rPr lang="en-US" sz="1800" dirty="0">
                <a:solidFill>
                  <a:srgbClr val="8A8778"/>
                </a:solidFill>
                <a:latin typeface="Courier New" pitchFamily="34" charset="0"/>
                <a:ea typeface="Courier New" pitchFamily="34" charset="-122"/>
                <a:cs typeface="Courier New" pitchFamily="34" charset="-120"/>
              </a:rPr>
              <a:t>EBT</a:t>
            </a:r>
            <a:endParaRPr lang="en-US" sz="1800" dirty="0"/>
          </a:p>
        </p:txBody>
      </p:sp>
      <p:sp>
        <p:nvSpPr>
          <p:cNvPr id="21" name="Text 19"/>
          <p:cNvSpPr/>
          <p:nvPr/>
        </p:nvSpPr>
        <p:spPr>
          <a:xfrm>
            <a:off x="9296772" y="4524375"/>
            <a:ext cx="1176858" cy="350044"/>
          </a:xfrm>
          <a:prstGeom prst="rect">
            <a:avLst/>
          </a:prstGeom>
          <a:noFill/>
          <a:ln/>
        </p:spPr>
        <p:txBody>
          <a:bodyPr wrap="square" lIns="25400" tIns="25400" rIns="25400" bIns="25400" rtlCol="0" anchor="ctr">
            <a:normAutofit/>
          </a:bodyPr>
          <a:lstStyle/>
          <a:p>
            <a:pPr algn="r" indent="0" marL="0">
              <a:buNone/>
            </a:pPr>
            <a:r>
              <a:rPr lang="en-US" sz="1800" dirty="0">
                <a:solidFill>
                  <a:srgbClr val="8A8778"/>
                </a:solidFill>
                <a:latin typeface="Courier New" pitchFamily="34" charset="0"/>
                <a:ea typeface="Courier New" pitchFamily="34" charset="-122"/>
                <a:cs typeface="Courier New" pitchFamily="34" charset="-120"/>
              </a:rPr>
              <a:t>log₁₀BF</a:t>
            </a:r>
            <a:endParaRPr lang="en-US" sz="1800" dirty="0"/>
          </a:p>
        </p:txBody>
      </p:sp>
      <p:sp>
        <p:nvSpPr>
          <p:cNvPr id="22" name="Shape 20"/>
          <p:cNvSpPr/>
          <p:nvPr/>
        </p:nvSpPr>
        <p:spPr>
          <a:xfrm>
            <a:off x="876300" y="5438775"/>
            <a:ext cx="9692580" cy="9525"/>
          </a:xfrm>
          <a:prstGeom prst="rect">
            <a:avLst/>
          </a:prstGeom>
          <a:solidFill>
            <a:srgbClr val="E2DDD0"/>
          </a:solidFill>
          <a:ln/>
        </p:spPr>
      </p:sp>
      <p:sp>
        <p:nvSpPr>
          <p:cNvPr id="23" name="Text 21"/>
          <p:cNvSpPr/>
          <p:nvPr/>
        </p:nvSpPr>
        <p:spPr>
          <a:xfrm>
            <a:off x="971550" y="5017294"/>
            <a:ext cx="1836986" cy="345281"/>
          </a:xfrm>
          <a:prstGeom prst="rect">
            <a:avLst/>
          </a:prstGeom>
          <a:noFill/>
          <a:ln/>
        </p:spPr>
        <p:txBody>
          <a:bodyPr wrap="square" lIns="25400" tIns="25400" rIns="25400" bIns="25400" rtlCol="0" anchor="ctr">
            <a:normAutofit/>
          </a:bodyPr>
          <a:lstStyle/>
          <a:p>
            <a:pPr algn="l" indent="0" marL="0">
              <a:buNone/>
            </a:pPr>
            <a:r>
              <a:rPr lang="en-US" sz="1800" b="1" dirty="0">
                <a:solidFill>
                  <a:srgbClr val="191A1D"/>
                </a:solidFill>
                <a:latin typeface="Arial" pitchFamily="34" charset="0"/>
                <a:ea typeface="Arial" pitchFamily="34" charset="-122"/>
                <a:cs typeface="Arial" pitchFamily="34" charset="-120"/>
              </a:rPr>
              <a:t>Gender</a:t>
            </a:r>
            <a:endParaRPr lang="en-US" sz="1800" dirty="0"/>
          </a:p>
        </p:txBody>
      </p:sp>
      <p:sp>
        <p:nvSpPr>
          <p:cNvPr id="24" name="Text 22"/>
          <p:cNvSpPr/>
          <p:nvPr/>
        </p:nvSpPr>
        <p:spPr>
          <a:xfrm>
            <a:off x="2846636" y="5017294"/>
            <a:ext cx="867966" cy="345281"/>
          </a:xfrm>
          <a:prstGeom prst="rect">
            <a:avLst/>
          </a:prstGeom>
          <a:noFill/>
          <a:ln/>
        </p:spPr>
        <p:txBody>
          <a:bodyPr wrap="square" lIns="25400" tIns="25400" rIns="25400" bIns="25400" rtlCol="0" anchor="ctr">
            <a:normAutofit/>
          </a:bodyPr>
          <a:lstStyle/>
          <a:p>
            <a:pPr algn="r" indent="0" marL="0">
              <a:buNone/>
            </a:pPr>
            <a:r>
              <a:rPr lang="en-US" sz="1800" dirty="0">
                <a:solidFill>
                  <a:srgbClr val="191A1D"/>
                </a:solidFill>
                <a:latin typeface="Courier New" pitchFamily="34" charset="0"/>
                <a:ea typeface="Courier New" pitchFamily="34" charset="-122"/>
                <a:cs typeface="Courier New" pitchFamily="34" charset="-120"/>
              </a:rPr>
              <a:t>0.759</a:t>
            </a:r>
            <a:endParaRPr lang="en-US" sz="1800" dirty="0"/>
          </a:p>
        </p:txBody>
      </p:sp>
      <p:sp>
        <p:nvSpPr>
          <p:cNvPr id="25" name="Text 23"/>
          <p:cNvSpPr/>
          <p:nvPr/>
        </p:nvSpPr>
        <p:spPr>
          <a:xfrm>
            <a:off x="3828901" y="5017294"/>
            <a:ext cx="1483072" cy="345281"/>
          </a:xfrm>
          <a:prstGeom prst="rect">
            <a:avLst/>
          </a:prstGeom>
          <a:noFill/>
          <a:ln/>
        </p:spPr>
        <p:txBody>
          <a:bodyPr wrap="square" lIns="25400" tIns="25400" rIns="25400" bIns="25400" rtlCol="0" anchor="ctr">
            <a:normAutofit/>
          </a:bodyPr>
          <a:lstStyle/>
          <a:p>
            <a:pPr algn="r" indent="0" marL="0">
              <a:buNone/>
            </a:pPr>
            <a:r>
              <a:rPr lang="en-US" sz="1800" dirty="0">
                <a:solidFill>
                  <a:srgbClr val="191A1D"/>
                </a:solidFill>
                <a:latin typeface="Courier New" pitchFamily="34" charset="0"/>
                <a:ea typeface="Courier New" pitchFamily="34" charset="-122"/>
                <a:cs typeface="Courier New" pitchFamily="34" charset="-120"/>
              </a:rPr>
              <a:t>3.4e-21**</a:t>
            </a:r>
            <a:endParaRPr lang="en-US" sz="1800" dirty="0"/>
          </a:p>
        </p:txBody>
      </p:sp>
      <p:sp>
        <p:nvSpPr>
          <p:cNvPr id="26" name="Text 24"/>
          <p:cNvSpPr/>
          <p:nvPr/>
        </p:nvSpPr>
        <p:spPr>
          <a:xfrm>
            <a:off x="5426273" y="5017294"/>
            <a:ext cx="1176561" cy="345281"/>
          </a:xfrm>
          <a:prstGeom prst="rect">
            <a:avLst/>
          </a:prstGeom>
          <a:noFill/>
          <a:ln/>
        </p:spPr>
        <p:txBody>
          <a:bodyPr wrap="square" lIns="25400" tIns="25400" rIns="25400" bIns="25400" rtlCol="0" anchor="ctr">
            <a:normAutofit/>
          </a:bodyPr>
          <a:lstStyle/>
          <a:p>
            <a:pPr algn="r" indent="0" marL="0">
              <a:buNone/>
            </a:pPr>
            <a:r>
              <a:rPr lang="en-US" sz="1800" b="1" dirty="0">
                <a:solidFill>
                  <a:srgbClr val="191A1D"/>
                </a:solidFill>
                <a:latin typeface="Courier New" pitchFamily="34" charset="0"/>
                <a:ea typeface="Courier New" pitchFamily="34" charset="-122"/>
                <a:cs typeface="Courier New" pitchFamily="34" charset="-120"/>
              </a:rPr>
              <a:t>18.42</a:t>
            </a:r>
            <a:endParaRPr lang="en-US" sz="1800" dirty="0"/>
          </a:p>
        </p:txBody>
      </p:sp>
      <p:sp>
        <p:nvSpPr>
          <p:cNvPr id="27" name="Text 25"/>
          <p:cNvSpPr/>
          <p:nvPr/>
        </p:nvSpPr>
        <p:spPr>
          <a:xfrm>
            <a:off x="6717134" y="5017294"/>
            <a:ext cx="867966" cy="345281"/>
          </a:xfrm>
          <a:prstGeom prst="rect">
            <a:avLst/>
          </a:prstGeom>
          <a:noFill/>
          <a:ln/>
        </p:spPr>
        <p:txBody>
          <a:bodyPr wrap="square" lIns="25400" tIns="25400" rIns="25400" bIns="25400" rtlCol="0" anchor="ctr">
            <a:normAutofit/>
          </a:bodyPr>
          <a:lstStyle/>
          <a:p>
            <a:pPr algn="r" indent="0" marL="0">
              <a:buNone/>
            </a:pPr>
            <a:r>
              <a:rPr lang="en-US" sz="1800" dirty="0">
                <a:solidFill>
                  <a:srgbClr val="191A1D"/>
                </a:solidFill>
                <a:latin typeface="Courier New" pitchFamily="34" charset="0"/>
                <a:ea typeface="Courier New" pitchFamily="34" charset="-122"/>
                <a:cs typeface="Courier New" pitchFamily="34" charset="-120"/>
              </a:rPr>
              <a:t>0.578</a:t>
            </a:r>
            <a:endParaRPr lang="en-US" sz="1800" dirty="0"/>
          </a:p>
        </p:txBody>
      </p:sp>
      <p:sp>
        <p:nvSpPr>
          <p:cNvPr id="28" name="Text 26"/>
          <p:cNvSpPr/>
          <p:nvPr/>
        </p:nvSpPr>
        <p:spPr>
          <a:xfrm>
            <a:off x="7699400" y="5017294"/>
            <a:ext cx="1483072" cy="345281"/>
          </a:xfrm>
          <a:prstGeom prst="rect">
            <a:avLst/>
          </a:prstGeom>
          <a:noFill/>
          <a:ln/>
        </p:spPr>
        <p:txBody>
          <a:bodyPr wrap="square" lIns="25400" tIns="25400" rIns="25400" bIns="25400" rtlCol="0" anchor="ctr">
            <a:normAutofit/>
          </a:bodyPr>
          <a:lstStyle/>
          <a:p>
            <a:pPr algn="r" indent="0" marL="0">
              <a:buNone/>
            </a:pPr>
            <a:r>
              <a:rPr lang="en-US" sz="1800" dirty="0">
                <a:solidFill>
                  <a:srgbClr val="191A1D"/>
                </a:solidFill>
                <a:latin typeface="Courier New" pitchFamily="34" charset="0"/>
                <a:ea typeface="Courier New" pitchFamily="34" charset="-122"/>
                <a:cs typeface="Courier New" pitchFamily="34" charset="-120"/>
              </a:rPr>
              <a:t>6.1e-3**</a:t>
            </a:r>
            <a:endParaRPr lang="en-US" sz="1800" dirty="0"/>
          </a:p>
        </p:txBody>
      </p:sp>
      <p:sp>
        <p:nvSpPr>
          <p:cNvPr id="29" name="Text 27"/>
          <p:cNvSpPr/>
          <p:nvPr/>
        </p:nvSpPr>
        <p:spPr>
          <a:xfrm>
            <a:off x="9296772" y="5017294"/>
            <a:ext cx="1176858" cy="345281"/>
          </a:xfrm>
          <a:prstGeom prst="rect">
            <a:avLst/>
          </a:prstGeom>
          <a:noFill/>
          <a:ln/>
        </p:spPr>
        <p:txBody>
          <a:bodyPr wrap="square" lIns="25400" tIns="25400" rIns="25400" bIns="25400" rtlCol="0" anchor="ctr">
            <a:normAutofit/>
          </a:bodyPr>
          <a:lstStyle/>
          <a:p>
            <a:pPr algn="r" indent="0" marL="0">
              <a:buNone/>
            </a:pPr>
            <a:r>
              <a:rPr lang="en-US" sz="1800" b="1" dirty="0">
                <a:solidFill>
                  <a:srgbClr val="191A1D"/>
                </a:solidFill>
                <a:latin typeface="Courier New" pitchFamily="34" charset="0"/>
                <a:ea typeface="Courier New" pitchFamily="34" charset="-122"/>
                <a:cs typeface="Courier New" pitchFamily="34" charset="-120"/>
              </a:rPr>
              <a:t>0.54</a:t>
            </a:r>
            <a:endParaRPr lang="en-US" sz="1800" dirty="0"/>
          </a:p>
        </p:txBody>
      </p:sp>
      <p:sp>
        <p:nvSpPr>
          <p:cNvPr id="30" name="Shape 28"/>
          <p:cNvSpPr/>
          <p:nvPr/>
        </p:nvSpPr>
        <p:spPr>
          <a:xfrm>
            <a:off x="876300" y="5448300"/>
            <a:ext cx="9692580" cy="552450"/>
          </a:xfrm>
          <a:prstGeom prst="rect">
            <a:avLst/>
          </a:prstGeom>
          <a:solidFill>
            <a:srgbClr val="EFE7E0"/>
          </a:solidFill>
          <a:ln/>
        </p:spPr>
      </p:sp>
      <p:sp>
        <p:nvSpPr>
          <p:cNvPr id="31" name="Shape 29"/>
          <p:cNvSpPr/>
          <p:nvPr/>
        </p:nvSpPr>
        <p:spPr>
          <a:xfrm>
            <a:off x="876300" y="5991225"/>
            <a:ext cx="9692580" cy="9525"/>
          </a:xfrm>
          <a:prstGeom prst="rect">
            <a:avLst/>
          </a:prstGeom>
          <a:solidFill>
            <a:srgbClr val="E2DDD0"/>
          </a:solidFill>
          <a:ln/>
        </p:spPr>
      </p:sp>
      <p:sp>
        <p:nvSpPr>
          <p:cNvPr id="32" name="Text 30"/>
          <p:cNvSpPr/>
          <p:nvPr/>
        </p:nvSpPr>
        <p:spPr>
          <a:xfrm>
            <a:off x="971550" y="5572125"/>
            <a:ext cx="1836986" cy="342900"/>
          </a:xfrm>
          <a:prstGeom prst="rect">
            <a:avLst/>
          </a:prstGeom>
          <a:noFill/>
          <a:ln/>
        </p:spPr>
        <p:txBody>
          <a:bodyPr wrap="square" lIns="25400" tIns="25400" rIns="25400" bIns="25400" rtlCol="0" anchor="ctr">
            <a:normAutofit/>
          </a:bodyPr>
          <a:lstStyle/>
          <a:p>
            <a:pPr algn="l" indent="0" marL="0">
              <a:buNone/>
            </a:pPr>
            <a:r>
              <a:rPr lang="en-US" sz="1800" b="1" dirty="0">
                <a:solidFill>
                  <a:srgbClr val="191A1D"/>
                </a:solidFill>
                <a:latin typeface="Arial" pitchFamily="34" charset="0"/>
                <a:ea typeface="Arial" pitchFamily="34" charset="-122"/>
                <a:cs typeface="Arial" pitchFamily="34" charset="-120"/>
              </a:rPr>
              <a:t>Physical app.</a:t>
            </a:r>
            <a:endParaRPr lang="en-US" sz="1800" dirty="0"/>
          </a:p>
        </p:txBody>
      </p:sp>
      <p:sp>
        <p:nvSpPr>
          <p:cNvPr id="33" name="Text 31"/>
          <p:cNvSpPr/>
          <p:nvPr/>
        </p:nvSpPr>
        <p:spPr>
          <a:xfrm>
            <a:off x="2846636" y="5572125"/>
            <a:ext cx="867966" cy="342900"/>
          </a:xfrm>
          <a:prstGeom prst="rect">
            <a:avLst/>
          </a:prstGeom>
          <a:noFill/>
          <a:ln/>
        </p:spPr>
        <p:txBody>
          <a:bodyPr wrap="square" lIns="25400" tIns="25400" rIns="25400" bIns="25400" rtlCol="0" anchor="ctr">
            <a:normAutofit/>
          </a:bodyPr>
          <a:lstStyle/>
          <a:p>
            <a:pPr algn="r" indent="0" marL="0">
              <a:buNone/>
            </a:pPr>
            <a:r>
              <a:rPr lang="en-US" sz="1800" dirty="0">
                <a:solidFill>
                  <a:srgbClr val="191A1D"/>
                </a:solidFill>
                <a:latin typeface="Courier New" pitchFamily="34" charset="0"/>
                <a:ea typeface="Courier New" pitchFamily="34" charset="-122"/>
                <a:cs typeface="Courier New" pitchFamily="34" charset="-120"/>
              </a:rPr>
              <a:t>0.887</a:t>
            </a:r>
            <a:endParaRPr lang="en-US" sz="1800" dirty="0"/>
          </a:p>
        </p:txBody>
      </p:sp>
      <p:sp>
        <p:nvSpPr>
          <p:cNvPr id="34" name="Text 32"/>
          <p:cNvSpPr/>
          <p:nvPr/>
        </p:nvSpPr>
        <p:spPr>
          <a:xfrm>
            <a:off x="3828901" y="5572125"/>
            <a:ext cx="1483072" cy="342900"/>
          </a:xfrm>
          <a:prstGeom prst="rect">
            <a:avLst/>
          </a:prstGeom>
          <a:noFill/>
          <a:ln/>
        </p:spPr>
        <p:txBody>
          <a:bodyPr wrap="square" lIns="25400" tIns="25400" rIns="25400" bIns="25400" rtlCol="0" anchor="ctr">
            <a:normAutofit/>
          </a:bodyPr>
          <a:lstStyle/>
          <a:p>
            <a:pPr algn="r" indent="0" marL="0">
              <a:buNone/>
            </a:pPr>
            <a:r>
              <a:rPr lang="en-US" sz="1800" dirty="0">
                <a:solidFill>
                  <a:srgbClr val="191A1D"/>
                </a:solidFill>
                <a:latin typeface="Courier New" pitchFamily="34" charset="0"/>
                <a:ea typeface="Courier New" pitchFamily="34" charset="-122"/>
                <a:cs typeface="Courier New" pitchFamily="34" charset="-120"/>
              </a:rPr>
              <a:t>1.0e-11**</a:t>
            </a:r>
            <a:endParaRPr lang="en-US" sz="1800" dirty="0"/>
          </a:p>
        </p:txBody>
      </p:sp>
      <p:sp>
        <p:nvSpPr>
          <p:cNvPr id="35" name="Text 33"/>
          <p:cNvSpPr/>
          <p:nvPr/>
        </p:nvSpPr>
        <p:spPr>
          <a:xfrm>
            <a:off x="5426273" y="5572125"/>
            <a:ext cx="1176561" cy="342900"/>
          </a:xfrm>
          <a:prstGeom prst="rect">
            <a:avLst/>
          </a:prstGeom>
          <a:noFill/>
          <a:ln/>
        </p:spPr>
        <p:txBody>
          <a:bodyPr wrap="square" lIns="25400" tIns="25400" rIns="25400" bIns="25400" rtlCol="0" anchor="ctr">
            <a:normAutofit/>
          </a:bodyPr>
          <a:lstStyle/>
          <a:p>
            <a:pPr algn="r" indent="0" marL="0">
              <a:buNone/>
            </a:pPr>
            <a:r>
              <a:rPr lang="en-US" sz="1800" b="1" dirty="0">
                <a:solidFill>
                  <a:srgbClr val="191A1D"/>
                </a:solidFill>
                <a:latin typeface="Courier New" pitchFamily="34" charset="0"/>
                <a:ea typeface="Courier New" pitchFamily="34" charset="-122"/>
                <a:cs typeface="Courier New" pitchFamily="34" charset="-120"/>
              </a:rPr>
              <a:t>9.49</a:t>
            </a:r>
            <a:endParaRPr lang="en-US" sz="1800" dirty="0"/>
          </a:p>
        </p:txBody>
      </p:sp>
      <p:sp>
        <p:nvSpPr>
          <p:cNvPr id="36" name="Text 34"/>
          <p:cNvSpPr/>
          <p:nvPr/>
        </p:nvSpPr>
        <p:spPr>
          <a:xfrm>
            <a:off x="6717134" y="5572125"/>
            <a:ext cx="867966" cy="342900"/>
          </a:xfrm>
          <a:prstGeom prst="rect">
            <a:avLst/>
          </a:prstGeom>
          <a:noFill/>
          <a:ln/>
        </p:spPr>
        <p:txBody>
          <a:bodyPr wrap="square" lIns="25400" tIns="25400" rIns="25400" bIns="25400" rtlCol="0" anchor="ctr">
            <a:normAutofit/>
          </a:bodyPr>
          <a:lstStyle/>
          <a:p>
            <a:pPr algn="r" indent="0" marL="0">
              <a:buNone/>
            </a:pPr>
            <a:r>
              <a:rPr lang="en-US" sz="1800" dirty="0">
                <a:solidFill>
                  <a:srgbClr val="191A1D"/>
                </a:solidFill>
                <a:latin typeface="Courier New" pitchFamily="34" charset="0"/>
                <a:ea typeface="Courier New" pitchFamily="34" charset="-122"/>
                <a:cs typeface="Courier New" pitchFamily="34" charset="-120"/>
              </a:rPr>
              <a:t>0.611</a:t>
            </a:r>
            <a:endParaRPr lang="en-US" sz="1800" dirty="0"/>
          </a:p>
        </p:txBody>
      </p:sp>
      <p:sp>
        <p:nvSpPr>
          <p:cNvPr id="37" name="Text 35"/>
          <p:cNvSpPr/>
          <p:nvPr/>
        </p:nvSpPr>
        <p:spPr>
          <a:xfrm>
            <a:off x="7699400" y="5572125"/>
            <a:ext cx="1483072" cy="342900"/>
          </a:xfrm>
          <a:prstGeom prst="rect">
            <a:avLst/>
          </a:prstGeom>
          <a:noFill/>
          <a:ln/>
        </p:spPr>
        <p:txBody>
          <a:bodyPr wrap="square" lIns="25400" tIns="25400" rIns="25400" bIns="25400" rtlCol="0" anchor="ctr">
            <a:normAutofit/>
          </a:bodyPr>
          <a:lstStyle/>
          <a:p>
            <a:pPr algn="r" indent="0" marL="0">
              <a:buNone/>
            </a:pPr>
            <a:r>
              <a:rPr lang="en-US" sz="1800" dirty="0">
                <a:solidFill>
                  <a:srgbClr val="8A8778"/>
                </a:solidFill>
                <a:latin typeface="Courier New" pitchFamily="34" charset="0"/>
                <a:ea typeface="Courier New" pitchFamily="34" charset="-122"/>
                <a:cs typeface="Courier New" pitchFamily="34" charset="-120"/>
              </a:rPr>
              <a:t>0.076</a:t>
            </a:r>
            <a:endParaRPr lang="en-US" sz="1800" dirty="0"/>
          </a:p>
        </p:txBody>
      </p:sp>
      <p:sp>
        <p:nvSpPr>
          <p:cNvPr id="38" name="Text 36"/>
          <p:cNvSpPr/>
          <p:nvPr/>
        </p:nvSpPr>
        <p:spPr>
          <a:xfrm>
            <a:off x="9296772" y="5572125"/>
            <a:ext cx="1176858" cy="342900"/>
          </a:xfrm>
          <a:prstGeom prst="rect">
            <a:avLst/>
          </a:prstGeom>
          <a:noFill/>
          <a:ln/>
        </p:spPr>
        <p:txBody>
          <a:bodyPr wrap="square" lIns="25400" tIns="25400" rIns="25400" bIns="25400" rtlCol="0" anchor="ctr">
            <a:normAutofit/>
          </a:bodyPr>
          <a:lstStyle/>
          <a:p>
            <a:pPr algn="r" indent="0" marL="0">
              <a:buNone/>
            </a:pPr>
            <a:r>
              <a:rPr lang="en-US" sz="1800" b="1" dirty="0">
                <a:solidFill>
                  <a:srgbClr val="0E9C99"/>
                </a:solidFill>
                <a:latin typeface="Courier New" pitchFamily="34" charset="0"/>
                <a:ea typeface="Courier New" pitchFamily="34" charset="-122"/>
                <a:cs typeface="Courier New" pitchFamily="34" charset="-120"/>
              </a:rPr>
              <a:t>−0.07</a:t>
            </a:r>
            <a:endParaRPr lang="en-US" sz="1800" dirty="0"/>
          </a:p>
        </p:txBody>
      </p:sp>
      <p:sp>
        <p:nvSpPr>
          <p:cNvPr id="39" name="Shape 37"/>
          <p:cNvSpPr/>
          <p:nvPr/>
        </p:nvSpPr>
        <p:spPr>
          <a:xfrm>
            <a:off x="876300" y="6543675"/>
            <a:ext cx="9692580" cy="9525"/>
          </a:xfrm>
          <a:prstGeom prst="rect">
            <a:avLst/>
          </a:prstGeom>
          <a:solidFill>
            <a:srgbClr val="E2DDD0"/>
          </a:solidFill>
          <a:ln/>
        </p:spPr>
      </p:sp>
      <p:sp>
        <p:nvSpPr>
          <p:cNvPr id="40" name="Text 38"/>
          <p:cNvSpPr/>
          <p:nvPr/>
        </p:nvSpPr>
        <p:spPr>
          <a:xfrm>
            <a:off x="971550" y="6124575"/>
            <a:ext cx="1836986" cy="342900"/>
          </a:xfrm>
          <a:prstGeom prst="rect">
            <a:avLst/>
          </a:prstGeom>
          <a:noFill/>
          <a:ln/>
        </p:spPr>
        <p:txBody>
          <a:bodyPr wrap="square" lIns="25400" tIns="25400" rIns="25400" bIns="25400" rtlCol="0" anchor="ctr">
            <a:normAutofit/>
          </a:bodyPr>
          <a:lstStyle/>
          <a:p>
            <a:pPr algn="l" indent="0" marL="0">
              <a:buNone/>
            </a:pPr>
            <a:r>
              <a:rPr lang="en-US" sz="1800" b="1" dirty="0">
                <a:solidFill>
                  <a:srgbClr val="191A1D"/>
                </a:solidFill>
                <a:latin typeface="Arial" pitchFamily="34" charset="0"/>
                <a:ea typeface="Arial" pitchFamily="34" charset="-122"/>
                <a:cs typeface="Arial" pitchFamily="34" charset="-120"/>
              </a:rPr>
              <a:t>Race</a:t>
            </a:r>
            <a:endParaRPr lang="en-US" sz="1800" dirty="0"/>
          </a:p>
        </p:txBody>
      </p:sp>
      <p:sp>
        <p:nvSpPr>
          <p:cNvPr id="41" name="Text 39"/>
          <p:cNvSpPr/>
          <p:nvPr/>
        </p:nvSpPr>
        <p:spPr>
          <a:xfrm>
            <a:off x="2846636" y="6124575"/>
            <a:ext cx="867966" cy="342900"/>
          </a:xfrm>
          <a:prstGeom prst="rect">
            <a:avLst/>
          </a:prstGeom>
          <a:noFill/>
          <a:ln/>
        </p:spPr>
        <p:txBody>
          <a:bodyPr wrap="square" lIns="25400" tIns="25400" rIns="25400" bIns="25400" rtlCol="0" anchor="ctr">
            <a:normAutofit/>
          </a:bodyPr>
          <a:lstStyle/>
          <a:p>
            <a:pPr algn="r" indent="0" marL="0">
              <a:buNone/>
            </a:pPr>
            <a:r>
              <a:rPr lang="en-US" sz="1800" dirty="0">
                <a:solidFill>
                  <a:srgbClr val="191A1D"/>
                </a:solidFill>
                <a:latin typeface="Courier New" pitchFamily="34" charset="0"/>
                <a:ea typeface="Courier New" pitchFamily="34" charset="-122"/>
                <a:cs typeface="Courier New" pitchFamily="34" charset="-120"/>
              </a:rPr>
              <a:t>0.772</a:t>
            </a:r>
            <a:endParaRPr lang="en-US" sz="1800" dirty="0"/>
          </a:p>
        </p:txBody>
      </p:sp>
      <p:sp>
        <p:nvSpPr>
          <p:cNvPr id="42" name="Text 40"/>
          <p:cNvSpPr/>
          <p:nvPr/>
        </p:nvSpPr>
        <p:spPr>
          <a:xfrm>
            <a:off x="3828901" y="6124575"/>
            <a:ext cx="1483072" cy="342900"/>
          </a:xfrm>
          <a:prstGeom prst="rect">
            <a:avLst/>
          </a:prstGeom>
          <a:noFill/>
          <a:ln/>
        </p:spPr>
        <p:txBody>
          <a:bodyPr wrap="square" lIns="25400" tIns="25400" rIns="25400" bIns="25400" rtlCol="0" anchor="ctr">
            <a:normAutofit/>
          </a:bodyPr>
          <a:lstStyle/>
          <a:p>
            <a:pPr algn="r" indent="0" marL="0">
              <a:buNone/>
            </a:pPr>
            <a:r>
              <a:rPr lang="en-US" sz="1800" dirty="0">
                <a:solidFill>
                  <a:srgbClr val="191A1D"/>
                </a:solidFill>
                <a:latin typeface="Courier New" pitchFamily="34" charset="0"/>
                <a:ea typeface="Courier New" pitchFamily="34" charset="-122"/>
                <a:cs typeface="Courier New" pitchFamily="34" charset="-120"/>
              </a:rPr>
              <a:t>5.3e-36**</a:t>
            </a:r>
            <a:endParaRPr lang="en-US" sz="1800" dirty="0"/>
          </a:p>
        </p:txBody>
      </p:sp>
      <p:sp>
        <p:nvSpPr>
          <p:cNvPr id="43" name="Text 41"/>
          <p:cNvSpPr/>
          <p:nvPr/>
        </p:nvSpPr>
        <p:spPr>
          <a:xfrm>
            <a:off x="5426273" y="6124575"/>
            <a:ext cx="1176561" cy="342900"/>
          </a:xfrm>
          <a:prstGeom prst="rect">
            <a:avLst/>
          </a:prstGeom>
          <a:noFill/>
          <a:ln/>
        </p:spPr>
        <p:txBody>
          <a:bodyPr wrap="square" lIns="25400" tIns="25400" rIns="25400" bIns="25400" rtlCol="0" anchor="ctr">
            <a:normAutofit/>
          </a:bodyPr>
          <a:lstStyle/>
          <a:p>
            <a:pPr algn="r" indent="0" marL="0">
              <a:buNone/>
            </a:pPr>
            <a:r>
              <a:rPr lang="en-US" sz="1800" b="1" dirty="0">
                <a:solidFill>
                  <a:srgbClr val="191A1D"/>
                </a:solidFill>
                <a:latin typeface="Courier New" pitchFamily="34" charset="0"/>
                <a:ea typeface="Courier New" pitchFamily="34" charset="-122"/>
                <a:cs typeface="Courier New" pitchFamily="34" charset="-120"/>
              </a:rPr>
              <a:t>33.02</a:t>
            </a:r>
            <a:endParaRPr lang="en-US" sz="1800" dirty="0"/>
          </a:p>
        </p:txBody>
      </p:sp>
      <p:sp>
        <p:nvSpPr>
          <p:cNvPr id="44" name="Text 42"/>
          <p:cNvSpPr/>
          <p:nvPr/>
        </p:nvSpPr>
        <p:spPr>
          <a:xfrm>
            <a:off x="6717134" y="6124575"/>
            <a:ext cx="867966" cy="342900"/>
          </a:xfrm>
          <a:prstGeom prst="rect">
            <a:avLst/>
          </a:prstGeom>
          <a:noFill/>
          <a:ln/>
        </p:spPr>
        <p:txBody>
          <a:bodyPr wrap="square" lIns="25400" tIns="25400" rIns="25400" bIns="25400" rtlCol="0" anchor="ctr">
            <a:normAutofit/>
          </a:bodyPr>
          <a:lstStyle/>
          <a:p>
            <a:pPr algn="r" indent="0" marL="0">
              <a:buNone/>
            </a:pPr>
            <a:r>
              <a:rPr lang="en-US" sz="1800" dirty="0">
                <a:solidFill>
                  <a:srgbClr val="191A1D"/>
                </a:solidFill>
                <a:latin typeface="Courier New" pitchFamily="34" charset="0"/>
                <a:ea typeface="Courier New" pitchFamily="34" charset="-122"/>
                <a:cs typeface="Courier New" pitchFamily="34" charset="-120"/>
              </a:rPr>
              <a:t>0.675</a:t>
            </a:r>
            <a:endParaRPr lang="en-US" sz="1800" dirty="0"/>
          </a:p>
        </p:txBody>
      </p:sp>
      <p:sp>
        <p:nvSpPr>
          <p:cNvPr id="45" name="Text 43"/>
          <p:cNvSpPr/>
          <p:nvPr/>
        </p:nvSpPr>
        <p:spPr>
          <a:xfrm>
            <a:off x="7699400" y="6124575"/>
            <a:ext cx="1483072" cy="342900"/>
          </a:xfrm>
          <a:prstGeom prst="rect">
            <a:avLst/>
          </a:prstGeom>
          <a:noFill/>
          <a:ln/>
        </p:spPr>
        <p:txBody>
          <a:bodyPr wrap="square" lIns="25400" tIns="25400" rIns="25400" bIns="25400" rtlCol="0" anchor="ctr">
            <a:normAutofit/>
          </a:bodyPr>
          <a:lstStyle/>
          <a:p>
            <a:pPr algn="r" indent="0" marL="0">
              <a:buNone/>
            </a:pPr>
            <a:r>
              <a:rPr lang="en-US" sz="1800" dirty="0">
                <a:solidFill>
                  <a:srgbClr val="191A1D"/>
                </a:solidFill>
                <a:latin typeface="Courier New" pitchFamily="34" charset="0"/>
                <a:ea typeface="Courier New" pitchFamily="34" charset="-122"/>
                <a:cs typeface="Courier New" pitchFamily="34" charset="-120"/>
              </a:rPr>
              <a:t>2.1e-15**</a:t>
            </a:r>
            <a:endParaRPr lang="en-US" sz="1800" dirty="0"/>
          </a:p>
        </p:txBody>
      </p:sp>
      <p:sp>
        <p:nvSpPr>
          <p:cNvPr id="46" name="Text 44"/>
          <p:cNvSpPr/>
          <p:nvPr/>
        </p:nvSpPr>
        <p:spPr>
          <a:xfrm>
            <a:off x="9296772" y="6124575"/>
            <a:ext cx="1176858" cy="342900"/>
          </a:xfrm>
          <a:prstGeom prst="rect">
            <a:avLst/>
          </a:prstGeom>
          <a:noFill/>
          <a:ln/>
        </p:spPr>
        <p:txBody>
          <a:bodyPr wrap="square" lIns="25400" tIns="25400" rIns="25400" bIns="25400" rtlCol="0" anchor="ctr">
            <a:normAutofit/>
          </a:bodyPr>
          <a:lstStyle/>
          <a:p>
            <a:pPr algn="r" indent="0" marL="0">
              <a:buNone/>
            </a:pPr>
            <a:r>
              <a:rPr lang="en-US" sz="1800" b="1" dirty="0">
                <a:solidFill>
                  <a:srgbClr val="191A1D"/>
                </a:solidFill>
                <a:latin typeface="Courier New" pitchFamily="34" charset="0"/>
                <a:ea typeface="Courier New" pitchFamily="34" charset="-122"/>
                <a:cs typeface="Courier New" pitchFamily="34" charset="-120"/>
              </a:rPr>
              <a:t>12.55</a:t>
            </a:r>
            <a:endParaRPr lang="en-US" sz="1800" dirty="0"/>
          </a:p>
        </p:txBody>
      </p:sp>
      <p:sp>
        <p:nvSpPr>
          <p:cNvPr id="47" name="Shape 45"/>
          <p:cNvSpPr/>
          <p:nvPr/>
        </p:nvSpPr>
        <p:spPr>
          <a:xfrm>
            <a:off x="876300" y="7096125"/>
            <a:ext cx="9692580" cy="9525"/>
          </a:xfrm>
          <a:prstGeom prst="rect">
            <a:avLst/>
          </a:prstGeom>
          <a:solidFill>
            <a:srgbClr val="E2DDD0"/>
          </a:solidFill>
          <a:ln/>
        </p:spPr>
      </p:sp>
      <p:sp>
        <p:nvSpPr>
          <p:cNvPr id="48" name="Text 46"/>
          <p:cNvSpPr/>
          <p:nvPr/>
        </p:nvSpPr>
        <p:spPr>
          <a:xfrm>
            <a:off x="971550" y="6677025"/>
            <a:ext cx="1836986" cy="342900"/>
          </a:xfrm>
          <a:prstGeom prst="rect">
            <a:avLst/>
          </a:prstGeom>
          <a:noFill/>
          <a:ln/>
        </p:spPr>
        <p:txBody>
          <a:bodyPr wrap="square" lIns="25400" tIns="25400" rIns="25400" bIns="25400" rtlCol="0" anchor="ctr">
            <a:normAutofit/>
          </a:bodyPr>
          <a:lstStyle/>
          <a:p>
            <a:pPr algn="l" indent="0" marL="0">
              <a:buNone/>
            </a:pPr>
            <a:r>
              <a:rPr lang="en-US" sz="1800" b="1" dirty="0">
                <a:solidFill>
                  <a:srgbClr val="191A1D"/>
                </a:solidFill>
                <a:latin typeface="Arial" pitchFamily="34" charset="0"/>
                <a:ea typeface="Arial" pitchFamily="34" charset="-122"/>
                <a:cs typeface="Arial" pitchFamily="34" charset="-120"/>
              </a:rPr>
              <a:t>Religion</a:t>
            </a:r>
            <a:endParaRPr lang="en-US" sz="1800" dirty="0"/>
          </a:p>
        </p:txBody>
      </p:sp>
      <p:sp>
        <p:nvSpPr>
          <p:cNvPr id="49" name="Text 47"/>
          <p:cNvSpPr/>
          <p:nvPr/>
        </p:nvSpPr>
        <p:spPr>
          <a:xfrm>
            <a:off x="2846636" y="6677025"/>
            <a:ext cx="867966" cy="342900"/>
          </a:xfrm>
          <a:prstGeom prst="rect">
            <a:avLst/>
          </a:prstGeom>
          <a:noFill/>
          <a:ln/>
        </p:spPr>
        <p:txBody>
          <a:bodyPr wrap="square" lIns="25400" tIns="25400" rIns="25400" bIns="25400" rtlCol="0" anchor="ctr">
            <a:normAutofit/>
          </a:bodyPr>
          <a:lstStyle/>
          <a:p>
            <a:pPr algn="r" indent="0" marL="0">
              <a:buNone/>
            </a:pPr>
            <a:r>
              <a:rPr lang="en-US" sz="1800" dirty="0">
                <a:solidFill>
                  <a:srgbClr val="191A1D"/>
                </a:solidFill>
                <a:latin typeface="Courier New" pitchFamily="34" charset="0"/>
                <a:ea typeface="Courier New" pitchFamily="34" charset="-122"/>
                <a:cs typeface="Courier New" pitchFamily="34" charset="-120"/>
              </a:rPr>
              <a:t>0.928</a:t>
            </a:r>
            <a:endParaRPr lang="en-US" sz="1800" dirty="0"/>
          </a:p>
        </p:txBody>
      </p:sp>
      <p:sp>
        <p:nvSpPr>
          <p:cNvPr id="50" name="Text 48"/>
          <p:cNvSpPr/>
          <p:nvPr/>
        </p:nvSpPr>
        <p:spPr>
          <a:xfrm>
            <a:off x="3828901" y="6677025"/>
            <a:ext cx="1483072" cy="342900"/>
          </a:xfrm>
          <a:prstGeom prst="rect">
            <a:avLst/>
          </a:prstGeom>
          <a:noFill/>
          <a:ln/>
        </p:spPr>
        <p:txBody>
          <a:bodyPr wrap="square" lIns="25400" tIns="25400" rIns="25400" bIns="25400" rtlCol="0" anchor="ctr">
            <a:normAutofit/>
          </a:bodyPr>
          <a:lstStyle/>
          <a:p>
            <a:pPr algn="r" indent="0" marL="0">
              <a:buNone/>
            </a:pPr>
            <a:r>
              <a:rPr lang="en-US" sz="1800" dirty="0">
                <a:solidFill>
                  <a:srgbClr val="191A1D"/>
                </a:solidFill>
                <a:latin typeface="Courier New" pitchFamily="34" charset="0"/>
                <a:ea typeface="Courier New" pitchFamily="34" charset="-122"/>
                <a:cs typeface="Courier New" pitchFamily="34" charset="-120"/>
              </a:rPr>
              <a:t>3.7e-22**</a:t>
            </a:r>
            <a:endParaRPr lang="en-US" sz="1800" dirty="0"/>
          </a:p>
        </p:txBody>
      </p:sp>
      <p:sp>
        <p:nvSpPr>
          <p:cNvPr id="51" name="Text 49"/>
          <p:cNvSpPr/>
          <p:nvPr/>
        </p:nvSpPr>
        <p:spPr>
          <a:xfrm>
            <a:off x="5426273" y="6677025"/>
            <a:ext cx="1176561" cy="342900"/>
          </a:xfrm>
          <a:prstGeom prst="rect">
            <a:avLst/>
          </a:prstGeom>
          <a:noFill/>
          <a:ln/>
        </p:spPr>
        <p:txBody>
          <a:bodyPr wrap="square" lIns="25400" tIns="25400" rIns="25400" bIns="25400" rtlCol="0" anchor="ctr">
            <a:normAutofit/>
          </a:bodyPr>
          <a:lstStyle/>
          <a:p>
            <a:pPr algn="r" indent="0" marL="0">
              <a:buNone/>
            </a:pPr>
            <a:r>
              <a:rPr lang="en-US" sz="1800" b="1" dirty="0">
                <a:solidFill>
                  <a:srgbClr val="191A1D"/>
                </a:solidFill>
                <a:latin typeface="Courier New" pitchFamily="34" charset="0"/>
                <a:ea typeface="Courier New" pitchFamily="34" charset="-122"/>
                <a:cs typeface="Courier New" pitchFamily="34" charset="-120"/>
              </a:rPr>
              <a:t>19.72</a:t>
            </a:r>
            <a:endParaRPr lang="en-US" sz="1800" dirty="0"/>
          </a:p>
        </p:txBody>
      </p:sp>
      <p:sp>
        <p:nvSpPr>
          <p:cNvPr id="52" name="Text 50"/>
          <p:cNvSpPr/>
          <p:nvPr/>
        </p:nvSpPr>
        <p:spPr>
          <a:xfrm>
            <a:off x="6717134" y="6677025"/>
            <a:ext cx="867966" cy="342900"/>
          </a:xfrm>
          <a:prstGeom prst="rect">
            <a:avLst/>
          </a:prstGeom>
          <a:noFill/>
          <a:ln/>
        </p:spPr>
        <p:txBody>
          <a:bodyPr wrap="square" lIns="25400" tIns="25400" rIns="25400" bIns="25400" rtlCol="0" anchor="ctr">
            <a:normAutofit/>
          </a:bodyPr>
          <a:lstStyle/>
          <a:p>
            <a:pPr algn="r" indent="0" marL="0">
              <a:buNone/>
            </a:pPr>
            <a:r>
              <a:rPr lang="en-US" sz="1800" dirty="0">
                <a:solidFill>
                  <a:srgbClr val="191A1D"/>
                </a:solidFill>
                <a:latin typeface="Courier New" pitchFamily="34" charset="0"/>
                <a:ea typeface="Courier New" pitchFamily="34" charset="-122"/>
                <a:cs typeface="Courier New" pitchFamily="34" charset="-120"/>
              </a:rPr>
              <a:t>0.739</a:t>
            </a:r>
            <a:endParaRPr lang="en-US" sz="1800" dirty="0"/>
          </a:p>
        </p:txBody>
      </p:sp>
      <p:sp>
        <p:nvSpPr>
          <p:cNvPr id="53" name="Text 51"/>
          <p:cNvSpPr/>
          <p:nvPr/>
        </p:nvSpPr>
        <p:spPr>
          <a:xfrm>
            <a:off x="7699400" y="6677025"/>
            <a:ext cx="1483072" cy="342900"/>
          </a:xfrm>
          <a:prstGeom prst="rect">
            <a:avLst/>
          </a:prstGeom>
          <a:noFill/>
          <a:ln/>
        </p:spPr>
        <p:txBody>
          <a:bodyPr wrap="square" lIns="25400" tIns="25400" rIns="25400" bIns="25400" rtlCol="0" anchor="ctr">
            <a:normAutofit/>
          </a:bodyPr>
          <a:lstStyle/>
          <a:p>
            <a:pPr algn="r" indent="0" marL="0">
              <a:buNone/>
            </a:pPr>
            <a:r>
              <a:rPr lang="en-US" sz="1800" dirty="0">
                <a:solidFill>
                  <a:srgbClr val="191A1D"/>
                </a:solidFill>
                <a:latin typeface="Courier New" pitchFamily="34" charset="0"/>
                <a:ea typeface="Courier New" pitchFamily="34" charset="-122"/>
                <a:cs typeface="Courier New" pitchFamily="34" charset="-120"/>
              </a:rPr>
              <a:t>4.9e-7**</a:t>
            </a:r>
            <a:endParaRPr lang="en-US" sz="1800" dirty="0"/>
          </a:p>
        </p:txBody>
      </p:sp>
      <p:sp>
        <p:nvSpPr>
          <p:cNvPr id="54" name="Text 52"/>
          <p:cNvSpPr/>
          <p:nvPr/>
        </p:nvSpPr>
        <p:spPr>
          <a:xfrm>
            <a:off x="9296772" y="6677025"/>
            <a:ext cx="1176858" cy="342900"/>
          </a:xfrm>
          <a:prstGeom prst="rect">
            <a:avLst/>
          </a:prstGeom>
          <a:noFill/>
          <a:ln/>
        </p:spPr>
        <p:txBody>
          <a:bodyPr wrap="square" lIns="25400" tIns="25400" rIns="25400" bIns="25400" rtlCol="0" anchor="ctr">
            <a:normAutofit/>
          </a:bodyPr>
          <a:lstStyle/>
          <a:p>
            <a:pPr algn="r" indent="0" marL="0">
              <a:buNone/>
            </a:pPr>
            <a:r>
              <a:rPr lang="en-US" sz="1800" b="1" dirty="0">
                <a:solidFill>
                  <a:srgbClr val="191A1D"/>
                </a:solidFill>
                <a:latin typeface="Courier New" pitchFamily="34" charset="0"/>
                <a:ea typeface="Courier New" pitchFamily="34" charset="-122"/>
                <a:cs typeface="Courier New" pitchFamily="34" charset="-120"/>
              </a:rPr>
              <a:t>4.74</a:t>
            </a:r>
            <a:endParaRPr lang="en-US" sz="1800" dirty="0"/>
          </a:p>
        </p:txBody>
      </p:sp>
      <p:sp>
        <p:nvSpPr>
          <p:cNvPr id="55" name="Text 53"/>
          <p:cNvSpPr/>
          <p:nvPr/>
        </p:nvSpPr>
        <p:spPr>
          <a:xfrm>
            <a:off x="971550" y="7229475"/>
            <a:ext cx="1836986" cy="338138"/>
          </a:xfrm>
          <a:prstGeom prst="rect">
            <a:avLst/>
          </a:prstGeom>
          <a:noFill/>
          <a:ln/>
        </p:spPr>
        <p:txBody>
          <a:bodyPr wrap="square" lIns="25400" tIns="25400" rIns="25400" bIns="25400" rtlCol="0" anchor="ctr">
            <a:normAutofit/>
          </a:bodyPr>
          <a:lstStyle/>
          <a:p>
            <a:pPr algn="l" indent="0" marL="0">
              <a:buNone/>
            </a:pPr>
            <a:r>
              <a:rPr lang="en-US" sz="1800" b="1" dirty="0">
                <a:solidFill>
                  <a:srgbClr val="191A1D"/>
                </a:solidFill>
                <a:latin typeface="Arial" pitchFamily="34" charset="0"/>
                <a:ea typeface="Arial" pitchFamily="34" charset="-122"/>
                <a:cs typeface="Arial" pitchFamily="34" charset="-120"/>
              </a:rPr>
              <a:t>Socioeconomic</a:t>
            </a:r>
            <a:endParaRPr lang="en-US" sz="1800" dirty="0"/>
          </a:p>
        </p:txBody>
      </p:sp>
      <p:sp>
        <p:nvSpPr>
          <p:cNvPr id="56" name="Text 54"/>
          <p:cNvSpPr/>
          <p:nvPr/>
        </p:nvSpPr>
        <p:spPr>
          <a:xfrm>
            <a:off x="2846636" y="7229475"/>
            <a:ext cx="867966" cy="338138"/>
          </a:xfrm>
          <a:prstGeom prst="rect">
            <a:avLst/>
          </a:prstGeom>
          <a:noFill/>
          <a:ln/>
        </p:spPr>
        <p:txBody>
          <a:bodyPr wrap="square" lIns="25400" tIns="25400" rIns="25400" bIns="25400" rtlCol="0" anchor="ctr">
            <a:normAutofit/>
          </a:bodyPr>
          <a:lstStyle/>
          <a:p>
            <a:pPr algn="r" indent="0" marL="0">
              <a:buNone/>
            </a:pPr>
            <a:r>
              <a:rPr lang="en-US" sz="1800" dirty="0">
                <a:solidFill>
                  <a:srgbClr val="191A1D"/>
                </a:solidFill>
                <a:latin typeface="Courier New" pitchFamily="34" charset="0"/>
                <a:ea typeface="Courier New" pitchFamily="34" charset="-122"/>
                <a:cs typeface="Courier New" pitchFamily="34" charset="-120"/>
              </a:rPr>
              <a:t>0.847</a:t>
            </a:r>
            <a:endParaRPr lang="en-US" sz="1800" dirty="0"/>
          </a:p>
        </p:txBody>
      </p:sp>
      <p:sp>
        <p:nvSpPr>
          <p:cNvPr id="57" name="Text 55"/>
          <p:cNvSpPr/>
          <p:nvPr/>
        </p:nvSpPr>
        <p:spPr>
          <a:xfrm>
            <a:off x="3828901" y="7229475"/>
            <a:ext cx="1483072" cy="338138"/>
          </a:xfrm>
          <a:prstGeom prst="rect">
            <a:avLst/>
          </a:prstGeom>
          <a:noFill/>
          <a:ln/>
        </p:spPr>
        <p:txBody>
          <a:bodyPr wrap="square" lIns="25400" tIns="25400" rIns="25400" bIns="25400" rtlCol="0" anchor="ctr">
            <a:normAutofit/>
          </a:bodyPr>
          <a:lstStyle/>
          <a:p>
            <a:pPr algn="r" indent="0" marL="0">
              <a:buNone/>
            </a:pPr>
            <a:r>
              <a:rPr lang="en-US" sz="1800" dirty="0">
                <a:solidFill>
                  <a:srgbClr val="191A1D"/>
                </a:solidFill>
                <a:latin typeface="Courier New" pitchFamily="34" charset="0"/>
                <a:ea typeface="Courier New" pitchFamily="34" charset="-122"/>
                <a:cs typeface="Courier New" pitchFamily="34" charset="-120"/>
              </a:rPr>
              <a:t>2.2e-23**</a:t>
            </a:r>
            <a:endParaRPr lang="en-US" sz="1800" dirty="0"/>
          </a:p>
        </p:txBody>
      </p:sp>
      <p:sp>
        <p:nvSpPr>
          <p:cNvPr id="58" name="Text 56"/>
          <p:cNvSpPr/>
          <p:nvPr/>
        </p:nvSpPr>
        <p:spPr>
          <a:xfrm>
            <a:off x="5426273" y="7229475"/>
            <a:ext cx="1176561" cy="338138"/>
          </a:xfrm>
          <a:prstGeom prst="rect">
            <a:avLst/>
          </a:prstGeom>
          <a:noFill/>
          <a:ln/>
        </p:spPr>
        <p:txBody>
          <a:bodyPr wrap="square" lIns="25400" tIns="25400" rIns="25400" bIns="25400" rtlCol="0" anchor="ctr">
            <a:normAutofit/>
          </a:bodyPr>
          <a:lstStyle/>
          <a:p>
            <a:pPr algn="r" indent="0" marL="0">
              <a:buNone/>
            </a:pPr>
            <a:r>
              <a:rPr lang="en-US" sz="1800" b="1" dirty="0">
                <a:solidFill>
                  <a:srgbClr val="191A1D"/>
                </a:solidFill>
                <a:latin typeface="Courier New" pitchFamily="34" charset="0"/>
                <a:ea typeface="Courier New" pitchFamily="34" charset="-122"/>
                <a:cs typeface="Courier New" pitchFamily="34" charset="-120"/>
              </a:rPr>
              <a:t>20.76</a:t>
            </a:r>
            <a:endParaRPr lang="en-US" sz="1800" dirty="0"/>
          </a:p>
        </p:txBody>
      </p:sp>
      <p:sp>
        <p:nvSpPr>
          <p:cNvPr id="59" name="Text 57"/>
          <p:cNvSpPr/>
          <p:nvPr/>
        </p:nvSpPr>
        <p:spPr>
          <a:xfrm>
            <a:off x="6717134" y="7229475"/>
            <a:ext cx="867966" cy="338138"/>
          </a:xfrm>
          <a:prstGeom prst="rect">
            <a:avLst/>
          </a:prstGeom>
          <a:noFill/>
          <a:ln/>
        </p:spPr>
        <p:txBody>
          <a:bodyPr wrap="square" lIns="25400" tIns="25400" rIns="25400" bIns="25400" rtlCol="0" anchor="ctr">
            <a:normAutofit/>
          </a:bodyPr>
          <a:lstStyle/>
          <a:p>
            <a:pPr algn="r" indent="0" marL="0">
              <a:buNone/>
            </a:pPr>
            <a:r>
              <a:rPr lang="en-US" sz="1800" dirty="0">
                <a:solidFill>
                  <a:srgbClr val="191A1D"/>
                </a:solidFill>
                <a:latin typeface="Courier New" pitchFamily="34" charset="0"/>
                <a:ea typeface="Courier New" pitchFamily="34" charset="-122"/>
                <a:cs typeface="Courier New" pitchFamily="34" charset="-120"/>
              </a:rPr>
              <a:t>0.689</a:t>
            </a:r>
            <a:endParaRPr lang="en-US" sz="1800" dirty="0"/>
          </a:p>
        </p:txBody>
      </p:sp>
      <p:sp>
        <p:nvSpPr>
          <p:cNvPr id="60" name="Text 58"/>
          <p:cNvSpPr/>
          <p:nvPr/>
        </p:nvSpPr>
        <p:spPr>
          <a:xfrm>
            <a:off x="7699400" y="7229475"/>
            <a:ext cx="1483072" cy="338138"/>
          </a:xfrm>
          <a:prstGeom prst="rect">
            <a:avLst/>
          </a:prstGeom>
          <a:noFill/>
          <a:ln/>
        </p:spPr>
        <p:txBody>
          <a:bodyPr wrap="square" lIns="25400" tIns="25400" rIns="25400" bIns="25400" rtlCol="0" anchor="ctr">
            <a:normAutofit/>
          </a:bodyPr>
          <a:lstStyle/>
          <a:p>
            <a:pPr algn="r" indent="0" marL="0">
              <a:buNone/>
            </a:pPr>
            <a:r>
              <a:rPr lang="en-US" sz="1800" dirty="0">
                <a:solidFill>
                  <a:srgbClr val="191A1D"/>
                </a:solidFill>
                <a:latin typeface="Courier New" pitchFamily="34" charset="0"/>
                <a:ea typeface="Courier New" pitchFamily="34" charset="-122"/>
                <a:cs typeface="Courier New" pitchFamily="34" charset="-120"/>
              </a:rPr>
              <a:t>1.9e-7**</a:t>
            </a:r>
            <a:endParaRPr lang="en-US" sz="1800" dirty="0"/>
          </a:p>
        </p:txBody>
      </p:sp>
      <p:sp>
        <p:nvSpPr>
          <p:cNvPr id="61" name="Text 59"/>
          <p:cNvSpPr/>
          <p:nvPr/>
        </p:nvSpPr>
        <p:spPr>
          <a:xfrm>
            <a:off x="9296772" y="7229475"/>
            <a:ext cx="1176858" cy="338138"/>
          </a:xfrm>
          <a:prstGeom prst="rect">
            <a:avLst/>
          </a:prstGeom>
          <a:noFill/>
          <a:ln/>
        </p:spPr>
        <p:txBody>
          <a:bodyPr wrap="square" lIns="25400" tIns="25400" rIns="25400" bIns="25400" rtlCol="0" anchor="ctr">
            <a:normAutofit/>
          </a:bodyPr>
          <a:lstStyle/>
          <a:p>
            <a:pPr algn="r" indent="0" marL="0">
              <a:buNone/>
            </a:pPr>
            <a:r>
              <a:rPr lang="en-US" sz="1800" b="1" dirty="0">
                <a:solidFill>
                  <a:srgbClr val="191A1D"/>
                </a:solidFill>
                <a:latin typeface="Courier New" pitchFamily="34" charset="0"/>
                <a:ea typeface="Courier New" pitchFamily="34" charset="-122"/>
                <a:cs typeface="Courier New" pitchFamily="34" charset="-120"/>
              </a:rPr>
              <a:t>4.99</a:t>
            </a:r>
            <a:endParaRPr lang="en-US" sz="1800" dirty="0"/>
          </a:p>
        </p:txBody>
      </p:sp>
      <p:sp>
        <p:nvSpPr>
          <p:cNvPr id="62" name="Shape 60"/>
          <p:cNvSpPr/>
          <p:nvPr/>
        </p:nvSpPr>
        <p:spPr>
          <a:xfrm>
            <a:off x="10949880" y="3489647"/>
            <a:ext cx="6461820" cy="1440061"/>
          </a:xfrm>
          <a:prstGeom prst="roundRect">
            <a:avLst>
              <a:gd name="adj" fmla="val 7937"/>
            </a:avLst>
          </a:prstGeom>
          <a:solidFill>
            <a:srgbClr val="FBFAF6"/>
          </a:solidFill>
          <a:ln w="14288">
            <a:solidFill>
              <a:srgbClr val="DAD5C7"/>
            </a:solidFill>
            <a:prstDash val="solid"/>
          </a:ln>
        </p:spPr>
      </p:sp>
      <p:sp>
        <p:nvSpPr>
          <p:cNvPr id="63" name="Shape 61"/>
          <p:cNvSpPr/>
          <p:nvPr/>
        </p:nvSpPr>
        <p:spPr>
          <a:xfrm>
            <a:off x="11211818" y="3780160"/>
            <a:ext cx="142875" cy="142875"/>
          </a:xfrm>
          <a:prstGeom prst="ellipse">
            <a:avLst/>
          </a:prstGeom>
          <a:solidFill>
            <a:srgbClr val="E15D48"/>
          </a:solidFill>
          <a:ln/>
        </p:spPr>
      </p:sp>
      <p:sp>
        <p:nvSpPr>
          <p:cNvPr id="64" name="Text 62"/>
          <p:cNvSpPr/>
          <p:nvPr/>
        </p:nvSpPr>
        <p:spPr>
          <a:xfrm>
            <a:off x="11468993" y="3713485"/>
            <a:ext cx="3401750" cy="314325"/>
          </a:xfrm>
          <a:prstGeom prst="rect">
            <a:avLst/>
          </a:prstGeom>
          <a:noFill/>
          <a:ln/>
        </p:spPr>
        <p:txBody>
          <a:bodyPr wrap="square" lIns="25400" tIns="25400" rIns="25400" bIns="25400" rtlCol="0" anchor="t">
            <a:normAutofit/>
          </a:bodyPr>
          <a:lstStyle/>
          <a:p>
            <a:pPr algn="l" indent="0" marL="0">
              <a:buNone/>
            </a:pPr>
            <a:r>
              <a:rPr lang="en-US" sz="1875" b="1" dirty="0">
                <a:solidFill>
                  <a:srgbClr val="191A1D"/>
                </a:solidFill>
                <a:latin typeface="Arial" pitchFamily="34" charset="0"/>
                <a:ea typeface="Arial" pitchFamily="34" charset="-122"/>
                <a:cs typeface="Arial" pitchFamily="34" charset="-120"/>
              </a:rPr>
              <a:t>ChatGPT — uniformly biased</a:t>
            </a:r>
            <a:endParaRPr lang="en-US" sz="1875" dirty="0"/>
          </a:p>
        </p:txBody>
      </p:sp>
      <p:sp>
        <p:nvSpPr>
          <p:cNvPr id="65" name="Text 63"/>
          <p:cNvSpPr/>
          <p:nvPr/>
        </p:nvSpPr>
        <p:spPr>
          <a:xfrm>
            <a:off x="11211818" y="4065910"/>
            <a:ext cx="6116083"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33353B"/>
                </a:solidFill>
                <a:latin typeface="Arial" pitchFamily="34" charset="0"/>
                <a:ea typeface="Arial" pitchFamily="34" charset="-122"/>
                <a:cs typeface="Arial" pitchFamily="34" charset="-120"/>
              </a:rPr>
              <a:t>All 9 categories significant (**), SS 0.76–0.93, log₁₀BF up to 33 (Race).</a:t>
            </a:r>
            <a:endParaRPr lang="en-US" sz="1800" dirty="0"/>
          </a:p>
        </p:txBody>
      </p:sp>
      <p:sp>
        <p:nvSpPr>
          <p:cNvPr id="66" name="Shape 64"/>
          <p:cNvSpPr/>
          <p:nvPr/>
        </p:nvSpPr>
        <p:spPr>
          <a:xfrm>
            <a:off x="10949880" y="5101158"/>
            <a:ext cx="6461820" cy="1444823"/>
          </a:xfrm>
          <a:prstGeom prst="roundRect">
            <a:avLst>
              <a:gd name="adj" fmla="val 7911"/>
            </a:avLst>
          </a:prstGeom>
          <a:solidFill>
            <a:srgbClr val="FBFAF6"/>
          </a:solidFill>
          <a:ln w="14288">
            <a:solidFill>
              <a:srgbClr val="DAD5C7"/>
            </a:solidFill>
            <a:prstDash val="solid"/>
          </a:ln>
        </p:spPr>
      </p:sp>
      <p:sp>
        <p:nvSpPr>
          <p:cNvPr id="67" name="Shape 65"/>
          <p:cNvSpPr/>
          <p:nvPr/>
        </p:nvSpPr>
        <p:spPr>
          <a:xfrm>
            <a:off x="11211818" y="5391671"/>
            <a:ext cx="142875" cy="142875"/>
          </a:xfrm>
          <a:prstGeom prst="ellipse">
            <a:avLst/>
          </a:prstGeom>
          <a:solidFill>
            <a:srgbClr val="0E9C99"/>
          </a:solidFill>
          <a:ln/>
        </p:spPr>
      </p:sp>
      <p:sp>
        <p:nvSpPr>
          <p:cNvPr id="68" name="Text 66"/>
          <p:cNvSpPr/>
          <p:nvPr/>
        </p:nvSpPr>
        <p:spPr>
          <a:xfrm>
            <a:off x="11468993" y="5324996"/>
            <a:ext cx="2343931" cy="314325"/>
          </a:xfrm>
          <a:prstGeom prst="rect">
            <a:avLst/>
          </a:prstGeom>
          <a:noFill/>
          <a:ln/>
        </p:spPr>
        <p:txBody>
          <a:bodyPr wrap="square" lIns="25400" tIns="25400" rIns="25400" bIns="25400" rtlCol="0" anchor="t">
            <a:normAutofit/>
          </a:bodyPr>
          <a:lstStyle/>
          <a:p>
            <a:pPr algn="l" indent="0" marL="0">
              <a:buNone/>
            </a:pPr>
            <a:r>
              <a:rPr lang="en-US" sz="1875" b="1" dirty="0">
                <a:solidFill>
                  <a:srgbClr val="191A1D"/>
                </a:solidFill>
                <a:latin typeface="Arial" pitchFamily="34" charset="0"/>
                <a:ea typeface="Arial" pitchFamily="34" charset="-122"/>
                <a:cs typeface="Arial" pitchFamily="34" charset="-120"/>
              </a:rPr>
              <a:t>DeepSeek — milder</a:t>
            </a:r>
            <a:endParaRPr lang="en-US" sz="1875" dirty="0"/>
          </a:p>
        </p:txBody>
      </p:sp>
      <p:sp>
        <p:nvSpPr>
          <p:cNvPr id="69" name="Text 67"/>
          <p:cNvSpPr/>
          <p:nvPr/>
        </p:nvSpPr>
        <p:spPr>
          <a:xfrm>
            <a:off x="11211818" y="5677421"/>
            <a:ext cx="6116083" cy="682823"/>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33353B"/>
                </a:solidFill>
                <a:latin typeface="Arial" pitchFamily="34" charset="0"/>
                <a:ea typeface="Arial" pitchFamily="34" charset="-122"/>
                <a:cs typeface="Arial" pitchFamily="34" charset="-120"/>
              </a:rPr>
              <a:t>Significant in 8/9; Physical appearance the exception (BF </a:t>
            </a:r>
            <a:pPr algn="l" indent="0" marL="0">
              <a:lnSpc>
                <a:spcPct val="140000"/>
              </a:lnSpc>
              <a:buNone/>
            </a:pPr>
            <a:r>
              <a:rPr lang="en-US" sz="1500" baseline="-40000" dirty="0">
                <a:solidFill>
                  <a:srgbClr val="33353B"/>
                </a:solidFill>
                <a:latin typeface="Arial" pitchFamily="34" charset="0"/>
                <a:ea typeface="Arial" pitchFamily="34" charset="-122"/>
                <a:cs typeface="Arial" pitchFamily="34" charset="-120"/>
              </a:rPr>
              <a:t>10 </a:t>
            </a:r>
            <a:pPr algn="l" indent="0" marL="0">
              <a:lnSpc>
                <a:spcPct val="140000"/>
              </a:lnSpc>
              <a:buNone/>
            </a:pPr>
            <a:r>
              <a:rPr lang="en-US" sz="1800" dirty="0">
                <a:solidFill>
                  <a:srgbClr val="33353B"/>
                </a:solidFill>
                <a:latin typeface="Arial" pitchFamily="34" charset="0"/>
                <a:ea typeface="Arial" pitchFamily="34" charset="-122"/>
                <a:cs typeface="Arial" pitchFamily="34" charset="-120"/>
              </a:rPr>
              <a:t>= 0.86, mild evidence for </a:t>
            </a:r>
            <a:pPr algn="l" indent="0" marL="0">
              <a:lnSpc>
                <a:spcPct val="140000"/>
              </a:lnSpc>
              <a:buNone/>
            </a:pPr>
            <a:r>
              <a:rPr lang="en-US" sz="1800" i="1" dirty="0">
                <a:solidFill>
                  <a:srgbClr val="33353B"/>
                </a:solidFill>
                <a:latin typeface="Arial" pitchFamily="34" charset="0"/>
                <a:ea typeface="Arial" pitchFamily="34" charset="-122"/>
                <a:cs typeface="Arial" pitchFamily="34" charset="-120"/>
              </a:rPr>
              <a:t>no </a:t>
            </a:r>
            <a:pPr algn="l" indent="0" marL="0">
              <a:lnSpc>
                <a:spcPct val="140000"/>
              </a:lnSpc>
              <a:buNone/>
            </a:pPr>
            <a:r>
              <a:rPr lang="en-US" sz="1800" dirty="0">
                <a:solidFill>
                  <a:srgbClr val="33353B"/>
                </a:solidFill>
                <a:latin typeface="Arial" pitchFamily="34" charset="0"/>
                <a:ea typeface="Arial" pitchFamily="34" charset="-122"/>
                <a:cs typeface="Arial" pitchFamily="34" charset="-120"/>
              </a:rPr>
              <a:t>bias).</a:t>
            </a:r>
            <a:endParaRPr lang="en-US" sz="1800" dirty="0"/>
          </a:p>
        </p:txBody>
      </p:sp>
      <p:sp>
        <p:nvSpPr>
          <p:cNvPr id="70" name="Shape 68"/>
          <p:cNvSpPr/>
          <p:nvPr/>
        </p:nvSpPr>
        <p:spPr>
          <a:xfrm>
            <a:off x="10949880" y="6717432"/>
            <a:ext cx="6461820" cy="1427708"/>
          </a:xfrm>
          <a:prstGeom prst="roundRect">
            <a:avLst>
              <a:gd name="adj" fmla="val 8006"/>
            </a:avLst>
          </a:prstGeom>
          <a:solidFill>
            <a:srgbClr val="1B1C20"/>
          </a:solidFill>
          <a:ln/>
        </p:spPr>
      </p:sp>
      <p:sp>
        <p:nvSpPr>
          <p:cNvPr id="71" name="Text 69"/>
          <p:cNvSpPr/>
          <p:nvPr/>
        </p:nvSpPr>
        <p:spPr>
          <a:xfrm>
            <a:off x="11197530" y="6926982"/>
            <a:ext cx="6145515" cy="1046708"/>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F4F1EA"/>
                </a:solidFill>
                <a:latin typeface="Arial" pitchFamily="34" charset="0"/>
                <a:ea typeface="Arial" pitchFamily="34" charset="-122"/>
                <a:cs typeface="Arial" pitchFamily="34" charset="-120"/>
              </a:rPr>
              <a:t>vs 2024 paper: ChatGPT drifted </a:t>
            </a:r>
            <a:pPr algn="l" indent="0" marL="0">
              <a:lnSpc>
                <a:spcPct val="145000"/>
              </a:lnSpc>
              <a:buNone/>
            </a:pPr>
            <a:r>
              <a:rPr lang="en-US" sz="1800" b="1" dirty="0">
                <a:solidFill>
                  <a:srgbClr val="E8927F"/>
                </a:solidFill>
                <a:latin typeface="Arial" pitchFamily="34" charset="0"/>
                <a:ea typeface="Arial" pitchFamily="34" charset="-122"/>
                <a:cs typeface="Arial" pitchFamily="34" charset="-120"/>
              </a:rPr>
              <a:t>more </a:t>
            </a:r>
            <a:pPr algn="l" indent="0" marL="0">
              <a:lnSpc>
                <a:spcPct val="145000"/>
              </a:lnSpc>
              <a:buNone/>
            </a:pPr>
            <a:r>
              <a:rPr lang="en-US" sz="1800" dirty="0">
                <a:solidFill>
                  <a:srgbClr val="F4F1EA"/>
                </a:solidFill>
                <a:latin typeface="Arial" pitchFamily="34" charset="0"/>
                <a:ea typeface="Arial" pitchFamily="34" charset="-122"/>
                <a:cs typeface="Arial" pitchFamily="34" charset="-120"/>
              </a:rPr>
              <a:t>biased (ΔSS +0.19…+0.28, 44% agree); DeepSeek </a:t>
            </a:r>
            <a:pPr algn="l" indent="0" marL="0">
              <a:lnSpc>
                <a:spcPct val="145000"/>
              </a:lnSpc>
              <a:buNone/>
            </a:pPr>
            <a:r>
              <a:rPr lang="en-US" sz="1800" b="1" dirty="0">
                <a:solidFill>
                  <a:srgbClr val="5FC9C5"/>
                </a:solidFill>
                <a:latin typeface="Arial" pitchFamily="34" charset="0"/>
                <a:ea typeface="Arial" pitchFamily="34" charset="-122"/>
                <a:cs typeface="Arial" pitchFamily="34" charset="-120"/>
              </a:rPr>
              <a:t>less </a:t>
            </a:r>
            <a:pPr algn="l" indent="0" marL="0">
              <a:lnSpc>
                <a:spcPct val="145000"/>
              </a:lnSpc>
              <a:buNone/>
            </a:pPr>
            <a:r>
              <a:rPr lang="en-US" sz="1800" dirty="0">
                <a:solidFill>
                  <a:srgbClr val="F4F1EA"/>
                </a:solidFill>
                <a:latin typeface="Arial" pitchFamily="34" charset="0"/>
                <a:ea typeface="Arial" pitchFamily="34" charset="-122"/>
                <a:cs typeface="Arial" pitchFamily="34" charset="-120"/>
              </a:rPr>
              <a:t>(ΔSS −0.09…−0.36, 89% agree) — </a:t>
            </a:r>
            <a:pPr algn="l" indent="0" marL="0">
              <a:lnSpc>
                <a:spcPct val="145000"/>
              </a:lnSpc>
              <a:buNone/>
            </a:pPr>
            <a:r>
              <a:rPr lang="en-US" sz="1800" b="1" dirty="0">
                <a:solidFill>
                  <a:srgbClr val="F4F1EA"/>
                </a:solidFill>
                <a:latin typeface="Arial" pitchFamily="34" charset="0"/>
                <a:ea typeface="Arial" pitchFamily="34" charset="-122"/>
                <a:cs typeface="Arial" pitchFamily="34" charset="-120"/>
              </a:rPr>
              <a:t>opposite directions.</a:t>
            </a:r>
            <a:endParaRPr lang="en-US" sz="1800" dirty="0"/>
          </a:p>
        </p:txBody>
      </p:sp>
      <p:sp>
        <p:nvSpPr>
          <p:cNvPr id="72" name="Text 70"/>
          <p:cNvSpPr/>
          <p:nvPr/>
        </p:nvSpPr>
        <p:spPr>
          <a:xfrm>
            <a:off x="876300" y="9572625"/>
            <a:ext cx="8551768"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8A8778"/>
                </a:solidFill>
                <a:latin typeface="Courier New" pitchFamily="34" charset="0"/>
                <a:ea typeface="Courier New" pitchFamily="34" charset="-122"/>
                <a:cs typeface="Courier New" pitchFamily="34" charset="-120"/>
              </a:rPr>
              <a:t>Bayesian Bias Detection · Statistics for Data Science</a:t>
            </a:r>
            <a:endParaRPr lang="en-US" sz="1800" dirty="0"/>
          </a:p>
        </p:txBody>
      </p:sp>
      <p:sp>
        <p:nvSpPr>
          <p:cNvPr id="73" name="Text 71"/>
          <p:cNvSpPr/>
          <p:nvPr/>
        </p:nvSpPr>
        <p:spPr>
          <a:xfrm>
            <a:off x="16384860" y="9572625"/>
            <a:ext cx="1103040"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8A8778"/>
                </a:solidFill>
                <a:latin typeface="Courier New" pitchFamily="34" charset="0"/>
                <a:ea typeface="Courier New" pitchFamily="34" charset="-122"/>
                <a:cs typeface="Courier New" pitchFamily="34" charset="-120"/>
              </a:rPr>
              <a:t>10 / 15</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0E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4F1EA"/>
          </a:solidFill>
          <a:ln/>
        </p:spPr>
      </p:sp>
      <p:sp>
        <p:nvSpPr>
          <p:cNvPr id="3" name="Shape 1"/>
          <p:cNvSpPr/>
          <p:nvPr/>
        </p:nvSpPr>
        <p:spPr>
          <a:xfrm>
            <a:off x="876300" y="2043113"/>
            <a:ext cx="16535400" cy="19050"/>
          </a:xfrm>
          <a:prstGeom prst="rect">
            <a:avLst/>
          </a:prstGeom>
          <a:solidFill>
            <a:srgbClr val="191A1D"/>
          </a:solidFill>
          <a:ln/>
        </p:spPr>
      </p:sp>
      <p:sp>
        <p:nvSpPr>
          <p:cNvPr id="4" name="Text 2"/>
          <p:cNvSpPr/>
          <p:nvPr/>
        </p:nvSpPr>
        <p:spPr>
          <a:xfrm>
            <a:off x="876300" y="723900"/>
            <a:ext cx="8277471" cy="333375"/>
          </a:xfrm>
          <a:prstGeom prst="rect">
            <a:avLst/>
          </a:prstGeom>
          <a:noFill/>
          <a:ln/>
        </p:spPr>
        <p:txBody>
          <a:bodyPr wrap="square" lIns="25400" tIns="25400" rIns="25400" bIns="25400" rtlCol="0" anchor="t">
            <a:normAutofit/>
          </a:bodyPr>
          <a:lstStyle/>
          <a:p>
            <a:pPr algn="l" indent="0" marL="0">
              <a:buNone/>
            </a:pPr>
            <a:r>
              <a:rPr lang="en-US" sz="1800" spc="225" kern="0" dirty="0">
                <a:solidFill>
                  <a:srgbClr val="2E3F66"/>
                </a:solidFill>
                <a:latin typeface="Courier New" pitchFamily="34" charset="0"/>
                <a:ea typeface="Courier New" pitchFamily="34" charset="-122"/>
                <a:cs typeface="Courier New" pitchFamily="34" charset="-120"/>
              </a:rPr>
              <a:t>EXPERIMENT B · 11 · REPRODUCES FIG 2</a:t>
            </a:r>
            <a:endParaRPr lang="en-US" sz="1800" dirty="0"/>
          </a:p>
        </p:txBody>
      </p:sp>
      <p:sp>
        <p:nvSpPr>
          <p:cNvPr id="5" name="Text 3"/>
          <p:cNvSpPr/>
          <p:nvPr/>
        </p:nvSpPr>
        <p:spPr>
          <a:xfrm>
            <a:off x="876300" y="1133475"/>
            <a:ext cx="8277471" cy="757238"/>
          </a:xfrm>
          <a:prstGeom prst="rect">
            <a:avLst/>
          </a:prstGeom>
          <a:noFill/>
          <a:ln/>
        </p:spPr>
        <p:txBody>
          <a:bodyPr wrap="square" lIns="25400" tIns="25400" rIns="25400" bIns="25400" rtlCol="0" anchor="t">
            <a:normAutofit/>
          </a:bodyPr>
          <a:lstStyle/>
          <a:p>
            <a:pPr algn="l" indent="0" marL="0">
              <a:buNone/>
            </a:pPr>
            <a:r>
              <a:rPr lang="en-US" sz="4350" b="1" dirty="0">
                <a:solidFill>
                  <a:srgbClr val="191A1D"/>
                </a:solidFill>
                <a:latin typeface="Georgia" pitchFamily="34" charset="0"/>
                <a:ea typeface="Georgia" pitchFamily="34" charset="-122"/>
                <a:cs typeface="Georgia" pitchFamily="34" charset="-120"/>
              </a:rPr>
              <a:t>Cross-Language Robustness</a:t>
            </a:r>
            <a:endParaRPr lang="en-US" sz="4350" dirty="0"/>
          </a:p>
        </p:txBody>
      </p:sp>
      <p:sp>
        <p:nvSpPr>
          <p:cNvPr id="6" name="Text 4"/>
          <p:cNvSpPr/>
          <p:nvPr/>
        </p:nvSpPr>
        <p:spPr>
          <a:xfrm>
            <a:off x="14668500" y="1557338"/>
            <a:ext cx="30175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65961"/>
                </a:solidFill>
                <a:latin typeface="Courier New" pitchFamily="34" charset="0"/>
                <a:ea typeface="Courier New" pitchFamily="34" charset="-122"/>
                <a:cs typeface="Courier New" pitchFamily="34" charset="-120"/>
              </a:rPr>
              <a:t>EN solid · FR dashed</a:t>
            </a:r>
            <a:endParaRPr lang="en-US" sz="1800" dirty="0"/>
          </a:p>
        </p:txBody>
      </p:sp>
      <p:sp>
        <p:nvSpPr>
          <p:cNvPr id="7" name="Shape 5"/>
          <p:cNvSpPr/>
          <p:nvPr/>
        </p:nvSpPr>
        <p:spPr>
          <a:xfrm>
            <a:off x="876300" y="2798341"/>
            <a:ext cx="9692580" cy="6038031"/>
          </a:xfrm>
          <a:prstGeom prst="roundRect">
            <a:avLst>
              <a:gd name="adj" fmla="val 1893"/>
            </a:avLst>
          </a:prstGeom>
          <a:solidFill>
            <a:srgbClr val="FFFFFF"/>
          </a:solidFill>
          <a:ln w="14288">
            <a:solidFill>
              <a:srgbClr val="DAD5C7"/>
            </a:solidFill>
            <a:prstDash val="solid"/>
          </a:ln>
        </p:spPr>
      </p:sp>
      <p:pic>
        <p:nvPicPr>
          <p:cNvPr id="8" name="Image 0" descr="preencoded.png">    </p:cNvPr>
          <p:cNvPicPr>
            <a:picLocks noChangeAspect="1"/>
          </p:cNvPicPr>
          <p:nvPr/>
        </p:nvPicPr>
        <p:blipFill>
          <a:blip r:embed="rId1"/>
          <a:stretch>
            <a:fillRect/>
          </a:stretch>
        </p:blipFill>
        <p:spPr>
          <a:xfrm>
            <a:off x="1023938" y="2945978"/>
            <a:ext cx="9397305" cy="5742756"/>
          </a:xfrm>
          <a:prstGeom prst="rect">
            <a:avLst/>
          </a:prstGeom>
        </p:spPr>
      </p:pic>
      <p:sp>
        <p:nvSpPr>
          <p:cNvPr id="9" name="Shape 6"/>
          <p:cNvSpPr/>
          <p:nvPr/>
        </p:nvSpPr>
        <p:spPr>
          <a:xfrm>
            <a:off x="10949880" y="3181350"/>
            <a:ext cx="6461820" cy="1907381"/>
          </a:xfrm>
          <a:prstGeom prst="roundRect">
            <a:avLst>
              <a:gd name="adj" fmla="val 5993"/>
            </a:avLst>
          </a:prstGeom>
          <a:solidFill>
            <a:srgbClr val="FBFAF6"/>
          </a:solidFill>
          <a:ln w="14288">
            <a:solidFill>
              <a:srgbClr val="DAD5C7"/>
            </a:solidFill>
            <a:prstDash val="solid"/>
          </a:ln>
        </p:spPr>
      </p:sp>
      <p:sp>
        <p:nvSpPr>
          <p:cNvPr id="10" name="Shape 7"/>
          <p:cNvSpPr/>
          <p:nvPr/>
        </p:nvSpPr>
        <p:spPr>
          <a:xfrm>
            <a:off x="11230868" y="3495675"/>
            <a:ext cx="142875" cy="142875"/>
          </a:xfrm>
          <a:prstGeom prst="ellipse">
            <a:avLst/>
          </a:prstGeom>
          <a:solidFill>
            <a:srgbClr val="E15D48"/>
          </a:solidFill>
          <a:ln/>
        </p:spPr>
      </p:sp>
      <p:sp>
        <p:nvSpPr>
          <p:cNvPr id="11" name="Text 8"/>
          <p:cNvSpPr/>
          <p:nvPr/>
        </p:nvSpPr>
        <p:spPr>
          <a:xfrm>
            <a:off x="11488043" y="3424238"/>
            <a:ext cx="3523223"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191A1D"/>
                </a:solidFill>
                <a:latin typeface="Arial" pitchFamily="34" charset="0"/>
                <a:ea typeface="Arial" pitchFamily="34" charset="-122"/>
                <a:cs typeface="Arial" pitchFamily="34" charset="-120"/>
              </a:rPr>
              <a:t>ChatGPT — language-robust</a:t>
            </a:r>
            <a:endParaRPr lang="en-US" sz="1950" dirty="0"/>
          </a:p>
        </p:txBody>
      </p:sp>
      <p:sp>
        <p:nvSpPr>
          <p:cNvPr id="12" name="Text 9"/>
          <p:cNvSpPr/>
          <p:nvPr/>
        </p:nvSpPr>
        <p:spPr>
          <a:xfrm>
            <a:off x="11230868" y="3805237"/>
            <a:ext cx="6076840" cy="1078706"/>
          </a:xfrm>
          <a:prstGeom prst="rect">
            <a:avLst/>
          </a:prstGeom>
          <a:noFill/>
          <a:ln/>
        </p:spPr>
        <p:txBody>
          <a:bodyPr wrap="square" lIns="25400" tIns="25400" rIns="25400" bIns="25400" rtlCol="0" anchor="t">
            <a:normAutofit/>
          </a:bodyPr>
          <a:lstStyle/>
          <a:p>
            <a:pPr algn="l" indent="0" marL="0">
              <a:lnSpc>
                <a:spcPct val="145000"/>
              </a:lnSpc>
              <a:buNone/>
            </a:pPr>
            <a:r>
              <a:rPr lang="en-US" sz="1875" dirty="0">
                <a:solidFill>
                  <a:srgbClr val="33353B"/>
                </a:solidFill>
                <a:latin typeface="Arial" pitchFamily="34" charset="0"/>
                <a:ea typeface="Arial" pitchFamily="34" charset="-122"/>
                <a:cs typeface="Arial" pitchFamily="34" charset="-120"/>
              </a:rPr>
              <a:t>Strongly biased in French too — all 9 categories significant, some BFs even </a:t>
            </a:r>
            <a:pPr algn="l" indent="0" marL="0">
              <a:lnSpc>
                <a:spcPct val="145000"/>
              </a:lnSpc>
              <a:buNone/>
            </a:pPr>
            <a:r>
              <a:rPr lang="en-US" sz="1875" i="1" dirty="0">
                <a:solidFill>
                  <a:srgbClr val="33353B"/>
                </a:solidFill>
                <a:latin typeface="Arial" pitchFamily="34" charset="0"/>
                <a:ea typeface="Arial" pitchFamily="34" charset="-122"/>
                <a:cs typeface="Arial" pitchFamily="34" charset="-120"/>
              </a:rPr>
              <a:t>larger </a:t>
            </a:r>
            <a:pPr algn="l" indent="0" marL="0">
              <a:lnSpc>
                <a:spcPct val="145000"/>
              </a:lnSpc>
              <a:buNone/>
            </a:pPr>
            <a:r>
              <a:rPr lang="en-US" sz="1875" dirty="0">
                <a:solidFill>
                  <a:srgbClr val="33353B"/>
                </a:solidFill>
                <a:latin typeface="Arial" pitchFamily="34" charset="0"/>
                <a:ea typeface="Arial" pitchFamily="34" charset="-122"/>
                <a:cs typeface="Arial" pitchFamily="34" charset="-120"/>
              </a:rPr>
              <a:t>than English (Race log₁₀BF ≈ 43.9).</a:t>
            </a:r>
            <a:endParaRPr lang="en-US" sz="1875" dirty="0"/>
          </a:p>
        </p:txBody>
      </p:sp>
      <p:sp>
        <p:nvSpPr>
          <p:cNvPr id="13" name="Shape 10"/>
          <p:cNvSpPr/>
          <p:nvPr/>
        </p:nvSpPr>
        <p:spPr>
          <a:xfrm>
            <a:off x="10949880" y="5260181"/>
            <a:ext cx="6461820" cy="1902619"/>
          </a:xfrm>
          <a:prstGeom prst="roundRect">
            <a:avLst>
              <a:gd name="adj" fmla="val 6008"/>
            </a:avLst>
          </a:prstGeom>
          <a:solidFill>
            <a:srgbClr val="FBFAF6"/>
          </a:solidFill>
          <a:ln w="14288">
            <a:solidFill>
              <a:srgbClr val="DAD5C7"/>
            </a:solidFill>
            <a:prstDash val="solid"/>
          </a:ln>
        </p:spPr>
      </p:sp>
      <p:sp>
        <p:nvSpPr>
          <p:cNvPr id="14" name="Shape 11"/>
          <p:cNvSpPr/>
          <p:nvPr/>
        </p:nvSpPr>
        <p:spPr>
          <a:xfrm>
            <a:off x="11230868" y="5574506"/>
            <a:ext cx="142875" cy="142875"/>
          </a:xfrm>
          <a:prstGeom prst="ellipse">
            <a:avLst/>
          </a:prstGeom>
          <a:solidFill>
            <a:srgbClr val="0E9C99"/>
          </a:solidFill>
          <a:ln/>
        </p:spPr>
      </p:sp>
      <p:sp>
        <p:nvSpPr>
          <p:cNvPr id="15" name="Text 12"/>
          <p:cNvSpPr/>
          <p:nvPr/>
        </p:nvSpPr>
        <p:spPr>
          <a:xfrm>
            <a:off x="11488043" y="5503069"/>
            <a:ext cx="4042923"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191A1D"/>
                </a:solidFill>
                <a:latin typeface="Arial" pitchFamily="34" charset="0"/>
                <a:ea typeface="Arial" pitchFamily="34" charset="-122"/>
                <a:cs typeface="Arial" pitchFamily="34" charset="-120"/>
              </a:rPr>
              <a:t>DeepSeek — collapses in French</a:t>
            </a:r>
            <a:endParaRPr lang="en-US" sz="1950" dirty="0"/>
          </a:p>
        </p:txBody>
      </p:sp>
      <p:sp>
        <p:nvSpPr>
          <p:cNvPr id="16" name="Text 13"/>
          <p:cNvSpPr/>
          <p:nvPr/>
        </p:nvSpPr>
        <p:spPr>
          <a:xfrm>
            <a:off x="11230868" y="5884069"/>
            <a:ext cx="6076840" cy="1073944"/>
          </a:xfrm>
          <a:prstGeom prst="rect">
            <a:avLst/>
          </a:prstGeom>
          <a:noFill/>
          <a:ln/>
        </p:spPr>
        <p:txBody>
          <a:bodyPr wrap="square" lIns="25400" tIns="25400" rIns="25400" bIns="25400" rtlCol="0" anchor="t">
            <a:normAutofit/>
          </a:bodyPr>
          <a:lstStyle/>
          <a:p>
            <a:pPr algn="l" indent="0" marL="0">
              <a:lnSpc>
                <a:spcPct val="145000"/>
              </a:lnSpc>
              <a:buNone/>
            </a:pPr>
            <a:r>
              <a:rPr lang="en-US" sz="1875" dirty="0">
                <a:solidFill>
                  <a:srgbClr val="33353B"/>
                </a:solidFill>
                <a:latin typeface="Arial" pitchFamily="34" charset="0"/>
                <a:ea typeface="Arial" pitchFamily="34" charset="-122"/>
                <a:cs typeface="Arial" pitchFamily="34" charset="-120"/>
              </a:rPr>
              <a:t>Age, Nationality, Race, Sexual orientation, Socioeconomic go non-significant / favour H</a:t>
            </a:r>
            <a:pPr algn="l" indent="0" marL="0">
              <a:lnSpc>
                <a:spcPct val="145000"/>
              </a:lnSpc>
              <a:buNone/>
            </a:pPr>
            <a:r>
              <a:rPr lang="en-US" sz="1562" baseline="-40000" dirty="0">
                <a:solidFill>
                  <a:srgbClr val="33353B"/>
                </a:solidFill>
                <a:latin typeface="Arial" pitchFamily="34" charset="0"/>
                <a:ea typeface="Arial" pitchFamily="34" charset="-122"/>
                <a:cs typeface="Arial" pitchFamily="34" charset="-120"/>
              </a:rPr>
              <a:t>0 </a:t>
            </a:r>
            <a:pPr algn="l" indent="0" marL="0">
              <a:lnSpc>
                <a:spcPct val="145000"/>
              </a:lnSpc>
              <a:buNone/>
            </a:pPr>
            <a:r>
              <a:rPr lang="en-US" sz="1875" dirty="0">
                <a:solidFill>
                  <a:srgbClr val="33353B"/>
                </a:solidFill>
                <a:latin typeface="Arial" pitchFamily="34" charset="0"/>
                <a:ea typeface="Arial" pitchFamily="34" charset="-122"/>
                <a:cs typeface="Arial" pitchFamily="34" charset="-120"/>
              </a:rPr>
              <a:t>(Race log₁₀BF −1.22). Only 4/9 survive, weakly.</a:t>
            </a:r>
            <a:endParaRPr lang="en-US" sz="1875" dirty="0"/>
          </a:p>
        </p:txBody>
      </p:sp>
      <p:sp>
        <p:nvSpPr>
          <p:cNvPr id="17" name="Shape 14"/>
          <p:cNvSpPr/>
          <p:nvPr/>
        </p:nvSpPr>
        <p:spPr>
          <a:xfrm>
            <a:off x="10949880" y="7334250"/>
            <a:ext cx="6461820" cy="1119188"/>
          </a:xfrm>
          <a:prstGeom prst="roundRect">
            <a:avLst>
              <a:gd name="adj" fmla="val 10213"/>
            </a:avLst>
          </a:prstGeom>
          <a:solidFill>
            <a:srgbClr val="1B1C20"/>
          </a:solidFill>
          <a:ln/>
        </p:spPr>
      </p:sp>
      <p:sp>
        <p:nvSpPr>
          <p:cNvPr id="18" name="Text 15"/>
          <p:cNvSpPr/>
          <p:nvPr/>
        </p:nvSpPr>
        <p:spPr>
          <a:xfrm>
            <a:off x="11216580" y="7543800"/>
            <a:ext cx="6106272" cy="738188"/>
          </a:xfrm>
          <a:prstGeom prst="rect">
            <a:avLst/>
          </a:prstGeom>
          <a:noFill/>
          <a:ln/>
        </p:spPr>
        <p:txBody>
          <a:bodyPr wrap="square" lIns="25400" tIns="25400" rIns="25400" bIns="25400" rtlCol="0" anchor="t">
            <a:normAutofit/>
          </a:bodyPr>
          <a:lstStyle/>
          <a:p>
            <a:pPr algn="l" indent="0" marL="0">
              <a:lnSpc>
                <a:spcPct val="145000"/>
              </a:lnSpc>
              <a:buNone/>
            </a:pPr>
            <a:r>
              <a:rPr lang="en-US" sz="1875" dirty="0">
                <a:solidFill>
                  <a:srgbClr val="F4F1EA"/>
                </a:solidFill>
                <a:latin typeface="Arial" pitchFamily="34" charset="0"/>
                <a:ea typeface="Arial" pitchFamily="34" charset="-122"/>
                <a:cs typeface="Arial" pitchFamily="34" charset="-120"/>
              </a:rPr>
              <a:t>DeepSeek's stereotyping is </a:t>
            </a:r>
            <a:pPr algn="l" indent="0" marL="0">
              <a:lnSpc>
                <a:spcPct val="145000"/>
              </a:lnSpc>
              <a:buNone/>
            </a:pPr>
            <a:r>
              <a:rPr lang="en-US" sz="1875" b="1" dirty="0">
                <a:solidFill>
                  <a:srgbClr val="5FC9C5"/>
                </a:solidFill>
                <a:latin typeface="Arial" pitchFamily="34" charset="0"/>
                <a:ea typeface="Arial" pitchFamily="34" charset="-122"/>
                <a:cs typeface="Arial" pitchFamily="34" charset="-120"/>
              </a:rPr>
              <a:t>largely English-only </a:t>
            </a:r>
            <a:pPr algn="l" indent="0" marL="0">
              <a:lnSpc>
                <a:spcPct val="145000"/>
              </a:lnSpc>
              <a:buNone/>
            </a:pPr>
            <a:r>
              <a:rPr lang="en-US" sz="1875" dirty="0">
                <a:solidFill>
                  <a:srgbClr val="F4F1EA"/>
                </a:solidFill>
                <a:latin typeface="Arial" pitchFamily="34" charset="0"/>
                <a:ea typeface="Arial" pitchFamily="34" charset="-122"/>
                <a:cs typeface="Arial" pitchFamily="34" charset="-120"/>
              </a:rPr>
              <a:t>; ChatGPT's is </a:t>
            </a:r>
            <a:pPr algn="l" indent="0" marL="0">
              <a:lnSpc>
                <a:spcPct val="145000"/>
              </a:lnSpc>
              <a:buNone/>
            </a:pPr>
            <a:r>
              <a:rPr lang="en-US" sz="1875" b="1" dirty="0">
                <a:solidFill>
                  <a:srgbClr val="E8927F"/>
                </a:solidFill>
                <a:latin typeface="Arial" pitchFamily="34" charset="0"/>
                <a:ea typeface="Arial" pitchFamily="34" charset="-122"/>
                <a:cs typeface="Arial" pitchFamily="34" charset="-120"/>
              </a:rPr>
              <a:t>language-transferable.</a:t>
            </a:r>
            <a:endParaRPr lang="en-US" sz="1875" dirty="0"/>
          </a:p>
        </p:txBody>
      </p:sp>
      <p:sp>
        <p:nvSpPr>
          <p:cNvPr id="19" name="Text 16"/>
          <p:cNvSpPr/>
          <p:nvPr/>
        </p:nvSpPr>
        <p:spPr>
          <a:xfrm>
            <a:off x="876300" y="9572625"/>
            <a:ext cx="8551768"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8A8778"/>
                </a:solidFill>
                <a:latin typeface="Courier New" pitchFamily="34" charset="0"/>
                <a:ea typeface="Courier New" pitchFamily="34" charset="-122"/>
                <a:cs typeface="Courier New" pitchFamily="34" charset="-120"/>
              </a:rPr>
              <a:t>Bayesian Bias Detection · Statistics for Data Science</a:t>
            </a:r>
            <a:endParaRPr lang="en-US" sz="1800" dirty="0"/>
          </a:p>
        </p:txBody>
      </p:sp>
      <p:sp>
        <p:nvSpPr>
          <p:cNvPr id="20" name="Text 17"/>
          <p:cNvSpPr/>
          <p:nvPr/>
        </p:nvSpPr>
        <p:spPr>
          <a:xfrm>
            <a:off x="16384860" y="9572625"/>
            <a:ext cx="1103040"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8A8778"/>
                </a:solidFill>
                <a:latin typeface="Courier New" pitchFamily="34" charset="0"/>
                <a:ea typeface="Courier New" pitchFamily="34" charset="-122"/>
                <a:cs typeface="Courier New" pitchFamily="34" charset="-120"/>
              </a:rPr>
              <a:t>11 / 15</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0E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4F1EA"/>
          </a:solidFill>
          <a:ln/>
        </p:spPr>
      </p:sp>
      <p:sp>
        <p:nvSpPr>
          <p:cNvPr id="3" name="Shape 1"/>
          <p:cNvSpPr/>
          <p:nvPr/>
        </p:nvSpPr>
        <p:spPr>
          <a:xfrm>
            <a:off x="876300" y="2043113"/>
            <a:ext cx="16535400" cy="19050"/>
          </a:xfrm>
          <a:prstGeom prst="rect">
            <a:avLst/>
          </a:prstGeom>
          <a:solidFill>
            <a:srgbClr val="191A1D"/>
          </a:solidFill>
          <a:ln/>
        </p:spPr>
      </p:sp>
      <p:sp>
        <p:nvSpPr>
          <p:cNvPr id="4" name="Text 2"/>
          <p:cNvSpPr/>
          <p:nvPr/>
        </p:nvSpPr>
        <p:spPr>
          <a:xfrm>
            <a:off x="876300" y="723900"/>
            <a:ext cx="9480091" cy="333375"/>
          </a:xfrm>
          <a:prstGeom prst="rect">
            <a:avLst/>
          </a:prstGeom>
          <a:noFill/>
          <a:ln/>
        </p:spPr>
        <p:txBody>
          <a:bodyPr wrap="square" lIns="25400" tIns="25400" rIns="25400" bIns="25400" rtlCol="0" anchor="t">
            <a:normAutofit/>
          </a:bodyPr>
          <a:lstStyle/>
          <a:p>
            <a:pPr algn="l" indent="0" marL="0">
              <a:buNone/>
            </a:pPr>
            <a:r>
              <a:rPr lang="en-US" sz="1800" spc="225" kern="0" dirty="0">
                <a:solidFill>
                  <a:srgbClr val="2E3F66"/>
                </a:solidFill>
                <a:latin typeface="Courier New" pitchFamily="34" charset="0"/>
                <a:ea typeface="Courier New" pitchFamily="34" charset="-122"/>
                <a:cs typeface="Courier New" pitchFamily="34" charset="-120"/>
              </a:rPr>
              <a:t>EXPERIMENT C · 12 · REPRODUCES TABLE 4 · LARGEST RUN</a:t>
            </a:r>
            <a:endParaRPr lang="en-US" sz="1800" dirty="0"/>
          </a:p>
        </p:txBody>
      </p:sp>
      <p:sp>
        <p:nvSpPr>
          <p:cNvPr id="5" name="Text 3"/>
          <p:cNvSpPr/>
          <p:nvPr/>
        </p:nvSpPr>
        <p:spPr>
          <a:xfrm>
            <a:off x="876300" y="1133475"/>
            <a:ext cx="9480091" cy="757238"/>
          </a:xfrm>
          <a:prstGeom prst="rect">
            <a:avLst/>
          </a:prstGeom>
          <a:noFill/>
          <a:ln/>
        </p:spPr>
        <p:txBody>
          <a:bodyPr wrap="square" lIns="25400" tIns="25400" rIns="25400" bIns="25400" rtlCol="0" anchor="t">
            <a:normAutofit/>
          </a:bodyPr>
          <a:lstStyle/>
          <a:p>
            <a:pPr algn="l" indent="0" marL="0">
              <a:buNone/>
            </a:pPr>
            <a:r>
              <a:rPr lang="en-US" sz="4350" b="1" dirty="0">
                <a:solidFill>
                  <a:srgbClr val="191A1D"/>
                </a:solidFill>
                <a:latin typeface="Georgia" pitchFamily="34" charset="0"/>
                <a:ea typeface="Georgia" pitchFamily="34" charset="-122"/>
                <a:cs typeface="Georgia" pitchFamily="34" charset="-120"/>
              </a:rPr>
              <a:t>BBQ Dataset</a:t>
            </a:r>
            <a:endParaRPr lang="en-US" sz="4350" dirty="0"/>
          </a:p>
        </p:txBody>
      </p:sp>
      <p:sp>
        <p:nvSpPr>
          <p:cNvPr id="6" name="Text 4"/>
          <p:cNvSpPr/>
          <p:nvPr/>
        </p:nvSpPr>
        <p:spPr>
          <a:xfrm>
            <a:off x="13434045" y="1557338"/>
            <a:ext cx="43754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65961"/>
                </a:solidFill>
                <a:latin typeface="Courier New" pitchFamily="34" charset="0"/>
                <a:ea typeface="Courier New" pitchFamily="34" charset="-122"/>
                <a:cs typeface="Courier New" pitchFamily="34" charset="-120"/>
              </a:rPr>
              <a:t>7839 items · ~15.7k API calls</a:t>
            </a:r>
            <a:endParaRPr lang="en-US" sz="1800" dirty="0"/>
          </a:p>
        </p:txBody>
      </p:sp>
      <p:sp>
        <p:nvSpPr>
          <p:cNvPr id="7" name="Shape 5"/>
          <p:cNvSpPr/>
          <p:nvPr/>
        </p:nvSpPr>
        <p:spPr>
          <a:xfrm>
            <a:off x="876300" y="3277195"/>
            <a:ext cx="8640663" cy="954286"/>
          </a:xfrm>
          <a:prstGeom prst="roundRect">
            <a:avLst>
              <a:gd name="adj" fmla="val 9981"/>
            </a:avLst>
          </a:prstGeom>
          <a:solidFill>
            <a:srgbClr val="1B1C20"/>
          </a:solidFill>
          <a:ln/>
        </p:spPr>
      </p:sp>
      <p:sp>
        <p:nvSpPr>
          <p:cNvPr id="8" name="Text 6"/>
          <p:cNvSpPr/>
          <p:nvPr/>
        </p:nvSpPr>
        <p:spPr>
          <a:xfrm>
            <a:off x="1085850" y="3429595"/>
            <a:ext cx="8480783" cy="687586"/>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F4F1EA"/>
                </a:solidFill>
                <a:highlight>
                  <a:srgbClr val="1B1C20"/>
                </a:highlight>
                <a:latin typeface="Arial" pitchFamily="34" charset="0"/>
                <a:ea typeface="Arial" pitchFamily="34" charset="-122"/>
                <a:cs typeface="Arial" pitchFamily="34" charset="-120"/>
              </a:rPr>
              <a:t>On BBQ, </a:t>
            </a:r>
            <a:pPr algn="l" indent="0" marL="0">
              <a:lnSpc>
                <a:spcPct val="140000"/>
              </a:lnSpc>
              <a:buNone/>
            </a:pPr>
            <a:r>
              <a:rPr lang="en-US" sz="1800" b="1" dirty="0">
                <a:solidFill>
                  <a:srgbClr val="0E9C99"/>
                </a:solidFill>
                <a:latin typeface="Arial" pitchFamily="34" charset="0"/>
                <a:ea typeface="Arial" pitchFamily="34" charset="-122"/>
                <a:cs typeface="Arial" pitchFamily="34" charset="-120"/>
              </a:rPr>
              <a:t>low rate = fair </a:t>
            </a:r>
            <a:pPr algn="l" indent="0" marL="0">
              <a:lnSpc>
                <a:spcPct val="140000"/>
              </a:lnSpc>
              <a:buNone/>
            </a:pPr>
            <a:r>
              <a:rPr lang="en-US" sz="1800" dirty="0">
                <a:solidFill>
                  <a:srgbClr val="F4F1EA"/>
                </a:solidFill>
                <a:highlight>
                  <a:srgbClr val="1B1C20"/>
                </a:highlight>
                <a:latin typeface="Arial" pitchFamily="34" charset="0"/>
                <a:ea typeface="Arial" pitchFamily="34" charset="-122"/>
                <a:cs typeface="Arial" pitchFamily="34" charset="-120"/>
              </a:rPr>
              <a:t>(avoids stereotype / answers "unknown"). </a:t>
            </a:r>
            <a:pPr algn="l" indent="0" marL="0">
              <a:lnSpc>
                <a:spcPct val="140000"/>
              </a:lnSpc>
              <a:buNone/>
            </a:pPr>
            <a:r>
              <a:rPr lang="en-US" sz="1800" b="1" dirty="0">
                <a:solidFill>
                  <a:srgbClr val="E8927F"/>
                </a:solidFill>
                <a:latin typeface="Arial" pitchFamily="34" charset="0"/>
                <a:ea typeface="Arial" pitchFamily="34" charset="-122"/>
                <a:cs typeface="Arial" pitchFamily="34" charset="-120"/>
              </a:rPr>
              <a:t>rate &gt; 0.5 = stereotypical.</a:t>
            </a:r>
            <a:endParaRPr lang="en-US" sz="1800" dirty="0"/>
          </a:p>
        </p:txBody>
      </p:sp>
      <p:sp>
        <p:nvSpPr>
          <p:cNvPr id="9" name="Shape 7"/>
          <p:cNvSpPr/>
          <p:nvPr/>
        </p:nvSpPr>
        <p:spPr>
          <a:xfrm>
            <a:off x="876300" y="4881563"/>
            <a:ext cx="8640663" cy="14288"/>
          </a:xfrm>
          <a:prstGeom prst="rect">
            <a:avLst/>
          </a:prstGeom>
          <a:solidFill>
            <a:srgbClr val="191A1D"/>
          </a:solidFill>
          <a:ln/>
        </p:spPr>
      </p:sp>
      <p:sp>
        <p:nvSpPr>
          <p:cNvPr id="10" name="Text 8"/>
          <p:cNvSpPr/>
          <p:nvPr/>
        </p:nvSpPr>
        <p:spPr>
          <a:xfrm>
            <a:off x="952500" y="4498181"/>
            <a:ext cx="3742621" cy="340519"/>
          </a:xfrm>
          <a:prstGeom prst="rect">
            <a:avLst/>
          </a:prstGeom>
          <a:noFill/>
          <a:ln/>
        </p:spPr>
        <p:txBody>
          <a:bodyPr wrap="square" lIns="25400" tIns="25400" rIns="25400" bIns="25400" rtlCol="0" anchor="ctr">
            <a:normAutofit/>
          </a:bodyPr>
          <a:lstStyle/>
          <a:p>
            <a:pPr algn="l" indent="0" marL="0">
              <a:buNone/>
            </a:pPr>
            <a:r>
              <a:rPr lang="en-US" sz="1800" dirty="0">
                <a:solidFill>
                  <a:srgbClr val="565961"/>
                </a:solidFill>
                <a:latin typeface="Courier New" pitchFamily="34" charset="0"/>
                <a:ea typeface="Courier New" pitchFamily="34" charset="-122"/>
                <a:cs typeface="Courier New" pitchFamily="34" charset="-120"/>
              </a:rPr>
              <a:t>CHATGPT · CATEGORY</a:t>
            </a:r>
            <a:endParaRPr lang="en-US" sz="1800" dirty="0"/>
          </a:p>
        </p:txBody>
      </p:sp>
      <p:sp>
        <p:nvSpPr>
          <p:cNvPr id="11" name="Text 9"/>
          <p:cNvSpPr/>
          <p:nvPr/>
        </p:nvSpPr>
        <p:spPr>
          <a:xfrm>
            <a:off x="4657874" y="4498181"/>
            <a:ext cx="1133029" cy="340519"/>
          </a:xfrm>
          <a:prstGeom prst="rect">
            <a:avLst/>
          </a:prstGeom>
          <a:noFill/>
          <a:ln/>
        </p:spPr>
        <p:txBody>
          <a:bodyPr wrap="square" lIns="25400" tIns="25400" rIns="25400" bIns="25400" rtlCol="0" anchor="ctr">
            <a:normAutofit/>
          </a:bodyPr>
          <a:lstStyle/>
          <a:p>
            <a:pPr algn="r" indent="0" marL="0">
              <a:buNone/>
            </a:pPr>
            <a:r>
              <a:rPr lang="en-US" sz="1800" dirty="0">
                <a:solidFill>
                  <a:srgbClr val="565961"/>
                </a:solidFill>
                <a:latin typeface="Courier New" pitchFamily="34" charset="0"/>
                <a:ea typeface="Courier New" pitchFamily="34" charset="-122"/>
                <a:cs typeface="Courier New" pitchFamily="34" charset="-120"/>
              </a:rPr>
              <a:t>SS</a:t>
            </a:r>
            <a:endParaRPr lang="en-US" sz="1800" dirty="0"/>
          </a:p>
        </p:txBody>
      </p:sp>
      <p:sp>
        <p:nvSpPr>
          <p:cNvPr id="12" name="Text 10"/>
          <p:cNvSpPr/>
          <p:nvPr/>
        </p:nvSpPr>
        <p:spPr>
          <a:xfrm>
            <a:off x="5867102" y="4498181"/>
            <a:ext cx="1133177" cy="340519"/>
          </a:xfrm>
          <a:prstGeom prst="rect">
            <a:avLst/>
          </a:prstGeom>
          <a:noFill/>
          <a:ln/>
        </p:spPr>
        <p:txBody>
          <a:bodyPr wrap="square" lIns="25400" tIns="25400" rIns="25400" bIns="25400" rtlCol="0" anchor="ctr">
            <a:normAutofit/>
          </a:bodyPr>
          <a:lstStyle/>
          <a:p>
            <a:pPr algn="r" indent="0" marL="0">
              <a:buNone/>
            </a:pPr>
            <a:r>
              <a:rPr lang="en-US" sz="1800" dirty="0">
                <a:solidFill>
                  <a:srgbClr val="565961"/>
                </a:solidFill>
                <a:latin typeface="Courier New" pitchFamily="34" charset="0"/>
                <a:ea typeface="Courier New" pitchFamily="34" charset="-122"/>
                <a:cs typeface="Courier New" pitchFamily="34" charset="-120"/>
              </a:rPr>
              <a:t>rate</a:t>
            </a:r>
            <a:endParaRPr lang="en-US" sz="1800" dirty="0"/>
          </a:p>
        </p:txBody>
      </p:sp>
      <p:sp>
        <p:nvSpPr>
          <p:cNvPr id="13" name="Text 11"/>
          <p:cNvSpPr/>
          <p:nvPr/>
        </p:nvSpPr>
        <p:spPr>
          <a:xfrm>
            <a:off x="7152680" y="4498181"/>
            <a:ext cx="2364284" cy="340519"/>
          </a:xfrm>
          <a:prstGeom prst="rect">
            <a:avLst/>
          </a:prstGeom>
          <a:noFill/>
          <a:ln/>
        </p:spPr>
        <p:txBody>
          <a:bodyPr wrap="square" lIns="25400" tIns="25400" rIns="25400" bIns="25400" rtlCol="0" anchor="ctr">
            <a:normAutofit/>
          </a:bodyPr>
          <a:lstStyle/>
          <a:p>
            <a:pPr algn="l" indent="0" marL="0">
              <a:buNone/>
            </a:pPr>
            <a:r>
              <a:rPr lang="en-US" sz="1800" dirty="0">
                <a:solidFill>
                  <a:srgbClr val="565961"/>
                </a:solidFill>
                <a:latin typeface="Courier New" pitchFamily="34" charset="0"/>
                <a:ea typeface="Courier New" pitchFamily="34" charset="-122"/>
                <a:cs typeface="Courier New" pitchFamily="34" charset="-120"/>
              </a:rPr>
              <a:t>direction</a:t>
            </a:r>
            <a:endParaRPr lang="en-US" sz="1800" dirty="0"/>
          </a:p>
        </p:txBody>
      </p:sp>
      <p:sp>
        <p:nvSpPr>
          <p:cNvPr id="14" name="Shape 12"/>
          <p:cNvSpPr/>
          <p:nvPr/>
        </p:nvSpPr>
        <p:spPr>
          <a:xfrm>
            <a:off x="876300" y="4895850"/>
            <a:ext cx="8640663" cy="535781"/>
          </a:xfrm>
          <a:prstGeom prst="rect">
            <a:avLst/>
          </a:prstGeom>
          <a:solidFill>
            <a:srgbClr val="EFE7E0"/>
          </a:solidFill>
          <a:ln/>
        </p:spPr>
      </p:sp>
      <p:sp>
        <p:nvSpPr>
          <p:cNvPr id="15" name="Shape 13"/>
          <p:cNvSpPr/>
          <p:nvPr/>
        </p:nvSpPr>
        <p:spPr>
          <a:xfrm>
            <a:off x="876300" y="5422106"/>
            <a:ext cx="8640663" cy="9525"/>
          </a:xfrm>
          <a:prstGeom prst="rect">
            <a:avLst/>
          </a:prstGeom>
          <a:solidFill>
            <a:srgbClr val="E2DDD0"/>
          </a:solidFill>
          <a:ln/>
        </p:spPr>
      </p:sp>
      <p:sp>
        <p:nvSpPr>
          <p:cNvPr id="16" name="Text 14"/>
          <p:cNvSpPr/>
          <p:nvPr/>
        </p:nvSpPr>
        <p:spPr>
          <a:xfrm>
            <a:off x="952500" y="5010150"/>
            <a:ext cx="3742621" cy="345281"/>
          </a:xfrm>
          <a:prstGeom prst="rect">
            <a:avLst/>
          </a:prstGeom>
          <a:noFill/>
          <a:ln/>
        </p:spPr>
        <p:txBody>
          <a:bodyPr wrap="square" lIns="25400" tIns="25400" rIns="25400" bIns="25400" rtlCol="0" anchor="ctr">
            <a:normAutofit/>
          </a:bodyPr>
          <a:lstStyle/>
          <a:p>
            <a:pPr algn="l" indent="0" marL="0">
              <a:buNone/>
            </a:pPr>
            <a:r>
              <a:rPr lang="en-US" sz="1800" b="1" dirty="0">
                <a:solidFill>
                  <a:srgbClr val="191A1D"/>
                </a:solidFill>
                <a:latin typeface="Arial" pitchFamily="34" charset="0"/>
                <a:ea typeface="Arial" pitchFamily="34" charset="-122"/>
                <a:cs typeface="Arial" pitchFamily="34" charset="-120"/>
              </a:rPr>
              <a:t>Age</a:t>
            </a:r>
            <a:endParaRPr lang="en-US" sz="1800" dirty="0"/>
          </a:p>
        </p:txBody>
      </p:sp>
      <p:sp>
        <p:nvSpPr>
          <p:cNvPr id="17" name="Text 15"/>
          <p:cNvSpPr/>
          <p:nvPr/>
        </p:nvSpPr>
        <p:spPr>
          <a:xfrm>
            <a:off x="4657874" y="5010150"/>
            <a:ext cx="1133029" cy="345281"/>
          </a:xfrm>
          <a:prstGeom prst="rect">
            <a:avLst/>
          </a:prstGeom>
          <a:noFill/>
          <a:ln/>
        </p:spPr>
        <p:txBody>
          <a:bodyPr wrap="square" lIns="25400" tIns="25400" rIns="25400" bIns="25400" rtlCol="0" anchor="ctr">
            <a:normAutofit/>
          </a:bodyPr>
          <a:lstStyle/>
          <a:p>
            <a:pPr algn="r" indent="0" marL="0">
              <a:buNone/>
            </a:pPr>
            <a:r>
              <a:rPr lang="en-US" sz="1800" dirty="0">
                <a:solidFill>
                  <a:srgbClr val="191A1D"/>
                </a:solidFill>
                <a:latin typeface="Courier New" pitchFamily="34" charset="0"/>
                <a:ea typeface="Courier New" pitchFamily="34" charset="-122"/>
                <a:cs typeface="Courier New" pitchFamily="34" charset="-120"/>
              </a:rPr>
              <a:t>0.570</a:t>
            </a:r>
            <a:endParaRPr lang="en-US" sz="1800" dirty="0"/>
          </a:p>
        </p:txBody>
      </p:sp>
      <p:sp>
        <p:nvSpPr>
          <p:cNvPr id="18" name="Text 16"/>
          <p:cNvSpPr/>
          <p:nvPr/>
        </p:nvSpPr>
        <p:spPr>
          <a:xfrm>
            <a:off x="5867102" y="5010150"/>
            <a:ext cx="1133177" cy="345281"/>
          </a:xfrm>
          <a:prstGeom prst="rect">
            <a:avLst/>
          </a:prstGeom>
          <a:noFill/>
          <a:ln/>
        </p:spPr>
        <p:txBody>
          <a:bodyPr wrap="square" lIns="25400" tIns="25400" rIns="25400" bIns="25400" rtlCol="0" anchor="ctr">
            <a:normAutofit/>
          </a:bodyPr>
          <a:lstStyle/>
          <a:p>
            <a:pPr algn="r" indent="0" marL="0">
              <a:buNone/>
            </a:pPr>
            <a:r>
              <a:rPr lang="en-US" sz="1800" b="1" dirty="0">
                <a:solidFill>
                  <a:srgbClr val="C4442F"/>
                </a:solidFill>
                <a:latin typeface="Courier New" pitchFamily="34" charset="0"/>
                <a:ea typeface="Courier New" pitchFamily="34" charset="-122"/>
                <a:cs typeface="Courier New" pitchFamily="34" charset="-120"/>
              </a:rPr>
              <a:t>0.570</a:t>
            </a:r>
            <a:endParaRPr lang="en-US" sz="1800" dirty="0"/>
          </a:p>
        </p:txBody>
      </p:sp>
      <p:sp>
        <p:nvSpPr>
          <p:cNvPr id="19" name="Text 17"/>
          <p:cNvSpPr/>
          <p:nvPr/>
        </p:nvSpPr>
        <p:spPr>
          <a:xfrm>
            <a:off x="7152680" y="5010150"/>
            <a:ext cx="2364284" cy="345281"/>
          </a:xfrm>
          <a:prstGeom prst="rect">
            <a:avLst/>
          </a:prstGeom>
          <a:noFill/>
          <a:ln/>
        </p:spPr>
        <p:txBody>
          <a:bodyPr wrap="square" lIns="25400" tIns="25400" rIns="25400" bIns="25400" rtlCol="0" anchor="ctr">
            <a:normAutofit/>
          </a:bodyPr>
          <a:lstStyle/>
          <a:p>
            <a:pPr algn="l" indent="0" marL="0">
              <a:buNone/>
            </a:pPr>
            <a:r>
              <a:rPr lang="en-US" sz="1800" dirty="0">
                <a:solidFill>
                  <a:srgbClr val="C4442F"/>
                </a:solidFill>
                <a:latin typeface="Arial" pitchFamily="34" charset="0"/>
                <a:ea typeface="Arial" pitchFamily="34" charset="-122"/>
                <a:cs typeface="Arial" pitchFamily="34" charset="-120"/>
              </a:rPr>
              <a:t>stereotypical</a:t>
            </a:r>
            <a:endParaRPr lang="en-US" sz="1800" dirty="0"/>
          </a:p>
        </p:txBody>
      </p:sp>
      <p:sp>
        <p:nvSpPr>
          <p:cNvPr id="20" name="Shape 18"/>
          <p:cNvSpPr/>
          <p:nvPr/>
        </p:nvSpPr>
        <p:spPr>
          <a:xfrm>
            <a:off x="876300" y="5955506"/>
            <a:ext cx="8640663" cy="9525"/>
          </a:xfrm>
          <a:prstGeom prst="rect">
            <a:avLst/>
          </a:prstGeom>
          <a:solidFill>
            <a:srgbClr val="E2DDD0"/>
          </a:solidFill>
          <a:ln/>
        </p:spPr>
      </p:sp>
      <p:sp>
        <p:nvSpPr>
          <p:cNvPr id="21" name="Text 19"/>
          <p:cNvSpPr/>
          <p:nvPr/>
        </p:nvSpPr>
        <p:spPr>
          <a:xfrm>
            <a:off x="952500" y="5545931"/>
            <a:ext cx="3742621" cy="342900"/>
          </a:xfrm>
          <a:prstGeom prst="rect">
            <a:avLst/>
          </a:prstGeom>
          <a:noFill/>
          <a:ln/>
        </p:spPr>
        <p:txBody>
          <a:bodyPr wrap="square" lIns="25400" tIns="25400" rIns="25400" bIns="25400" rtlCol="0" anchor="ctr">
            <a:normAutofit/>
          </a:bodyPr>
          <a:lstStyle/>
          <a:p>
            <a:pPr algn="l" indent="0" marL="0">
              <a:buNone/>
            </a:pPr>
            <a:r>
              <a:rPr lang="en-US" sz="1800" b="1" dirty="0">
                <a:solidFill>
                  <a:srgbClr val="191A1D"/>
                </a:solidFill>
                <a:latin typeface="Arial" pitchFamily="34" charset="0"/>
                <a:ea typeface="Arial" pitchFamily="34" charset="-122"/>
                <a:cs typeface="Arial" pitchFamily="34" charset="-120"/>
              </a:rPr>
              <a:t>Gender</a:t>
            </a:r>
            <a:endParaRPr lang="en-US" sz="1800" dirty="0"/>
          </a:p>
        </p:txBody>
      </p:sp>
      <p:sp>
        <p:nvSpPr>
          <p:cNvPr id="22" name="Text 20"/>
          <p:cNvSpPr/>
          <p:nvPr/>
        </p:nvSpPr>
        <p:spPr>
          <a:xfrm>
            <a:off x="4657874" y="5545931"/>
            <a:ext cx="1133029" cy="342900"/>
          </a:xfrm>
          <a:prstGeom prst="rect">
            <a:avLst/>
          </a:prstGeom>
          <a:noFill/>
          <a:ln/>
        </p:spPr>
        <p:txBody>
          <a:bodyPr wrap="square" lIns="25400" tIns="25400" rIns="25400" bIns="25400" rtlCol="0" anchor="ctr">
            <a:normAutofit/>
          </a:bodyPr>
          <a:lstStyle/>
          <a:p>
            <a:pPr algn="r" indent="0" marL="0">
              <a:buNone/>
            </a:pPr>
            <a:r>
              <a:rPr lang="en-US" sz="1800" dirty="0">
                <a:solidFill>
                  <a:srgbClr val="191A1D"/>
                </a:solidFill>
                <a:latin typeface="Courier New" pitchFamily="34" charset="0"/>
                <a:ea typeface="Courier New" pitchFamily="34" charset="-122"/>
                <a:cs typeface="Courier New" pitchFamily="34" charset="-120"/>
              </a:rPr>
              <a:t>0.556</a:t>
            </a:r>
            <a:endParaRPr lang="en-US" sz="1800" dirty="0"/>
          </a:p>
        </p:txBody>
      </p:sp>
      <p:sp>
        <p:nvSpPr>
          <p:cNvPr id="23" name="Text 21"/>
          <p:cNvSpPr/>
          <p:nvPr/>
        </p:nvSpPr>
        <p:spPr>
          <a:xfrm>
            <a:off x="5867102" y="5545931"/>
            <a:ext cx="1133177" cy="342900"/>
          </a:xfrm>
          <a:prstGeom prst="rect">
            <a:avLst/>
          </a:prstGeom>
          <a:noFill/>
          <a:ln/>
        </p:spPr>
        <p:txBody>
          <a:bodyPr wrap="square" lIns="25400" tIns="25400" rIns="25400" bIns="25400" rtlCol="0" anchor="ctr">
            <a:normAutofit/>
          </a:bodyPr>
          <a:lstStyle/>
          <a:p>
            <a:pPr algn="r" indent="0" marL="0">
              <a:buNone/>
            </a:pPr>
            <a:r>
              <a:rPr lang="en-US" sz="1800" b="1" dirty="0">
                <a:solidFill>
                  <a:srgbClr val="0E9C99"/>
                </a:solidFill>
                <a:latin typeface="Courier New" pitchFamily="34" charset="0"/>
                <a:ea typeface="Courier New" pitchFamily="34" charset="-122"/>
                <a:cs typeface="Courier New" pitchFamily="34" charset="-120"/>
              </a:rPr>
              <a:t>0.444</a:t>
            </a:r>
            <a:endParaRPr lang="en-US" sz="1800" dirty="0"/>
          </a:p>
        </p:txBody>
      </p:sp>
      <p:sp>
        <p:nvSpPr>
          <p:cNvPr id="24" name="Text 22"/>
          <p:cNvSpPr/>
          <p:nvPr/>
        </p:nvSpPr>
        <p:spPr>
          <a:xfrm>
            <a:off x="7152680" y="5545931"/>
            <a:ext cx="2364284" cy="342900"/>
          </a:xfrm>
          <a:prstGeom prst="rect">
            <a:avLst/>
          </a:prstGeom>
          <a:noFill/>
          <a:ln/>
        </p:spPr>
        <p:txBody>
          <a:bodyPr wrap="square" lIns="25400" tIns="25400" rIns="25400" bIns="25400" rtlCol="0" anchor="ctr">
            <a:normAutofit/>
          </a:bodyPr>
          <a:lstStyle/>
          <a:p>
            <a:pPr algn="l" indent="0" marL="0">
              <a:buNone/>
            </a:pPr>
            <a:r>
              <a:rPr lang="en-US" sz="1800" dirty="0">
                <a:solidFill>
                  <a:srgbClr val="0E9C99"/>
                </a:solidFill>
                <a:latin typeface="Arial" pitchFamily="34" charset="0"/>
                <a:ea typeface="Arial" pitchFamily="34" charset="-122"/>
                <a:cs typeface="Arial" pitchFamily="34" charset="-120"/>
              </a:rPr>
              <a:t>avoids</a:t>
            </a:r>
            <a:endParaRPr lang="en-US" sz="1800" dirty="0"/>
          </a:p>
        </p:txBody>
      </p:sp>
      <p:sp>
        <p:nvSpPr>
          <p:cNvPr id="25" name="Shape 23"/>
          <p:cNvSpPr/>
          <p:nvPr/>
        </p:nvSpPr>
        <p:spPr>
          <a:xfrm>
            <a:off x="876300" y="6488906"/>
            <a:ext cx="8640663" cy="9525"/>
          </a:xfrm>
          <a:prstGeom prst="rect">
            <a:avLst/>
          </a:prstGeom>
          <a:solidFill>
            <a:srgbClr val="E2DDD0"/>
          </a:solidFill>
          <a:ln/>
        </p:spPr>
      </p:sp>
      <p:sp>
        <p:nvSpPr>
          <p:cNvPr id="26" name="Text 24"/>
          <p:cNvSpPr/>
          <p:nvPr/>
        </p:nvSpPr>
        <p:spPr>
          <a:xfrm>
            <a:off x="952500" y="6079331"/>
            <a:ext cx="3742621" cy="342900"/>
          </a:xfrm>
          <a:prstGeom prst="rect">
            <a:avLst/>
          </a:prstGeom>
          <a:noFill/>
          <a:ln/>
        </p:spPr>
        <p:txBody>
          <a:bodyPr wrap="square" lIns="25400" tIns="25400" rIns="25400" bIns="25400" rtlCol="0" anchor="ctr">
            <a:normAutofit/>
          </a:bodyPr>
          <a:lstStyle/>
          <a:p>
            <a:pPr algn="l" indent="0" marL="0">
              <a:buNone/>
            </a:pPr>
            <a:r>
              <a:rPr lang="en-US" sz="1800" b="1" dirty="0">
                <a:solidFill>
                  <a:srgbClr val="191A1D"/>
                </a:solidFill>
                <a:latin typeface="Arial" pitchFamily="34" charset="0"/>
                <a:ea typeface="Arial" pitchFamily="34" charset="-122"/>
                <a:cs typeface="Arial" pitchFamily="34" charset="-120"/>
              </a:rPr>
              <a:t>Race</a:t>
            </a:r>
            <a:endParaRPr lang="en-US" sz="1800" dirty="0"/>
          </a:p>
        </p:txBody>
      </p:sp>
      <p:sp>
        <p:nvSpPr>
          <p:cNvPr id="27" name="Text 25"/>
          <p:cNvSpPr/>
          <p:nvPr/>
        </p:nvSpPr>
        <p:spPr>
          <a:xfrm>
            <a:off x="4657874" y="6079331"/>
            <a:ext cx="1133029" cy="342900"/>
          </a:xfrm>
          <a:prstGeom prst="rect">
            <a:avLst/>
          </a:prstGeom>
          <a:noFill/>
          <a:ln/>
        </p:spPr>
        <p:txBody>
          <a:bodyPr wrap="square" lIns="25400" tIns="25400" rIns="25400" bIns="25400" rtlCol="0" anchor="ctr">
            <a:normAutofit/>
          </a:bodyPr>
          <a:lstStyle/>
          <a:p>
            <a:pPr algn="r" indent="0" marL="0">
              <a:buNone/>
            </a:pPr>
            <a:r>
              <a:rPr lang="en-US" sz="1800" dirty="0">
                <a:solidFill>
                  <a:srgbClr val="191A1D"/>
                </a:solidFill>
                <a:latin typeface="Courier New" pitchFamily="34" charset="0"/>
                <a:ea typeface="Courier New" pitchFamily="34" charset="-122"/>
                <a:cs typeface="Courier New" pitchFamily="34" charset="-120"/>
              </a:rPr>
              <a:t>0.644</a:t>
            </a:r>
            <a:endParaRPr lang="en-US" sz="1800" dirty="0"/>
          </a:p>
        </p:txBody>
      </p:sp>
      <p:sp>
        <p:nvSpPr>
          <p:cNvPr id="28" name="Text 26"/>
          <p:cNvSpPr/>
          <p:nvPr/>
        </p:nvSpPr>
        <p:spPr>
          <a:xfrm>
            <a:off x="5867102" y="6079331"/>
            <a:ext cx="1133177" cy="342900"/>
          </a:xfrm>
          <a:prstGeom prst="rect">
            <a:avLst/>
          </a:prstGeom>
          <a:noFill/>
          <a:ln/>
        </p:spPr>
        <p:txBody>
          <a:bodyPr wrap="square" lIns="25400" tIns="25400" rIns="25400" bIns="25400" rtlCol="0" anchor="ctr">
            <a:normAutofit/>
          </a:bodyPr>
          <a:lstStyle/>
          <a:p>
            <a:pPr algn="r" indent="0" marL="0">
              <a:buNone/>
            </a:pPr>
            <a:r>
              <a:rPr lang="en-US" sz="1800" b="1" dirty="0">
                <a:solidFill>
                  <a:srgbClr val="0E9C99"/>
                </a:solidFill>
                <a:latin typeface="Courier New" pitchFamily="34" charset="0"/>
                <a:ea typeface="Courier New" pitchFamily="34" charset="-122"/>
                <a:cs typeface="Courier New" pitchFamily="34" charset="-120"/>
              </a:rPr>
              <a:t>0.356</a:t>
            </a:r>
            <a:endParaRPr lang="en-US" sz="1800" dirty="0"/>
          </a:p>
        </p:txBody>
      </p:sp>
      <p:sp>
        <p:nvSpPr>
          <p:cNvPr id="29" name="Text 27"/>
          <p:cNvSpPr/>
          <p:nvPr/>
        </p:nvSpPr>
        <p:spPr>
          <a:xfrm>
            <a:off x="7152680" y="6079331"/>
            <a:ext cx="2364284" cy="342900"/>
          </a:xfrm>
          <a:prstGeom prst="rect">
            <a:avLst/>
          </a:prstGeom>
          <a:noFill/>
          <a:ln/>
        </p:spPr>
        <p:txBody>
          <a:bodyPr wrap="square" lIns="25400" tIns="25400" rIns="25400" bIns="25400" rtlCol="0" anchor="ctr">
            <a:normAutofit/>
          </a:bodyPr>
          <a:lstStyle/>
          <a:p>
            <a:pPr algn="l" indent="0" marL="0">
              <a:buNone/>
            </a:pPr>
            <a:r>
              <a:rPr lang="en-US" sz="1800" dirty="0">
                <a:solidFill>
                  <a:srgbClr val="0E9C99"/>
                </a:solidFill>
                <a:latin typeface="Arial" pitchFamily="34" charset="0"/>
                <a:ea typeface="Arial" pitchFamily="34" charset="-122"/>
                <a:cs typeface="Arial" pitchFamily="34" charset="-120"/>
              </a:rPr>
              <a:t>avoids</a:t>
            </a:r>
            <a:endParaRPr lang="en-US" sz="1800" dirty="0"/>
          </a:p>
        </p:txBody>
      </p:sp>
      <p:sp>
        <p:nvSpPr>
          <p:cNvPr id="30" name="Shape 28"/>
          <p:cNvSpPr/>
          <p:nvPr/>
        </p:nvSpPr>
        <p:spPr>
          <a:xfrm>
            <a:off x="876300" y="7022306"/>
            <a:ext cx="8640663" cy="9525"/>
          </a:xfrm>
          <a:prstGeom prst="rect">
            <a:avLst/>
          </a:prstGeom>
          <a:solidFill>
            <a:srgbClr val="E2DDD0"/>
          </a:solidFill>
          <a:ln/>
        </p:spPr>
      </p:sp>
      <p:sp>
        <p:nvSpPr>
          <p:cNvPr id="31" name="Text 29"/>
          <p:cNvSpPr/>
          <p:nvPr/>
        </p:nvSpPr>
        <p:spPr>
          <a:xfrm>
            <a:off x="952500" y="6612731"/>
            <a:ext cx="3742621" cy="342900"/>
          </a:xfrm>
          <a:prstGeom prst="rect">
            <a:avLst/>
          </a:prstGeom>
          <a:noFill/>
          <a:ln/>
        </p:spPr>
        <p:txBody>
          <a:bodyPr wrap="square" lIns="25400" tIns="25400" rIns="25400" bIns="25400" rtlCol="0" anchor="ctr">
            <a:normAutofit/>
          </a:bodyPr>
          <a:lstStyle/>
          <a:p>
            <a:pPr algn="l" indent="0" marL="0">
              <a:buNone/>
            </a:pPr>
            <a:r>
              <a:rPr lang="en-US" sz="1800" b="1" dirty="0">
                <a:solidFill>
                  <a:srgbClr val="191A1D"/>
                </a:solidFill>
                <a:latin typeface="Arial" pitchFamily="34" charset="0"/>
                <a:ea typeface="Arial" pitchFamily="34" charset="-122"/>
                <a:cs typeface="Arial" pitchFamily="34" charset="-120"/>
              </a:rPr>
              <a:t>Socioeconomic</a:t>
            </a:r>
            <a:endParaRPr lang="en-US" sz="1800" dirty="0"/>
          </a:p>
        </p:txBody>
      </p:sp>
      <p:sp>
        <p:nvSpPr>
          <p:cNvPr id="32" name="Text 30"/>
          <p:cNvSpPr/>
          <p:nvPr/>
        </p:nvSpPr>
        <p:spPr>
          <a:xfrm>
            <a:off x="4657874" y="6612731"/>
            <a:ext cx="1133029" cy="342900"/>
          </a:xfrm>
          <a:prstGeom prst="rect">
            <a:avLst/>
          </a:prstGeom>
          <a:noFill/>
          <a:ln/>
        </p:spPr>
        <p:txBody>
          <a:bodyPr wrap="square" lIns="25400" tIns="25400" rIns="25400" bIns="25400" rtlCol="0" anchor="ctr">
            <a:normAutofit/>
          </a:bodyPr>
          <a:lstStyle/>
          <a:p>
            <a:pPr algn="r" indent="0" marL="0">
              <a:buNone/>
            </a:pPr>
            <a:r>
              <a:rPr lang="en-US" sz="1800" dirty="0">
                <a:solidFill>
                  <a:srgbClr val="191A1D"/>
                </a:solidFill>
                <a:latin typeface="Courier New" pitchFamily="34" charset="0"/>
                <a:ea typeface="Courier New" pitchFamily="34" charset="-122"/>
                <a:cs typeface="Courier New" pitchFamily="34" charset="-120"/>
              </a:rPr>
              <a:t>0.757</a:t>
            </a:r>
            <a:endParaRPr lang="en-US" sz="1800" dirty="0"/>
          </a:p>
        </p:txBody>
      </p:sp>
      <p:sp>
        <p:nvSpPr>
          <p:cNvPr id="33" name="Text 31"/>
          <p:cNvSpPr/>
          <p:nvPr/>
        </p:nvSpPr>
        <p:spPr>
          <a:xfrm>
            <a:off x="5867102" y="6612731"/>
            <a:ext cx="1133177" cy="342900"/>
          </a:xfrm>
          <a:prstGeom prst="rect">
            <a:avLst/>
          </a:prstGeom>
          <a:noFill/>
          <a:ln/>
        </p:spPr>
        <p:txBody>
          <a:bodyPr wrap="square" lIns="25400" tIns="25400" rIns="25400" bIns="25400" rtlCol="0" anchor="ctr">
            <a:normAutofit/>
          </a:bodyPr>
          <a:lstStyle/>
          <a:p>
            <a:pPr algn="r" indent="0" marL="0">
              <a:buNone/>
            </a:pPr>
            <a:r>
              <a:rPr lang="en-US" sz="1800" b="1" dirty="0">
                <a:solidFill>
                  <a:srgbClr val="0E9C99"/>
                </a:solidFill>
                <a:latin typeface="Courier New" pitchFamily="34" charset="0"/>
                <a:ea typeface="Courier New" pitchFamily="34" charset="-122"/>
                <a:cs typeface="Courier New" pitchFamily="34" charset="-120"/>
              </a:rPr>
              <a:t>0.243</a:t>
            </a:r>
            <a:endParaRPr lang="en-US" sz="1800" dirty="0"/>
          </a:p>
        </p:txBody>
      </p:sp>
      <p:sp>
        <p:nvSpPr>
          <p:cNvPr id="34" name="Text 32"/>
          <p:cNvSpPr/>
          <p:nvPr/>
        </p:nvSpPr>
        <p:spPr>
          <a:xfrm>
            <a:off x="7152680" y="6612731"/>
            <a:ext cx="2364284" cy="342900"/>
          </a:xfrm>
          <a:prstGeom prst="rect">
            <a:avLst/>
          </a:prstGeom>
          <a:noFill/>
          <a:ln/>
        </p:spPr>
        <p:txBody>
          <a:bodyPr wrap="square" lIns="25400" tIns="25400" rIns="25400" bIns="25400" rtlCol="0" anchor="ctr">
            <a:normAutofit/>
          </a:bodyPr>
          <a:lstStyle/>
          <a:p>
            <a:pPr algn="l" indent="0" marL="0">
              <a:buNone/>
            </a:pPr>
            <a:r>
              <a:rPr lang="en-US" sz="1800" dirty="0">
                <a:solidFill>
                  <a:srgbClr val="0E9C99"/>
                </a:solidFill>
                <a:latin typeface="Arial" pitchFamily="34" charset="0"/>
                <a:ea typeface="Arial" pitchFamily="34" charset="-122"/>
                <a:cs typeface="Arial" pitchFamily="34" charset="-120"/>
              </a:rPr>
              <a:t>avoids</a:t>
            </a:r>
            <a:endParaRPr lang="en-US" sz="1800" dirty="0"/>
          </a:p>
        </p:txBody>
      </p:sp>
      <p:sp>
        <p:nvSpPr>
          <p:cNvPr id="35" name="Text 33"/>
          <p:cNvSpPr/>
          <p:nvPr/>
        </p:nvSpPr>
        <p:spPr>
          <a:xfrm>
            <a:off x="952500" y="7146131"/>
            <a:ext cx="3742621" cy="338138"/>
          </a:xfrm>
          <a:prstGeom prst="rect">
            <a:avLst/>
          </a:prstGeom>
          <a:noFill/>
          <a:ln/>
        </p:spPr>
        <p:txBody>
          <a:bodyPr wrap="square" lIns="25400" tIns="25400" rIns="25400" bIns="25400" rtlCol="0" anchor="ctr">
            <a:normAutofit/>
          </a:bodyPr>
          <a:lstStyle/>
          <a:p>
            <a:pPr algn="l" indent="0" marL="0">
              <a:buNone/>
            </a:pPr>
            <a:r>
              <a:rPr lang="en-US" sz="1800" b="1" dirty="0">
                <a:solidFill>
                  <a:srgbClr val="191A1D"/>
                </a:solidFill>
                <a:latin typeface="Arial" pitchFamily="34" charset="0"/>
                <a:ea typeface="Arial" pitchFamily="34" charset="-122"/>
                <a:cs typeface="Arial" pitchFamily="34" charset="-120"/>
              </a:rPr>
              <a:t>Sexual orient.</a:t>
            </a:r>
            <a:endParaRPr lang="en-US" sz="1800" dirty="0"/>
          </a:p>
        </p:txBody>
      </p:sp>
      <p:sp>
        <p:nvSpPr>
          <p:cNvPr id="36" name="Text 34"/>
          <p:cNvSpPr/>
          <p:nvPr/>
        </p:nvSpPr>
        <p:spPr>
          <a:xfrm>
            <a:off x="4657874" y="7146131"/>
            <a:ext cx="1133029" cy="338138"/>
          </a:xfrm>
          <a:prstGeom prst="rect">
            <a:avLst/>
          </a:prstGeom>
          <a:noFill/>
          <a:ln/>
        </p:spPr>
        <p:txBody>
          <a:bodyPr wrap="square" lIns="25400" tIns="25400" rIns="25400" bIns="25400" rtlCol="0" anchor="ctr">
            <a:normAutofit/>
          </a:bodyPr>
          <a:lstStyle/>
          <a:p>
            <a:pPr algn="r" indent="0" marL="0">
              <a:buNone/>
            </a:pPr>
            <a:r>
              <a:rPr lang="en-US" sz="1800" dirty="0">
                <a:solidFill>
                  <a:srgbClr val="191A1D"/>
                </a:solidFill>
                <a:latin typeface="Courier New" pitchFamily="34" charset="0"/>
                <a:ea typeface="Courier New" pitchFamily="34" charset="-122"/>
                <a:cs typeface="Courier New" pitchFamily="34" charset="-120"/>
              </a:rPr>
              <a:t>0.795</a:t>
            </a:r>
            <a:endParaRPr lang="en-US" sz="1800" dirty="0"/>
          </a:p>
        </p:txBody>
      </p:sp>
      <p:sp>
        <p:nvSpPr>
          <p:cNvPr id="37" name="Text 35"/>
          <p:cNvSpPr/>
          <p:nvPr/>
        </p:nvSpPr>
        <p:spPr>
          <a:xfrm>
            <a:off x="5867102" y="7146131"/>
            <a:ext cx="1133177" cy="338138"/>
          </a:xfrm>
          <a:prstGeom prst="rect">
            <a:avLst/>
          </a:prstGeom>
          <a:noFill/>
          <a:ln/>
        </p:spPr>
        <p:txBody>
          <a:bodyPr wrap="square" lIns="25400" tIns="25400" rIns="25400" bIns="25400" rtlCol="0" anchor="ctr">
            <a:normAutofit/>
          </a:bodyPr>
          <a:lstStyle/>
          <a:p>
            <a:pPr algn="r" indent="0" marL="0">
              <a:buNone/>
            </a:pPr>
            <a:r>
              <a:rPr lang="en-US" sz="1800" b="1" dirty="0">
                <a:solidFill>
                  <a:srgbClr val="0E9C99"/>
                </a:solidFill>
                <a:latin typeface="Courier New" pitchFamily="34" charset="0"/>
                <a:ea typeface="Courier New" pitchFamily="34" charset="-122"/>
                <a:cs typeface="Courier New" pitchFamily="34" charset="-120"/>
              </a:rPr>
              <a:t>0.205</a:t>
            </a:r>
            <a:endParaRPr lang="en-US" sz="1800" dirty="0"/>
          </a:p>
        </p:txBody>
      </p:sp>
      <p:sp>
        <p:nvSpPr>
          <p:cNvPr id="38" name="Text 36"/>
          <p:cNvSpPr/>
          <p:nvPr/>
        </p:nvSpPr>
        <p:spPr>
          <a:xfrm>
            <a:off x="7152680" y="7146131"/>
            <a:ext cx="2364284" cy="338138"/>
          </a:xfrm>
          <a:prstGeom prst="rect">
            <a:avLst/>
          </a:prstGeom>
          <a:noFill/>
          <a:ln/>
        </p:spPr>
        <p:txBody>
          <a:bodyPr wrap="square" lIns="25400" tIns="25400" rIns="25400" bIns="25400" rtlCol="0" anchor="ctr">
            <a:normAutofit/>
          </a:bodyPr>
          <a:lstStyle/>
          <a:p>
            <a:pPr algn="l" indent="0" marL="0">
              <a:buNone/>
            </a:pPr>
            <a:r>
              <a:rPr lang="en-US" sz="1800" dirty="0">
                <a:solidFill>
                  <a:srgbClr val="0E9C99"/>
                </a:solidFill>
                <a:latin typeface="Arial" pitchFamily="34" charset="0"/>
                <a:ea typeface="Arial" pitchFamily="34" charset="-122"/>
                <a:cs typeface="Arial" pitchFamily="34" charset="-120"/>
              </a:rPr>
              <a:t>strongly avoids</a:t>
            </a:r>
            <a:endParaRPr lang="en-US" sz="1800" dirty="0"/>
          </a:p>
        </p:txBody>
      </p:sp>
      <p:sp>
        <p:nvSpPr>
          <p:cNvPr id="39" name="Text 37"/>
          <p:cNvSpPr/>
          <p:nvPr/>
        </p:nvSpPr>
        <p:spPr>
          <a:xfrm>
            <a:off x="876300" y="7712869"/>
            <a:ext cx="8899883" cy="682823"/>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65961"/>
                </a:solidFill>
                <a:latin typeface="Arial" pitchFamily="34" charset="0"/>
                <a:ea typeface="Arial" pitchFamily="34" charset="-122"/>
                <a:cs typeface="Arial" pitchFamily="34" charset="-120"/>
              </a:rPr>
              <a:t>ChatGPT: rate &lt; 0.5 in </a:t>
            </a:r>
            <a:pPr algn="l" indent="0" marL="0">
              <a:lnSpc>
                <a:spcPct val="140000"/>
              </a:lnSpc>
              <a:buNone/>
            </a:pPr>
            <a:r>
              <a:rPr lang="en-US" sz="1800" b="1" dirty="0">
                <a:solidFill>
                  <a:srgbClr val="565961"/>
                </a:solidFill>
                <a:latin typeface="Arial" pitchFamily="34" charset="0"/>
                <a:ea typeface="Arial" pitchFamily="34" charset="-122"/>
                <a:cs typeface="Arial" pitchFamily="34" charset="-120"/>
              </a:rPr>
              <a:t>8 of 9 </a:t>
            </a:r>
            <a:pPr algn="l" indent="0" marL="0">
              <a:lnSpc>
                <a:spcPct val="140000"/>
              </a:lnSpc>
              <a:buNone/>
            </a:pPr>
            <a:r>
              <a:rPr lang="en-US" sz="1800" dirty="0">
                <a:solidFill>
                  <a:srgbClr val="565961"/>
                </a:solidFill>
                <a:latin typeface="Arial" pitchFamily="34" charset="0"/>
                <a:ea typeface="Arial" pitchFamily="34" charset="-122"/>
                <a:cs typeface="Arial" pitchFamily="34" charset="-120"/>
              </a:rPr>
              <a:t>categories — predominantly </a:t>
            </a:r>
            <a:pPr algn="l" indent="0" marL="0">
              <a:lnSpc>
                <a:spcPct val="140000"/>
              </a:lnSpc>
              <a:buNone/>
            </a:pPr>
            <a:r>
              <a:rPr lang="en-US" sz="1800" b="1" dirty="0">
                <a:solidFill>
                  <a:srgbClr val="565961"/>
                </a:solidFill>
                <a:latin typeface="Arial" pitchFamily="34" charset="0"/>
                <a:ea typeface="Arial" pitchFamily="34" charset="-122"/>
                <a:cs typeface="Arial" pitchFamily="34" charset="-120"/>
              </a:rPr>
              <a:t>avoids </a:t>
            </a:r>
            <a:pPr algn="l" indent="0" marL="0">
              <a:lnSpc>
                <a:spcPct val="140000"/>
              </a:lnSpc>
              <a:buNone/>
            </a:pPr>
            <a:r>
              <a:rPr lang="en-US" sz="1800" dirty="0">
                <a:solidFill>
                  <a:srgbClr val="565961"/>
                </a:solidFill>
                <a:latin typeface="Arial" pitchFamily="34" charset="0"/>
                <a:ea typeface="Arial" pitchFamily="34" charset="-122"/>
                <a:cs typeface="Arial" pitchFamily="34" charset="-120"/>
              </a:rPr>
              <a:t>the stereotyped answer.</a:t>
            </a:r>
            <a:endParaRPr lang="en-US" sz="1800" dirty="0"/>
          </a:p>
        </p:txBody>
      </p:sp>
      <p:sp>
        <p:nvSpPr>
          <p:cNvPr id="40" name="Shape 38"/>
          <p:cNvSpPr/>
          <p:nvPr/>
        </p:nvSpPr>
        <p:spPr>
          <a:xfrm>
            <a:off x="9897963" y="3842519"/>
            <a:ext cx="7513662" cy="1444823"/>
          </a:xfrm>
          <a:prstGeom prst="roundRect">
            <a:avLst>
              <a:gd name="adj" fmla="val 7911"/>
            </a:avLst>
          </a:prstGeom>
          <a:solidFill>
            <a:srgbClr val="FBFAF6"/>
          </a:solidFill>
          <a:ln w="14288">
            <a:solidFill>
              <a:srgbClr val="DAD5C7"/>
            </a:solidFill>
            <a:prstDash val="solid"/>
          </a:ln>
        </p:spPr>
      </p:sp>
      <p:sp>
        <p:nvSpPr>
          <p:cNvPr id="41" name="Shape 39"/>
          <p:cNvSpPr/>
          <p:nvPr/>
        </p:nvSpPr>
        <p:spPr>
          <a:xfrm>
            <a:off x="10159901" y="4133031"/>
            <a:ext cx="142875" cy="142875"/>
          </a:xfrm>
          <a:prstGeom prst="ellipse">
            <a:avLst/>
          </a:prstGeom>
          <a:solidFill>
            <a:srgbClr val="0E9C99"/>
          </a:solidFill>
          <a:ln/>
        </p:spPr>
      </p:sp>
      <p:sp>
        <p:nvSpPr>
          <p:cNvPr id="42" name="Text 40"/>
          <p:cNvSpPr/>
          <p:nvPr/>
        </p:nvSpPr>
        <p:spPr>
          <a:xfrm>
            <a:off x="10417076" y="4066356"/>
            <a:ext cx="1188244" cy="314325"/>
          </a:xfrm>
          <a:prstGeom prst="rect">
            <a:avLst/>
          </a:prstGeom>
          <a:noFill/>
          <a:ln/>
        </p:spPr>
        <p:txBody>
          <a:bodyPr wrap="square" lIns="25400" tIns="25400" rIns="25400" bIns="25400" rtlCol="0" anchor="t">
            <a:normAutofit/>
          </a:bodyPr>
          <a:lstStyle/>
          <a:p>
            <a:pPr algn="l" indent="0" marL="0">
              <a:buNone/>
            </a:pPr>
            <a:r>
              <a:rPr lang="en-US" sz="1875" b="1" dirty="0">
                <a:solidFill>
                  <a:srgbClr val="191A1D"/>
                </a:solidFill>
                <a:latin typeface="Arial" pitchFamily="34" charset="0"/>
                <a:ea typeface="Arial" pitchFamily="34" charset="-122"/>
                <a:cs typeface="Arial" pitchFamily="34" charset="-120"/>
              </a:rPr>
              <a:t>DeepSeek</a:t>
            </a:r>
            <a:endParaRPr lang="en-US" sz="1875" dirty="0"/>
          </a:p>
        </p:txBody>
      </p:sp>
      <p:sp>
        <p:nvSpPr>
          <p:cNvPr id="43" name="Text 41"/>
          <p:cNvSpPr/>
          <p:nvPr/>
        </p:nvSpPr>
        <p:spPr>
          <a:xfrm>
            <a:off x="10159901" y="4418781"/>
            <a:ext cx="7199481" cy="682823"/>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33353B"/>
                </a:solidFill>
                <a:latin typeface="Arial" pitchFamily="34" charset="0"/>
                <a:ea typeface="Arial" pitchFamily="34" charset="-122"/>
                <a:cs typeface="Arial" pitchFamily="34" charset="-120"/>
              </a:rPr>
              <a:t>Every category significant, </a:t>
            </a:r>
            <a:pPr algn="l" indent="0" marL="0">
              <a:lnSpc>
                <a:spcPct val="140000"/>
              </a:lnSpc>
              <a:buNone/>
            </a:pPr>
            <a:r>
              <a:rPr lang="en-US" sz="1800" b="1" dirty="0">
                <a:solidFill>
                  <a:srgbClr val="33353B"/>
                </a:solidFill>
                <a:latin typeface="Arial" pitchFamily="34" charset="0"/>
                <a:ea typeface="Arial" pitchFamily="34" charset="-122"/>
                <a:cs typeface="Arial" pitchFamily="34" charset="-120"/>
              </a:rPr>
              <a:t>huge </a:t>
            </a:r>
            <a:pPr algn="l" indent="0" marL="0">
              <a:lnSpc>
                <a:spcPct val="140000"/>
              </a:lnSpc>
              <a:buNone/>
            </a:pPr>
            <a:r>
              <a:rPr lang="en-US" sz="1800" dirty="0">
                <a:solidFill>
                  <a:srgbClr val="33353B"/>
                </a:solidFill>
                <a:latin typeface="Arial" pitchFamily="34" charset="0"/>
                <a:ea typeface="Arial" pitchFamily="34" charset="-122"/>
                <a:cs typeface="Arial" pitchFamily="34" charset="-120"/>
              </a:rPr>
              <a:t>BFs (Race = ∞, Gender ≈ 10²⁶⁸, Socio ≈ 10²⁹⁶) — but rate 0.06–0.32: very strongly avoids the stereotype.</a:t>
            </a:r>
            <a:endParaRPr lang="en-US" sz="1800" dirty="0"/>
          </a:p>
        </p:txBody>
      </p:sp>
      <p:sp>
        <p:nvSpPr>
          <p:cNvPr id="44" name="Shape 42"/>
          <p:cNvSpPr/>
          <p:nvPr/>
        </p:nvSpPr>
        <p:spPr>
          <a:xfrm>
            <a:off x="9897963" y="5458792"/>
            <a:ext cx="7513662" cy="1842046"/>
          </a:xfrm>
          <a:prstGeom prst="roundRect">
            <a:avLst>
              <a:gd name="adj" fmla="val 6205"/>
            </a:avLst>
          </a:prstGeom>
          <a:solidFill>
            <a:srgbClr val="1B1C20"/>
          </a:solidFill>
          <a:ln/>
        </p:spPr>
      </p:sp>
      <p:sp>
        <p:nvSpPr>
          <p:cNvPr id="45" name="Text 43"/>
          <p:cNvSpPr/>
          <p:nvPr/>
        </p:nvSpPr>
        <p:spPr>
          <a:xfrm>
            <a:off x="10164663" y="5687392"/>
            <a:ext cx="7678289"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F4F1EA"/>
                </a:solidFill>
                <a:latin typeface="Arial" pitchFamily="34" charset="0"/>
                <a:ea typeface="Arial" pitchFamily="34" charset="-122"/>
                <a:cs typeface="Arial" pitchFamily="34" charset="-120"/>
              </a:rPr>
              <a:t>Task format flips direction</a:t>
            </a:r>
            <a:endParaRPr lang="en-US" sz="1950" dirty="0"/>
          </a:p>
        </p:txBody>
      </p:sp>
      <p:sp>
        <p:nvSpPr>
          <p:cNvPr id="46" name="Text 44"/>
          <p:cNvSpPr/>
          <p:nvPr/>
        </p:nvSpPr>
        <p:spPr>
          <a:xfrm>
            <a:off x="10164663" y="6068392"/>
            <a:ext cx="7189670" cy="1041946"/>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DAD5C7"/>
                </a:solidFill>
                <a:latin typeface="Arial" pitchFamily="34" charset="0"/>
                <a:ea typeface="Arial" pitchFamily="34" charset="-122"/>
                <a:cs typeface="Arial" pitchFamily="34" charset="-120"/>
              </a:rPr>
              <a:t>Both models </a:t>
            </a:r>
            <a:pPr algn="l" indent="0" marL="0">
              <a:lnSpc>
                <a:spcPct val="145000"/>
              </a:lnSpc>
              <a:buNone/>
            </a:pPr>
            <a:r>
              <a:rPr lang="en-US" sz="1800" b="1" dirty="0">
                <a:solidFill>
                  <a:srgbClr val="E8927F"/>
                </a:solidFill>
                <a:latin typeface="Arial" pitchFamily="34" charset="0"/>
                <a:ea typeface="Arial" pitchFamily="34" charset="-122"/>
                <a:cs typeface="Arial" pitchFamily="34" charset="-120"/>
              </a:rPr>
              <a:t>endorse </a:t>
            </a:r>
            <a:pPr algn="l" indent="0" marL="0">
              <a:lnSpc>
                <a:spcPct val="145000"/>
              </a:lnSpc>
              <a:buNone/>
            </a:pPr>
            <a:r>
              <a:rPr lang="en-US" sz="1800" dirty="0">
                <a:solidFill>
                  <a:srgbClr val="DAD5C7"/>
                </a:solidFill>
                <a:latin typeface="Arial" pitchFamily="34" charset="0"/>
                <a:ea typeface="Arial" pitchFamily="34" charset="-122"/>
                <a:cs typeface="Arial" pitchFamily="34" charset="-120"/>
              </a:rPr>
              <a:t>stereotypes on CrowS (rate&gt;0.5) but </a:t>
            </a:r>
            <a:pPr algn="l" indent="0" marL="0">
              <a:lnSpc>
                <a:spcPct val="145000"/>
              </a:lnSpc>
              <a:buNone/>
            </a:pPr>
            <a:r>
              <a:rPr lang="en-US" sz="1800" b="1" dirty="0">
                <a:solidFill>
                  <a:srgbClr val="5FC9C5"/>
                </a:solidFill>
                <a:latin typeface="Arial" pitchFamily="34" charset="0"/>
                <a:ea typeface="Arial" pitchFamily="34" charset="-122"/>
                <a:cs typeface="Arial" pitchFamily="34" charset="-120"/>
              </a:rPr>
              <a:t>avoid </a:t>
            </a:r>
            <a:pPr algn="l" indent="0" marL="0">
              <a:lnSpc>
                <a:spcPct val="145000"/>
              </a:lnSpc>
              <a:buNone/>
            </a:pPr>
            <a:r>
              <a:rPr lang="en-US" sz="1800" dirty="0">
                <a:solidFill>
                  <a:srgbClr val="DAD5C7"/>
                </a:solidFill>
                <a:latin typeface="Arial" pitchFamily="34" charset="0"/>
                <a:ea typeface="Arial" pitchFamily="34" charset="-122"/>
                <a:cs typeface="Arial" pitchFamily="34" charset="-120"/>
              </a:rPr>
              <a:t>them on BBQ (rate&lt;0.5). SS alone would mislead — you must read </a:t>
            </a:r>
            <a:pPr algn="l" indent="0" marL="0">
              <a:lnSpc>
                <a:spcPct val="145000"/>
              </a:lnSpc>
              <a:buNone/>
            </a:pPr>
            <a:r>
              <a:rPr lang="en-US" sz="1800" b="1" dirty="0">
                <a:solidFill>
                  <a:srgbClr val="F4F1EA"/>
                </a:solidFill>
                <a:latin typeface="Arial" pitchFamily="34" charset="0"/>
                <a:ea typeface="Arial" pitchFamily="34" charset="-122"/>
                <a:cs typeface="Arial" pitchFamily="34" charset="-120"/>
              </a:rPr>
              <a:t>rate</a:t>
            </a:r>
            <a:pPr algn="l" indent="0" marL="0">
              <a:lnSpc>
                <a:spcPct val="145000"/>
              </a:lnSpc>
              <a:buNone/>
            </a:pPr>
            <a:r>
              <a:rPr lang="en-US" sz="1800" dirty="0">
                <a:solidFill>
                  <a:srgbClr val="DAD5C7"/>
                </a:solidFill>
                <a:latin typeface="Arial" pitchFamily="34" charset="0"/>
                <a:ea typeface="Arial" pitchFamily="34" charset="-122"/>
                <a:cs typeface="Arial" pitchFamily="34" charset="-120"/>
              </a:rPr>
              <a:t>.</a:t>
            </a:r>
            <a:endParaRPr lang="en-US" sz="1800" dirty="0"/>
          </a:p>
        </p:txBody>
      </p:sp>
      <p:sp>
        <p:nvSpPr>
          <p:cNvPr id="47" name="Text 45"/>
          <p:cNvSpPr/>
          <p:nvPr/>
        </p:nvSpPr>
        <p:spPr>
          <a:xfrm>
            <a:off x="9897963" y="7472288"/>
            <a:ext cx="8265029"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65961"/>
                </a:solidFill>
                <a:latin typeface="Arial" pitchFamily="34" charset="0"/>
                <a:ea typeface="Arial" pitchFamily="34" charset="-122"/>
                <a:cs typeface="Arial" pitchFamily="34" charset="-120"/>
              </a:rPr>
              <a:t>Agreement on H₁/H₀: ChatGPT 89% · DeepSeek 100%.</a:t>
            </a:r>
            <a:endParaRPr lang="en-US" sz="1800" dirty="0"/>
          </a:p>
        </p:txBody>
      </p:sp>
      <p:sp>
        <p:nvSpPr>
          <p:cNvPr id="48" name="Text 46"/>
          <p:cNvSpPr/>
          <p:nvPr/>
        </p:nvSpPr>
        <p:spPr>
          <a:xfrm>
            <a:off x="876300" y="9572625"/>
            <a:ext cx="8551768"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8A8778"/>
                </a:solidFill>
                <a:latin typeface="Courier New" pitchFamily="34" charset="0"/>
                <a:ea typeface="Courier New" pitchFamily="34" charset="-122"/>
                <a:cs typeface="Courier New" pitchFamily="34" charset="-120"/>
              </a:rPr>
              <a:t>Bayesian Bias Detection · Statistics for Data Science</a:t>
            </a:r>
            <a:endParaRPr lang="en-US" sz="1800" dirty="0"/>
          </a:p>
        </p:txBody>
      </p:sp>
      <p:sp>
        <p:nvSpPr>
          <p:cNvPr id="49" name="Text 47"/>
          <p:cNvSpPr/>
          <p:nvPr/>
        </p:nvSpPr>
        <p:spPr>
          <a:xfrm>
            <a:off x="16384860" y="9572625"/>
            <a:ext cx="1103040"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8A8778"/>
                </a:solidFill>
                <a:latin typeface="Courier New" pitchFamily="34" charset="0"/>
                <a:ea typeface="Courier New" pitchFamily="34" charset="-122"/>
                <a:cs typeface="Courier New" pitchFamily="34" charset="-120"/>
              </a:rPr>
              <a:t>12 / 15</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0E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4F1EA"/>
          </a:solidFill>
          <a:ln/>
        </p:spPr>
      </p:sp>
      <p:sp>
        <p:nvSpPr>
          <p:cNvPr id="3" name="Shape 1"/>
          <p:cNvSpPr/>
          <p:nvPr/>
        </p:nvSpPr>
        <p:spPr>
          <a:xfrm>
            <a:off x="876300" y="2043113"/>
            <a:ext cx="16535400" cy="19050"/>
          </a:xfrm>
          <a:prstGeom prst="rect">
            <a:avLst/>
          </a:prstGeom>
          <a:solidFill>
            <a:srgbClr val="191A1D"/>
          </a:solidFill>
          <a:ln/>
        </p:spPr>
      </p:sp>
      <p:sp>
        <p:nvSpPr>
          <p:cNvPr id="4" name="Text 2"/>
          <p:cNvSpPr/>
          <p:nvPr/>
        </p:nvSpPr>
        <p:spPr>
          <a:xfrm>
            <a:off x="876300" y="723900"/>
            <a:ext cx="8386256" cy="333375"/>
          </a:xfrm>
          <a:prstGeom prst="rect">
            <a:avLst/>
          </a:prstGeom>
          <a:noFill/>
          <a:ln/>
        </p:spPr>
        <p:txBody>
          <a:bodyPr wrap="square" lIns="25400" tIns="25400" rIns="25400" bIns="25400" rtlCol="0" anchor="t">
            <a:normAutofit/>
          </a:bodyPr>
          <a:lstStyle/>
          <a:p>
            <a:pPr algn="l" indent="0" marL="0">
              <a:buNone/>
            </a:pPr>
            <a:r>
              <a:rPr lang="en-US" sz="1800" spc="225" kern="0" dirty="0">
                <a:solidFill>
                  <a:srgbClr val="2E3F66"/>
                </a:solidFill>
                <a:latin typeface="Courier New" pitchFamily="34" charset="0"/>
                <a:ea typeface="Courier New" pitchFamily="34" charset="-122"/>
                <a:cs typeface="Courier New" pitchFamily="34" charset="-120"/>
              </a:rPr>
              <a:t>EXPERIMENT D · 13 · REPRODUCES TABLE 5 / FIG 3</a:t>
            </a:r>
            <a:endParaRPr lang="en-US" sz="1800" dirty="0"/>
          </a:p>
        </p:txBody>
      </p:sp>
      <p:sp>
        <p:nvSpPr>
          <p:cNvPr id="5" name="Text 3"/>
          <p:cNvSpPr/>
          <p:nvPr/>
        </p:nvSpPr>
        <p:spPr>
          <a:xfrm>
            <a:off x="876300" y="1133475"/>
            <a:ext cx="8386256" cy="757238"/>
          </a:xfrm>
          <a:prstGeom prst="rect">
            <a:avLst/>
          </a:prstGeom>
          <a:noFill/>
          <a:ln/>
        </p:spPr>
        <p:txBody>
          <a:bodyPr wrap="square" lIns="25400" tIns="25400" rIns="25400" bIns="25400" rtlCol="0" anchor="t">
            <a:normAutofit/>
          </a:bodyPr>
          <a:lstStyle/>
          <a:p>
            <a:pPr algn="l" indent="0" marL="0">
              <a:buNone/>
            </a:pPr>
            <a:r>
              <a:rPr lang="en-US" sz="4350" b="1" dirty="0">
                <a:solidFill>
                  <a:srgbClr val="191A1D"/>
                </a:solidFill>
                <a:latin typeface="Georgia" pitchFamily="34" charset="0"/>
                <a:ea typeface="Georgia" pitchFamily="34" charset="-122"/>
                <a:cs typeface="Georgia" pitchFamily="34" charset="-120"/>
              </a:rPr>
              <a:t>Temperature &amp; Sample Size</a:t>
            </a:r>
            <a:endParaRPr lang="en-US" sz="4350" dirty="0"/>
          </a:p>
        </p:txBody>
      </p:sp>
      <p:sp>
        <p:nvSpPr>
          <p:cNvPr id="6" name="Text 4"/>
          <p:cNvSpPr/>
          <p:nvPr/>
        </p:nvSpPr>
        <p:spPr>
          <a:xfrm>
            <a:off x="13022535" y="1557338"/>
            <a:ext cx="482808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65961"/>
                </a:solidFill>
                <a:latin typeface="Courier New" pitchFamily="34" charset="0"/>
                <a:ea typeface="Courier New" pitchFamily="34" charset="-122"/>
                <a:cs typeface="Courier New" pitchFamily="34" charset="-120"/>
              </a:rPr>
              <a:t>BBQ Sexual orientation · ChatGPT</a:t>
            </a:r>
            <a:endParaRPr lang="en-US" sz="1800" dirty="0"/>
          </a:p>
        </p:txBody>
      </p:sp>
      <p:sp>
        <p:nvSpPr>
          <p:cNvPr id="7" name="Shape 5"/>
          <p:cNvSpPr/>
          <p:nvPr/>
        </p:nvSpPr>
        <p:spPr>
          <a:xfrm>
            <a:off x="876300" y="3288729"/>
            <a:ext cx="9819308" cy="5057254"/>
          </a:xfrm>
          <a:prstGeom prst="roundRect">
            <a:avLst>
              <a:gd name="adj" fmla="val 2260"/>
            </a:avLst>
          </a:prstGeom>
          <a:solidFill>
            <a:srgbClr val="FFFFFF"/>
          </a:solidFill>
          <a:ln w="14288">
            <a:solidFill>
              <a:srgbClr val="DAD5C7"/>
            </a:solidFill>
            <a:prstDash val="solid"/>
          </a:ln>
        </p:spPr>
      </p:sp>
      <p:pic>
        <p:nvPicPr>
          <p:cNvPr id="8" name="Image 0" descr="preencoded.png">    </p:cNvPr>
          <p:cNvPicPr>
            <a:picLocks noChangeAspect="1"/>
          </p:cNvPicPr>
          <p:nvPr/>
        </p:nvPicPr>
        <p:blipFill>
          <a:blip r:embed="rId1"/>
          <a:stretch>
            <a:fillRect/>
          </a:stretch>
        </p:blipFill>
        <p:spPr>
          <a:xfrm>
            <a:off x="1023938" y="3436367"/>
            <a:ext cx="9524033" cy="4761979"/>
          </a:xfrm>
          <a:prstGeom prst="rect">
            <a:avLst/>
          </a:prstGeom>
        </p:spPr>
      </p:pic>
      <p:sp>
        <p:nvSpPr>
          <p:cNvPr id="9" name="Shape 6"/>
          <p:cNvSpPr/>
          <p:nvPr/>
        </p:nvSpPr>
        <p:spPr>
          <a:xfrm>
            <a:off x="11076608" y="3394844"/>
            <a:ext cx="6335018" cy="1444823"/>
          </a:xfrm>
          <a:prstGeom prst="roundRect">
            <a:avLst>
              <a:gd name="adj" fmla="val 7911"/>
            </a:avLst>
          </a:prstGeom>
          <a:solidFill>
            <a:srgbClr val="FBFAF6"/>
          </a:solidFill>
          <a:ln/>
        </p:spPr>
      </p:sp>
      <p:sp>
        <p:nvSpPr>
          <p:cNvPr id="10" name="Shape 7"/>
          <p:cNvSpPr/>
          <p:nvPr/>
        </p:nvSpPr>
        <p:spPr>
          <a:xfrm>
            <a:off x="11076608" y="4825380"/>
            <a:ext cx="6335018" cy="14288"/>
          </a:xfrm>
          <a:prstGeom prst="rect">
            <a:avLst/>
          </a:prstGeom>
          <a:solidFill>
            <a:srgbClr val="DAD5C7"/>
          </a:solidFill>
          <a:ln/>
        </p:spPr>
      </p:sp>
      <p:sp>
        <p:nvSpPr>
          <p:cNvPr id="11" name="Shape 8"/>
          <p:cNvSpPr/>
          <p:nvPr/>
        </p:nvSpPr>
        <p:spPr>
          <a:xfrm>
            <a:off x="11076608" y="3394844"/>
            <a:ext cx="6335018" cy="14288"/>
          </a:xfrm>
          <a:prstGeom prst="rect">
            <a:avLst/>
          </a:prstGeom>
          <a:solidFill>
            <a:srgbClr val="DAD5C7"/>
          </a:solidFill>
          <a:ln/>
        </p:spPr>
      </p:sp>
      <p:sp>
        <p:nvSpPr>
          <p:cNvPr id="12" name="Shape 9"/>
          <p:cNvSpPr/>
          <p:nvPr/>
        </p:nvSpPr>
        <p:spPr>
          <a:xfrm>
            <a:off x="11076608" y="3394844"/>
            <a:ext cx="47625" cy="1444823"/>
          </a:xfrm>
          <a:prstGeom prst="rect">
            <a:avLst/>
          </a:prstGeom>
          <a:solidFill>
            <a:srgbClr val="E15D48"/>
          </a:solidFill>
          <a:ln/>
        </p:spPr>
      </p:sp>
      <p:sp>
        <p:nvSpPr>
          <p:cNvPr id="13" name="Shape 10"/>
          <p:cNvSpPr/>
          <p:nvPr/>
        </p:nvSpPr>
        <p:spPr>
          <a:xfrm>
            <a:off x="17397338" y="3394844"/>
            <a:ext cx="14288" cy="1444823"/>
          </a:xfrm>
          <a:prstGeom prst="rect">
            <a:avLst/>
          </a:prstGeom>
          <a:solidFill>
            <a:srgbClr val="DAD5C7"/>
          </a:solidFill>
          <a:ln/>
        </p:spPr>
      </p:sp>
      <p:sp>
        <p:nvSpPr>
          <p:cNvPr id="14" name="Text 11"/>
          <p:cNvSpPr/>
          <p:nvPr/>
        </p:nvSpPr>
        <p:spPr>
          <a:xfrm>
            <a:off x="11371883" y="3618681"/>
            <a:ext cx="6355586" cy="314325"/>
          </a:xfrm>
          <a:prstGeom prst="rect">
            <a:avLst/>
          </a:prstGeom>
          <a:noFill/>
          <a:ln/>
        </p:spPr>
        <p:txBody>
          <a:bodyPr wrap="square" lIns="25400" tIns="25400" rIns="25400" bIns="25400" rtlCol="0" anchor="t">
            <a:normAutofit/>
          </a:bodyPr>
          <a:lstStyle/>
          <a:p>
            <a:pPr algn="l" indent="0" marL="0">
              <a:buNone/>
            </a:pPr>
            <a:r>
              <a:rPr lang="en-US" sz="1875" b="1" dirty="0">
                <a:solidFill>
                  <a:srgbClr val="191A1D"/>
                </a:solidFill>
                <a:latin typeface="Arial" pitchFamily="34" charset="0"/>
                <a:ea typeface="Arial" pitchFamily="34" charset="-122"/>
                <a:cs typeface="Arial" pitchFamily="34" charset="-120"/>
              </a:rPr>
              <a:t>Sample size drives significance</a:t>
            </a:r>
            <a:endParaRPr lang="en-US" sz="1875" dirty="0"/>
          </a:p>
        </p:txBody>
      </p:sp>
      <p:sp>
        <p:nvSpPr>
          <p:cNvPr id="15" name="Text 12"/>
          <p:cNvSpPr/>
          <p:nvPr/>
        </p:nvSpPr>
        <p:spPr>
          <a:xfrm>
            <a:off x="11371883" y="3971106"/>
            <a:ext cx="5951140" cy="682823"/>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33353B"/>
                </a:solidFill>
                <a:latin typeface="Arial" pitchFamily="34" charset="0"/>
                <a:ea typeface="Arial" pitchFamily="34" charset="-122"/>
                <a:cs typeface="Arial" pitchFamily="34" charset="-120"/>
              </a:rPr>
              <a:t>n=10 (5%): inconclusive, BF</a:t>
            </a:r>
            <a:pPr algn="l" indent="0" marL="0">
              <a:lnSpc>
                <a:spcPct val="140000"/>
              </a:lnSpc>
              <a:buNone/>
            </a:pPr>
            <a:r>
              <a:rPr lang="en-US" sz="1500" baseline="-40000" dirty="0">
                <a:solidFill>
                  <a:srgbClr val="33353B"/>
                </a:solidFill>
                <a:latin typeface="Arial" pitchFamily="34" charset="0"/>
                <a:ea typeface="Arial" pitchFamily="34" charset="-122"/>
                <a:cs typeface="Arial" pitchFamily="34" charset="-120"/>
              </a:rPr>
              <a:t>10 </a:t>
            </a:r>
            <a:pPr algn="l" indent="0" marL="0">
              <a:lnSpc>
                <a:spcPct val="140000"/>
              </a:lnSpc>
              <a:buNone/>
            </a:pPr>
            <a:r>
              <a:rPr lang="en-US" sz="1800" dirty="0">
                <a:solidFill>
                  <a:srgbClr val="33353B"/>
                </a:solidFill>
                <a:latin typeface="Arial" pitchFamily="34" charset="0"/>
                <a:ea typeface="Arial" pitchFamily="34" charset="-122"/>
                <a:cs typeface="Arial" pitchFamily="34" charset="-120"/>
              </a:rPr>
              <a:t>≈ 0.44. n≈216 (100%): BF </a:t>
            </a:r>
            <a:pPr algn="l" indent="0" marL="0">
              <a:lnSpc>
                <a:spcPct val="140000"/>
              </a:lnSpc>
              <a:buNone/>
            </a:pPr>
            <a:r>
              <a:rPr lang="en-US" sz="1500" baseline="-40000" dirty="0">
                <a:solidFill>
                  <a:srgbClr val="33353B"/>
                </a:solidFill>
                <a:latin typeface="Arial" pitchFamily="34" charset="0"/>
                <a:ea typeface="Arial" pitchFamily="34" charset="-122"/>
                <a:cs typeface="Arial" pitchFamily="34" charset="-120"/>
              </a:rPr>
              <a:t>10 </a:t>
            </a:r>
            <a:pPr algn="l" indent="0" marL="0">
              <a:lnSpc>
                <a:spcPct val="140000"/>
              </a:lnSpc>
              <a:buNone/>
            </a:pPr>
            <a:r>
              <a:rPr lang="en-US" sz="1800" dirty="0">
                <a:solidFill>
                  <a:srgbClr val="33353B"/>
                </a:solidFill>
                <a:latin typeface="Arial" pitchFamily="34" charset="0"/>
                <a:ea typeface="Arial" pitchFamily="34" charset="-122"/>
                <a:cs typeface="Arial" pitchFamily="34" charset="-120"/>
              </a:rPr>
              <a:t>reaches </a:t>
            </a:r>
            <a:pPr algn="l" indent="0" marL="0">
              <a:lnSpc>
                <a:spcPct val="140000"/>
              </a:lnSpc>
              <a:buNone/>
            </a:pPr>
            <a:r>
              <a:rPr lang="en-US" sz="1800" b="1" dirty="0">
                <a:solidFill>
                  <a:srgbClr val="33353B"/>
                </a:solidFill>
                <a:latin typeface="Arial" pitchFamily="34" charset="0"/>
                <a:ea typeface="Arial" pitchFamily="34" charset="-122"/>
                <a:cs typeface="Arial" pitchFamily="34" charset="-120"/>
              </a:rPr>
              <a:t>10²⁰–10²³ </a:t>
            </a:r>
            <a:pPr algn="l" indent="0" marL="0">
              <a:lnSpc>
                <a:spcPct val="140000"/>
              </a:lnSpc>
              <a:buNone/>
            </a:pPr>
            <a:r>
              <a:rPr lang="en-US" sz="1800" dirty="0">
                <a:solidFill>
                  <a:srgbClr val="33353B"/>
                </a:solidFill>
                <a:latin typeface="Arial" pitchFamily="34" charset="0"/>
                <a:ea typeface="Arial" pitchFamily="34" charset="-122"/>
                <a:cs typeface="Arial" pitchFamily="34" charset="-120"/>
              </a:rPr>
              <a:t>at every temperature.</a:t>
            </a:r>
            <a:endParaRPr lang="en-US" sz="1800" dirty="0"/>
          </a:p>
        </p:txBody>
      </p:sp>
      <p:sp>
        <p:nvSpPr>
          <p:cNvPr id="16" name="Shape 13"/>
          <p:cNvSpPr/>
          <p:nvPr/>
        </p:nvSpPr>
        <p:spPr>
          <a:xfrm>
            <a:off x="11076608" y="5011117"/>
            <a:ext cx="6335018" cy="1965871"/>
          </a:xfrm>
          <a:prstGeom prst="roundRect">
            <a:avLst>
              <a:gd name="adj" fmla="val 5814"/>
            </a:avLst>
          </a:prstGeom>
          <a:solidFill>
            <a:srgbClr val="FBFAF6"/>
          </a:solidFill>
          <a:ln/>
        </p:spPr>
      </p:sp>
      <p:sp>
        <p:nvSpPr>
          <p:cNvPr id="17" name="Shape 14"/>
          <p:cNvSpPr/>
          <p:nvPr/>
        </p:nvSpPr>
        <p:spPr>
          <a:xfrm>
            <a:off x="11076608" y="6962701"/>
            <a:ext cx="6335018" cy="14288"/>
          </a:xfrm>
          <a:prstGeom prst="rect">
            <a:avLst/>
          </a:prstGeom>
          <a:solidFill>
            <a:srgbClr val="DAD5C7"/>
          </a:solidFill>
          <a:ln/>
        </p:spPr>
      </p:sp>
      <p:sp>
        <p:nvSpPr>
          <p:cNvPr id="18" name="Shape 15"/>
          <p:cNvSpPr/>
          <p:nvPr/>
        </p:nvSpPr>
        <p:spPr>
          <a:xfrm>
            <a:off x="11076608" y="5011117"/>
            <a:ext cx="6335018" cy="14288"/>
          </a:xfrm>
          <a:prstGeom prst="rect">
            <a:avLst/>
          </a:prstGeom>
          <a:solidFill>
            <a:srgbClr val="DAD5C7"/>
          </a:solidFill>
          <a:ln/>
        </p:spPr>
      </p:sp>
      <p:sp>
        <p:nvSpPr>
          <p:cNvPr id="19" name="Shape 16"/>
          <p:cNvSpPr/>
          <p:nvPr/>
        </p:nvSpPr>
        <p:spPr>
          <a:xfrm>
            <a:off x="11076608" y="5011117"/>
            <a:ext cx="47625" cy="1965871"/>
          </a:xfrm>
          <a:prstGeom prst="rect">
            <a:avLst/>
          </a:prstGeom>
          <a:solidFill>
            <a:srgbClr val="0E9C99"/>
          </a:solidFill>
          <a:ln/>
        </p:spPr>
      </p:sp>
      <p:sp>
        <p:nvSpPr>
          <p:cNvPr id="20" name="Shape 17"/>
          <p:cNvSpPr/>
          <p:nvPr/>
        </p:nvSpPr>
        <p:spPr>
          <a:xfrm>
            <a:off x="17397338" y="5011117"/>
            <a:ext cx="14288" cy="1965871"/>
          </a:xfrm>
          <a:prstGeom prst="rect">
            <a:avLst/>
          </a:prstGeom>
          <a:solidFill>
            <a:srgbClr val="DAD5C7"/>
          </a:solidFill>
          <a:ln/>
        </p:spPr>
      </p:sp>
      <p:sp>
        <p:nvSpPr>
          <p:cNvPr id="21" name="Text 18"/>
          <p:cNvSpPr/>
          <p:nvPr/>
        </p:nvSpPr>
        <p:spPr>
          <a:xfrm>
            <a:off x="11371883" y="5234955"/>
            <a:ext cx="6355586" cy="314325"/>
          </a:xfrm>
          <a:prstGeom prst="rect">
            <a:avLst/>
          </a:prstGeom>
          <a:noFill/>
          <a:ln/>
        </p:spPr>
        <p:txBody>
          <a:bodyPr wrap="square" lIns="25400" tIns="25400" rIns="25400" bIns="25400" rtlCol="0" anchor="t">
            <a:normAutofit/>
          </a:bodyPr>
          <a:lstStyle/>
          <a:p>
            <a:pPr algn="l" indent="0" marL="0">
              <a:buNone/>
            </a:pPr>
            <a:r>
              <a:rPr lang="en-US" sz="1875" b="1" dirty="0">
                <a:solidFill>
                  <a:srgbClr val="191A1D"/>
                </a:solidFill>
                <a:latin typeface="Arial" pitchFamily="34" charset="0"/>
                <a:ea typeface="Arial" pitchFamily="34" charset="-122"/>
                <a:cs typeface="Arial" pitchFamily="34" charset="-120"/>
              </a:rPr>
              <a:t>Temperature barely matters</a:t>
            </a:r>
            <a:endParaRPr lang="en-US" sz="1875" dirty="0"/>
          </a:p>
        </p:txBody>
      </p:sp>
      <p:sp>
        <p:nvSpPr>
          <p:cNvPr id="22" name="Text 19"/>
          <p:cNvSpPr/>
          <p:nvPr/>
        </p:nvSpPr>
        <p:spPr>
          <a:xfrm>
            <a:off x="11371883" y="5606430"/>
            <a:ext cx="6355586"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33353B"/>
                </a:solidFill>
                <a:latin typeface="Arial" pitchFamily="34" charset="0"/>
                <a:ea typeface="Arial" pitchFamily="34" charset="-122"/>
                <a:cs typeface="Arial" pitchFamily="34" charset="-120"/>
              </a:rPr>
              <a:t>SS at full sample stays in a tight band:</a:t>
            </a:r>
            <a:endParaRPr lang="en-US" sz="1800" dirty="0"/>
          </a:p>
        </p:txBody>
      </p:sp>
      <p:sp>
        <p:nvSpPr>
          <p:cNvPr id="23" name="Text 20"/>
          <p:cNvSpPr/>
          <p:nvPr/>
        </p:nvSpPr>
        <p:spPr>
          <a:xfrm>
            <a:off x="11371883" y="6021660"/>
            <a:ext cx="5951140" cy="769590"/>
          </a:xfrm>
          <a:prstGeom prst="rect">
            <a:avLst/>
          </a:prstGeom>
          <a:noFill/>
          <a:ln/>
        </p:spPr>
        <p:txBody>
          <a:bodyPr wrap="square" lIns="25400" tIns="25400" rIns="25400" bIns="25400" rtlCol="0" anchor="t">
            <a:normAutofit/>
          </a:bodyPr>
          <a:lstStyle/>
          <a:p>
            <a:pPr algn="l" indent="0" marL="0">
              <a:lnSpc>
                <a:spcPct val="160000"/>
              </a:lnSpc>
              <a:buNone/>
            </a:pPr>
            <a:r>
              <a:rPr lang="en-US" sz="1800" dirty="0">
                <a:solidFill>
                  <a:srgbClr val="191A1D"/>
                </a:solidFill>
                <a:latin typeface="Courier New" pitchFamily="34" charset="0"/>
                <a:ea typeface="Courier New" pitchFamily="34" charset="-122"/>
                <a:cs typeface="Courier New" pitchFamily="34" charset="-120"/>
              </a:rPr>
              <a:t>t=0 · 0.5 · 1 · 1.5 · 2 SS 0.83 · 0.84 · 0.80 · 0.85 · 0.78</a:t>
            </a:r>
            <a:endParaRPr lang="en-US" sz="1800" dirty="0"/>
          </a:p>
        </p:txBody>
      </p:sp>
      <p:sp>
        <p:nvSpPr>
          <p:cNvPr id="24" name="Shape 21"/>
          <p:cNvSpPr/>
          <p:nvPr/>
        </p:nvSpPr>
        <p:spPr>
          <a:xfrm>
            <a:off x="11076608" y="7148438"/>
            <a:ext cx="6335018" cy="1091505"/>
          </a:xfrm>
          <a:prstGeom prst="roundRect">
            <a:avLst>
              <a:gd name="adj" fmla="val 10472"/>
            </a:avLst>
          </a:prstGeom>
          <a:solidFill>
            <a:srgbClr val="1B1C20"/>
          </a:solidFill>
          <a:ln/>
        </p:spPr>
      </p:sp>
      <p:sp>
        <p:nvSpPr>
          <p:cNvPr id="25" name="Text 22"/>
          <p:cNvSpPr/>
          <p:nvPr/>
        </p:nvSpPr>
        <p:spPr>
          <a:xfrm>
            <a:off x="11324258" y="7357988"/>
            <a:ext cx="6014910" cy="710505"/>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F4F1EA"/>
                </a:solidFill>
                <a:latin typeface="Arial" pitchFamily="34" charset="0"/>
                <a:ea typeface="Arial" pitchFamily="34" charset="-122"/>
                <a:cs typeface="Arial" pitchFamily="34" charset="-120"/>
              </a:rPr>
              <a:t>The paper's core claim, confirmed: </a:t>
            </a:r>
            <a:pPr algn="l" indent="0" marL="0">
              <a:lnSpc>
                <a:spcPct val="145000"/>
              </a:lnSpc>
              <a:buNone/>
            </a:pPr>
            <a:r>
              <a:rPr lang="en-US" sz="1800" b="1" dirty="0">
                <a:solidFill>
                  <a:srgbClr val="5FC9C5"/>
                </a:solidFill>
                <a:latin typeface="Arial" pitchFamily="34" charset="0"/>
                <a:ea typeface="Arial" pitchFamily="34" charset="-122"/>
                <a:cs typeface="Arial" pitchFamily="34" charset="-120"/>
              </a:rPr>
              <a:t>BF is robust at small n; p-values are not.</a:t>
            </a:r>
            <a:endParaRPr lang="en-US" sz="1800" dirty="0"/>
          </a:p>
        </p:txBody>
      </p:sp>
      <p:sp>
        <p:nvSpPr>
          <p:cNvPr id="26" name="Text 23"/>
          <p:cNvSpPr/>
          <p:nvPr/>
        </p:nvSpPr>
        <p:spPr>
          <a:xfrm>
            <a:off x="876300" y="9572625"/>
            <a:ext cx="8551768"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8A8778"/>
                </a:solidFill>
                <a:latin typeface="Courier New" pitchFamily="34" charset="0"/>
                <a:ea typeface="Courier New" pitchFamily="34" charset="-122"/>
                <a:cs typeface="Courier New" pitchFamily="34" charset="-120"/>
              </a:rPr>
              <a:t>Bayesian Bias Detection · Statistics for Data Science</a:t>
            </a:r>
            <a:endParaRPr lang="en-US" sz="1800" dirty="0"/>
          </a:p>
        </p:txBody>
      </p:sp>
      <p:sp>
        <p:nvSpPr>
          <p:cNvPr id="27" name="Text 24"/>
          <p:cNvSpPr/>
          <p:nvPr/>
        </p:nvSpPr>
        <p:spPr>
          <a:xfrm>
            <a:off x="16384860" y="9572625"/>
            <a:ext cx="1103040"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8A8778"/>
                </a:solidFill>
                <a:latin typeface="Courier New" pitchFamily="34" charset="0"/>
                <a:ea typeface="Courier New" pitchFamily="34" charset="-122"/>
                <a:cs typeface="Courier New" pitchFamily="34" charset="-120"/>
              </a:rPr>
              <a:t>13 / 15</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0E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4F1EA"/>
          </a:solidFill>
          <a:ln/>
        </p:spPr>
      </p:sp>
      <p:sp>
        <p:nvSpPr>
          <p:cNvPr id="3" name="Shape 1"/>
          <p:cNvSpPr/>
          <p:nvPr/>
        </p:nvSpPr>
        <p:spPr>
          <a:xfrm>
            <a:off x="876300" y="2043113"/>
            <a:ext cx="16535400" cy="19050"/>
          </a:xfrm>
          <a:prstGeom prst="rect">
            <a:avLst/>
          </a:prstGeom>
          <a:solidFill>
            <a:srgbClr val="191A1D"/>
          </a:solidFill>
          <a:ln/>
        </p:spPr>
      </p:sp>
      <p:sp>
        <p:nvSpPr>
          <p:cNvPr id="4" name="Text 2"/>
          <p:cNvSpPr/>
          <p:nvPr/>
        </p:nvSpPr>
        <p:spPr>
          <a:xfrm>
            <a:off x="876300" y="723900"/>
            <a:ext cx="10593980" cy="333375"/>
          </a:xfrm>
          <a:prstGeom prst="rect">
            <a:avLst/>
          </a:prstGeom>
          <a:noFill/>
          <a:ln/>
        </p:spPr>
        <p:txBody>
          <a:bodyPr wrap="square" lIns="25400" tIns="25400" rIns="25400" bIns="25400" rtlCol="0" anchor="t">
            <a:normAutofit/>
          </a:bodyPr>
          <a:lstStyle/>
          <a:p>
            <a:pPr algn="l" indent="0" marL="0">
              <a:buNone/>
            </a:pPr>
            <a:r>
              <a:rPr lang="en-US" sz="1800" spc="225" kern="0" dirty="0">
                <a:solidFill>
                  <a:srgbClr val="2E3F66"/>
                </a:solidFill>
                <a:latin typeface="Courier New" pitchFamily="34" charset="0"/>
                <a:ea typeface="Courier New" pitchFamily="34" charset="-122"/>
                <a:cs typeface="Courier New" pitchFamily="34" charset="-120"/>
              </a:rPr>
              <a:t>EXPERIMENT E · 14 · REPRODUCES TABLE 6</a:t>
            </a:r>
            <a:endParaRPr lang="en-US" sz="1800" dirty="0"/>
          </a:p>
        </p:txBody>
      </p:sp>
      <p:sp>
        <p:nvSpPr>
          <p:cNvPr id="5" name="Text 3"/>
          <p:cNvSpPr/>
          <p:nvPr/>
        </p:nvSpPr>
        <p:spPr>
          <a:xfrm>
            <a:off x="876300" y="1133475"/>
            <a:ext cx="10593980" cy="757238"/>
          </a:xfrm>
          <a:prstGeom prst="rect">
            <a:avLst/>
          </a:prstGeom>
          <a:noFill/>
          <a:ln/>
        </p:spPr>
        <p:txBody>
          <a:bodyPr wrap="square" lIns="25400" tIns="25400" rIns="25400" bIns="25400" rtlCol="0" anchor="t">
            <a:normAutofit/>
          </a:bodyPr>
          <a:lstStyle/>
          <a:p>
            <a:pPr algn="l" indent="0" marL="0">
              <a:buNone/>
            </a:pPr>
            <a:r>
              <a:rPr lang="en-US" sz="4350" b="1" dirty="0">
                <a:solidFill>
                  <a:srgbClr val="191A1D"/>
                </a:solidFill>
                <a:latin typeface="Georgia" pitchFamily="34" charset="0"/>
                <a:ea typeface="Georgia" pitchFamily="34" charset="-122"/>
                <a:cs typeface="Georgia" pitchFamily="34" charset="-120"/>
              </a:rPr>
              <a:t>Gender Across Datasets &amp; Synthesis</a:t>
            </a:r>
            <a:endParaRPr lang="en-US" sz="4350" dirty="0"/>
          </a:p>
        </p:txBody>
      </p:sp>
      <p:sp>
        <p:nvSpPr>
          <p:cNvPr id="6" name="Shape 4"/>
          <p:cNvSpPr/>
          <p:nvPr/>
        </p:nvSpPr>
        <p:spPr>
          <a:xfrm>
            <a:off x="876300" y="4099620"/>
            <a:ext cx="8461772" cy="14288"/>
          </a:xfrm>
          <a:prstGeom prst="rect">
            <a:avLst/>
          </a:prstGeom>
          <a:solidFill>
            <a:srgbClr val="191A1D"/>
          </a:solidFill>
          <a:ln/>
        </p:spPr>
      </p:sp>
      <p:sp>
        <p:nvSpPr>
          <p:cNvPr id="7" name="Text 5"/>
          <p:cNvSpPr/>
          <p:nvPr/>
        </p:nvSpPr>
        <p:spPr>
          <a:xfrm>
            <a:off x="952500" y="3725763"/>
            <a:ext cx="3677472" cy="340519"/>
          </a:xfrm>
          <a:prstGeom prst="rect">
            <a:avLst/>
          </a:prstGeom>
          <a:noFill/>
          <a:ln/>
        </p:spPr>
        <p:txBody>
          <a:bodyPr wrap="square" lIns="25400" tIns="25400" rIns="25400" bIns="25400" rtlCol="0" anchor="ctr">
            <a:normAutofit/>
          </a:bodyPr>
          <a:lstStyle/>
          <a:p>
            <a:pPr algn="l" indent="0" marL="0">
              <a:buNone/>
            </a:pPr>
            <a:r>
              <a:rPr lang="en-US" sz="1800" dirty="0">
                <a:solidFill>
                  <a:srgbClr val="565961"/>
                </a:solidFill>
                <a:latin typeface="Courier New" pitchFamily="34" charset="0"/>
                <a:ea typeface="Courier New" pitchFamily="34" charset="-122"/>
                <a:cs typeface="Courier New" pitchFamily="34" charset="-120"/>
              </a:rPr>
              <a:t>MODEL · DATASET</a:t>
            </a:r>
            <a:endParaRPr lang="en-US" sz="1800" dirty="0"/>
          </a:p>
        </p:txBody>
      </p:sp>
      <p:sp>
        <p:nvSpPr>
          <p:cNvPr id="8" name="Text 6"/>
          <p:cNvSpPr/>
          <p:nvPr/>
        </p:nvSpPr>
        <p:spPr>
          <a:xfrm>
            <a:off x="4594622" y="3725763"/>
            <a:ext cx="1105346" cy="340519"/>
          </a:xfrm>
          <a:prstGeom prst="rect">
            <a:avLst/>
          </a:prstGeom>
          <a:noFill/>
          <a:ln/>
        </p:spPr>
        <p:txBody>
          <a:bodyPr wrap="square" lIns="25400" tIns="25400" rIns="25400" bIns="25400" rtlCol="0" anchor="ctr">
            <a:normAutofit/>
          </a:bodyPr>
          <a:lstStyle/>
          <a:p>
            <a:pPr algn="r" indent="0" marL="0">
              <a:buNone/>
            </a:pPr>
            <a:r>
              <a:rPr lang="en-US" sz="1800" dirty="0">
                <a:solidFill>
                  <a:srgbClr val="565961"/>
                </a:solidFill>
                <a:latin typeface="Courier New" pitchFamily="34" charset="0"/>
                <a:ea typeface="Courier New" pitchFamily="34" charset="-122"/>
                <a:cs typeface="Courier New" pitchFamily="34" charset="-120"/>
              </a:rPr>
              <a:t>rate</a:t>
            </a:r>
            <a:endParaRPr lang="en-US" sz="1800" dirty="0"/>
          </a:p>
        </p:txBody>
      </p:sp>
      <p:sp>
        <p:nvSpPr>
          <p:cNvPr id="9" name="Text 7"/>
          <p:cNvSpPr/>
          <p:nvPr/>
        </p:nvSpPr>
        <p:spPr>
          <a:xfrm>
            <a:off x="5776168" y="3725763"/>
            <a:ext cx="1493341" cy="340519"/>
          </a:xfrm>
          <a:prstGeom prst="rect">
            <a:avLst/>
          </a:prstGeom>
          <a:noFill/>
          <a:ln/>
        </p:spPr>
        <p:txBody>
          <a:bodyPr wrap="square" lIns="25400" tIns="25400" rIns="25400" bIns="25400" rtlCol="0" anchor="ctr">
            <a:normAutofit/>
          </a:bodyPr>
          <a:lstStyle/>
          <a:p>
            <a:pPr algn="r" indent="0" marL="0">
              <a:buNone/>
            </a:pPr>
            <a:r>
              <a:rPr lang="en-US" sz="1800" dirty="0">
                <a:solidFill>
                  <a:srgbClr val="565961"/>
                </a:solidFill>
                <a:latin typeface="Courier New" pitchFamily="34" charset="0"/>
                <a:ea typeface="Courier New" pitchFamily="34" charset="-122"/>
                <a:cs typeface="Courier New" pitchFamily="34" charset="-120"/>
              </a:rPr>
              <a:t>log₁₀BF</a:t>
            </a:r>
            <a:endParaRPr lang="en-US" sz="1800" dirty="0"/>
          </a:p>
        </p:txBody>
      </p:sp>
      <p:sp>
        <p:nvSpPr>
          <p:cNvPr id="10" name="Text 8"/>
          <p:cNvSpPr/>
          <p:nvPr/>
        </p:nvSpPr>
        <p:spPr>
          <a:xfrm>
            <a:off x="7421910" y="3725763"/>
            <a:ext cx="1916162" cy="340519"/>
          </a:xfrm>
          <a:prstGeom prst="rect">
            <a:avLst/>
          </a:prstGeom>
          <a:noFill/>
          <a:ln/>
        </p:spPr>
        <p:txBody>
          <a:bodyPr wrap="square" lIns="25400" tIns="25400" rIns="25400" bIns="25400" rtlCol="0" anchor="ctr">
            <a:normAutofit/>
          </a:bodyPr>
          <a:lstStyle/>
          <a:p>
            <a:pPr algn="l" indent="0" marL="0">
              <a:buNone/>
            </a:pPr>
            <a:r>
              <a:rPr lang="en-US" sz="1800" dirty="0">
                <a:solidFill>
                  <a:srgbClr val="565961"/>
                </a:solidFill>
                <a:latin typeface="Courier New" pitchFamily="34" charset="0"/>
                <a:ea typeface="Courier New" pitchFamily="34" charset="-122"/>
                <a:cs typeface="Courier New" pitchFamily="34" charset="-120"/>
              </a:rPr>
              <a:t>verdict</a:t>
            </a:r>
            <a:endParaRPr lang="en-US" sz="1800" dirty="0"/>
          </a:p>
        </p:txBody>
      </p:sp>
      <p:sp>
        <p:nvSpPr>
          <p:cNvPr id="11" name="Shape 9"/>
          <p:cNvSpPr/>
          <p:nvPr/>
        </p:nvSpPr>
        <p:spPr>
          <a:xfrm>
            <a:off x="876300" y="4621113"/>
            <a:ext cx="8461772" cy="9525"/>
          </a:xfrm>
          <a:prstGeom prst="rect">
            <a:avLst/>
          </a:prstGeom>
          <a:solidFill>
            <a:srgbClr val="E2DDD0"/>
          </a:solidFill>
          <a:ln/>
        </p:spPr>
      </p:sp>
      <p:sp>
        <p:nvSpPr>
          <p:cNvPr id="12" name="Text 10"/>
          <p:cNvSpPr/>
          <p:nvPr/>
        </p:nvSpPr>
        <p:spPr>
          <a:xfrm>
            <a:off x="952500" y="4218682"/>
            <a:ext cx="3677472" cy="345281"/>
          </a:xfrm>
          <a:prstGeom prst="rect">
            <a:avLst/>
          </a:prstGeom>
          <a:noFill/>
          <a:ln/>
        </p:spPr>
        <p:txBody>
          <a:bodyPr wrap="square" lIns="25400" tIns="25400" rIns="25400" bIns="25400" rtlCol="0" anchor="ctr">
            <a:normAutofit/>
          </a:bodyPr>
          <a:lstStyle/>
          <a:p>
            <a:pPr algn="l" indent="0" marL="0">
              <a:buNone/>
            </a:pPr>
            <a:r>
              <a:rPr lang="en-US" sz="1800" b="1" dirty="0">
                <a:solidFill>
                  <a:srgbClr val="E15D48"/>
                </a:solidFill>
                <a:latin typeface="Arial" pitchFamily="34" charset="0"/>
                <a:ea typeface="Arial" pitchFamily="34" charset="-122"/>
                <a:cs typeface="Arial" pitchFamily="34" charset="-120"/>
              </a:rPr>
              <a:t>ChatGPT </a:t>
            </a:r>
            <a:pPr algn="l" indent="0" marL="0">
              <a:buNone/>
            </a:pPr>
            <a:r>
              <a:rPr lang="en-US" sz="1800" dirty="0">
                <a:solidFill>
                  <a:srgbClr val="191A1D"/>
                </a:solidFill>
                <a:latin typeface="Arial" pitchFamily="34" charset="0"/>
                <a:ea typeface="Arial" pitchFamily="34" charset="-122"/>
                <a:cs typeface="Arial" pitchFamily="34" charset="-120"/>
              </a:rPr>
              <a:t>· Winogender</a:t>
            </a:r>
            <a:endParaRPr lang="en-US" sz="1800" dirty="0"/>
          </a:p>
        </p:txBody>
      </p:sp>
      <p:sp>
        <p:nvSpPr>
          <p:cNvPr id="13" name="Text 11"/>
          <p:cNvSpPr/>
          <p:nvPr/>
        </p:nvSpPr>
        <p:spPr>
          <a:xfrm>
            <a:off x="4594622" y="4218682"/>
            <a:ext cx="1105346" cy="345281"/>
          </a:xfrm>
          <a:prstGeom prst="rect">
            <a:avLst/>
          </a:prstGeom>
          <a:noFill/>
          <a:ln/>
        </p:spPr>
        <p:txBody>
          <a:bodyPr wrap="square" lIns="25400" tIns="25400" rIns="25400" bIns="25400" rtlCol="0" anchor="ctr">
            <a:normAutofit/>
          </a:bodyPr>
          <a:lstStyle/>
          <a:p>
            <a:pPr algn="r" indent="0" marL="0">
              <a:buNone/>
            </a:pPr>
            <a:r>
              <a:rPr lang="en-US" sz="1800" dirty="0">
                <a:solidFill>
                  <a:srgbClr val="191A1D"/>
                </a:solidFill>
                <a:latin typeface="Courier New" pitchFamily="34" charset="0"/>
                <a:ea typeface="Courier New" pitchFamily="34" charset="-122"/>
                <a:cs typeface="Courier New" pitchFamily="34" charset="-120"/>
              </a:rPr>
              <a:t>0.600</a:t>
            </a:r>
            <a:endParaRPr lang="en-US" sz="1800" dirty="0"/>
          </a:p>
        </p:txBody>
      </p:sp>
      <p:sp>
        <p:nvSpPr>
          <p:cNvPr id="14" name="Text 12"/>
          <p:cNvSpPr/>
          <p:nvPr/>
        </p:nvSpPr>
        <p:spPr>
          <a:xfrm>
            <a:off x="5776168" y="4218682"/>
            <a:ext cx="1493341" cy="345281"/>
          </a:xfrm>
          <a:prstGeom prst="rect">
            <a:avLst/>
          </a:prstGeom>
          <a:noFill/>
          <a:ln/>
        </p:spPr>
        <p:txBody>
          <a:bodyPr wrap="square" lIns="25400" tIns="25400" rIns="25400" bIns="25400" rtlCol="0" anchor="ctr">
            <a:normAutofit/>
          </a:bodyPr>
          <a:lstStyle/>
          <a:p>
            <a:pPr algn="r" indent="0" marL="0">
              <a:buNone/>
            </a:pPr>
            <a:r>
              <a:rPr lang="en-US" sz="1800" dirty="0">
                <a:solidFill>
                  <a:srgbClr val="191A1D"/>
                </a:solidFill>
                <a:latin typeface="Courier New" pitchFamily="34" charset="0"/>
                <a:ea typeface="Courier New" pitchFamily="34" charset="-122"/>
                <a:cs typeface="Courier New" pitchFamily="34" charset="-120"/>
              </a:rPr>
              <a:t>1.00</a:t>
            </a:r>
            <a:endParaRPr lang="en-US" sz="1800" dirty="0"/>
          </a:p>
        </p:txBody>
      </p:sp>
      <p:sp>
        <p:nvSpPr>
          <p:cNvPr id="15" name="Text 13"/>
          <p:cNvSpPr/>
          <p:nvPr/>
        </p:nvSpPr>
        <p:spPr>
          <a:xfrm>
            <a:off x="7421910" y="4218682"/>
            <a:ext cx="1916162" cy="345281"/>
          </a:xfrm>
          <a:prstGeom prst="rect">
            <a:avLst/>
          </a:prstGeom>
          <a:noFill/>
          <a:ln/>
        </p:spPr>
        <p:txBody>
          <a:bodyPr wrap="square" lIns="25400" tIns="25400" rIns="25400" bIns="25400" rtlCol="0" anchor="ctr">
            <a:normAutofit/>
          </a:bodyPr>
          <a:lstStyle/>
          <a:p>
            <a:pPr algn="l" indent="0" marL="0">
              <a:buNone/>
            </a:pPr>
            <a:r>
              <a:rPr lang="en-US" sz="1800" dirty="0">
                <a:solidFill>
                  <a:srgbClr val="191A1D"/>
                </a:solidFill>
                <a:latin typeface="Arial" pitchFamily="34" charset="0"/>
                <a:ea typeface="Arial" pitchFamily="34" charset="-122"/>
                <a:cs typeface="Arial" pitchFamily="34" charset="-120"/>
              </a:rPr>
              <a:t>Moderate H₁</a:t>
            </a:r>
            <a:endParaRPr lang="en-US" sz="1800" dirty="0"/>
          </a:p>
        </p:txBody>
      </p:sp>
      <p:sp>
        <p:nvSpPr>
          <p:cNvPr id="16" name="Shape 14"/>
          <p:cNvSpPr/>
          <p:nvPr/>
        </p:nvSpPr>
        <p:spPr>
          <a:xfrm>
            <a:off x="876300" y="5135463"/>
            <a:ext cx="8461772" cy="9525"/>
          </a:xfrm>
          <a:prstGeom prst="rect">
            <a:avLst/>
          </a:prstGeom>
          <a:solidFill>
            <a:srgbClr val="E2DDD0"/>
          </a:solidFill>
          <a:ln/>
        </p:spPr>
      </p:sp>
      <p:sp>
        <p:nvSpPr>
          <p:cNvPr id="17" name="Text 15"/>
          <p:cNvSpPr/>
          <p:nvPr/>
        </p:nvSpPr>
        <p:spPr>
          <a:xfrm>
            <a:off x="952500" y="4735413"/>
            <a:ext cx="3677472" cy="342900"/>
          </a:xfrm>
          <a:prstGeom prst="rect">
            <a:avLst/>
          </a:prstGeom>
          <a:noFill/>
          <a:ln/>
        </p:spPr>
        <p:txBody>
          <a:bodyPr wrap="square" lIns="25400" tIns="25400" rIns="25400" bIns="25400" rtlCol="0" anchor="ctr">
            <a:normAutofit/>
          </a:bodyPr>
          <a:lstStyle/>
          <a:p>
            <a:pPr algn="l" indent="0" marL="0">
              <a:buNone/>
            </a:pPr>
            <a:r>
              <a:rPr lang="en-US" sz="1800" b="1" dirty="0">
                <a:solidFill>
                  <a:srgbClr val="E15D48"/>
                </a:solidFill>
                <a:latin typeface="Arial" pitchFamily="34" charset="0"/>
                <a:ea typeface="Arial" pitchFamily="34" charset="-122"/>
                <a:cs typeface="Arial" pitchFamily="34" charset="-120"/>
              </a:rPr>
              <a:t>ChatGPT </a:t>
            </a:r>
            <a:pPr algn="l" indent="0" marL="0">
              <a:buNone/>
            </a:pPr>
            <a:r>
              <a:rPr lang="en-US" sz="1800" dirty="0">
                <a:solidFill>
                  <a:srgbClr val="191A1D"/>
                </a:solidFill>
                <a:latin typeface="Arial" pitchFamily="34" charset="0"/>
                <a:ea typeface="Arial" pitchFamily="34" charset="-122"/>
                <a:cs typeface="Arial" pitchFamily="34" charset="-120"/>
              </a:rPr>
              <a:t>· CrowS-EN</a:t>
            </a:r>
            <a:endParaRPr lang="en-US" sz="1800" dirty="0"/>
          </a:p>
        </p:txBody>
      </p:sp>
      <p:sp>
        <p:nvSpPr>
          <p:cNvPr id="18" name="Text 16"/>
          <p:cNvSpPr/>
          <p:nvPr/>
        </p:nvSpPr>
        <p:spPr>
          <a:xfrm>
            <a:off x="4594622" y="4735413"/>
            <a:ext cx="1105346" cy="342900"/>
          </a:xfrm>
          <a:prstGeom prst="rect">
            <a:avLst/>
          </a:prstGeom>
          <a:noFill/>
          <a:ln/>
        </p:spPr>
        <p:txBody>
          <a:bodyPr wrap="square" lIns="25400" tIns="25400" rIns="25400" bIns="25400" rtlCol="0" anchor="ctr">
            <a:normAutofit/>
          </a:bodyPr>
          <a:lstStyle/>
          <a:p>
            <a:pPr algn="r" indent="0" marL="0">
              <a:buNone/>
            </a:pPr>
            <a:r>
              <a:rPr lang="en-US" sz="1800" dirty="0">
                <a:solidFill>
                  <a:srgbClr val="191A1D"/>
                </a:solidFill>
                <a:latin typeface="Courier New" pitchFamily="34" charset="0"/>
                <a:ea typeface="Courier New" pitchFamily="34" charset="-122"/>
                <a:cs typeface="Courier New" pitchFamily="34" charset="-120"/>
              </a:rPr>
              <a:t>0.759</a:t>
            </a:r>
            <a:endParaRPr lang="en-US" sz="1800" dirty="0"/>
          </a:p>
        </p:txBody>
      </p:sp>
      <p:sp>
        <p:nvSpPr>
          <p:cNvPr id="19" name="Text 17"/>
          <p:cNvSpPr/>
          <p:nvPr/>
        </p:nvSpPr>
        <p:spPr>
          <a:xfrm>
            <a:off x="5776168" y="4735413"/>
            <a:ext cx="1493341" cy="342900"/>
          </a:xfrm>
          <a:prstGeom prst="rect">
            <a:avLst/>
          </a:prstGeom>
          <a:noFill/>
          <a:ln/>
        </p:spPr>
        <p:txBody>
          <a:bodyPr wrap="square" lIns="25400" tIns="25400" rIns="25400" bIns="25400" rtlCol="0" anchor="ctr">
            <a:normAutofit/>
          </a:bodyPr>
          <a:lstStyle/>
          <a:p>
            <a:pPr algn="r" indent="0" marL="0">
              <a:buNone/>
            </a:pPr>
            <a:r>
              <a:rPr lang="en-US" sz="1800" b="1" dirty="0">
                <a:solidFill>
                  <a:srgbClr val="191A1D"/>
                </a:solidFill>
                <a:latin typeface="Courier New" pitchFamily="34" charset="0"/>
                <a:ea typeface="Courier New" pitchFamily="34" charset="-122"/>
                <a:cs typeface="Courier New" pitchFamily="34" charset="-120"/>
              </a:rPr>
              <a:t>18.42</a:t>
            </a:r>
            <a:endParaRPr lang="en-US" sz="1800" dirty="0"/>
          </a:p>
        </p:txBody>
      </p:sp>
      <p:sp>
        <p:nvSpPr>
          <p:cNvPr id="20" name="Text 18"/>
          <p:cNvSpPr/>
          <p:nvPr/>
        </p:nvSpPr>
        <p:spPr>
          <a:xfrm>
            <a:off x="7421910" y="4735413"/>
            <a:ext cx="1916162" cy="342900"/>
          </a:xfrm>
          <a:prstGeom prst="rect">
            <a:avLst/>
          </a:prstGeom>
          <a:noFill/>
          <a:ln/>
        </p:spPr>
        <p:txBody>
          <a:bodyPr wrap="square" lIns="25400" tIns="25400" rIns="25400" bIns="25400" rtlCol="0" anchor="ctr">
            <a:normAutofit/>
          </a:bodyPr>
          <a:lstStyle/>
          <a:p>
            <a:pPr algn="l" indent="0" marL="0">
              <a:buNone/>
            </a:pPr>
            <a:r>
              <a:rPr lang="en-US" sz="1800" dirty="0">
                <a:solidFill>
                  <a:srgbClr val="191A1D"/>
                </a:solidFill>
                <a:latin typeface="Arial" pitchFamily="34" charset="0"/>
                <a:ea typeface="Arial" pitchFamily="34" charset="-122"/>
                <a:cs typeface="Arial" pitchFamily="34" charset="-120"/>
              </a:rPr>
              <a:t>Extreme H₁</a:t>
            </a:r>
            <a:endParaRPr lang="en-US" sz="1800" dirty="0"/>
          </a:p>
        </p:txBody>
      </p:sp>
      <p:sp>
        <p:nvSpPr>
          <p:cNvPr id="21" name="Shape 19"/>
          <p:cNvSpPr/>
          <p:nvPr/>
        </p:nvSpPr>
        <p:spPr>
          <a:xfrm>
            <a:off x="876300" y="5649813"/>
            <a:ext cx="8461772" cy="9525"/>
          </a:xfrm>
          <a:prstGeom prst="rect">
            <a:avLst/>
          </a:prstGeom>
          <a:solidFill>
            <a:srgbClr val="E2DDD0"/>
          </a:solidFill>
          <a:ln/>
        </p:spPr>
      </p:sp>
      <p:sp>
        <p:nvSpPr>
          <p:cNvPr id="22" name="Text 20"/>
          <p:cNvSpPr/>
          <p:nvPr/>
        </p:nvSpPr>
        <p:spPr>
          <a:xfrm>
            <a:off x="952500" y="5249763"/>
            <a:ext cx="3677472" cy="342900"/>
          </a:xfrm>
          <a:prstGeom prst="rect">
            <a:avLst/>
          </a:prstGeom>
          <a:noFill/>
          <a:ln/>
        </p:spPr>
        <p:txBody>
          <a:bodyPr wrap="square" lIns="25400" tIns="25400" rIns="25400" bIns="25400" rtlCol="0" anchor="ctr">
            <a:normAutofit/>
          </a:bodyPr>
          <a:lstStyle/>
          <a:p>
            <a:pPr algn="l" indent="0" marL="0">
              <a:buNone/>
            </a:pPr>
            <a:r>
              <a:rPr lang="en-US" sz="1800" b="1" dirty="0">
                <a:solidFill>
                  <a:srgbClr val="E15D48"/>
                </a:solidFill>
                <a:latin typeface="Arial" pitchFamily="34" charset="0"/>
                <a:ea typeface="Arial" pitchFamily="34" charset="-122"/>
                <a:cs typeface="Arial" pitchFamily="34" charset="-120"/>
              </a:rPr>
              <a:t>ChatGPT </a:t>
            </a:r>
            <a:pPr algn="l" indent="0" marL="0">
              <a:buNone/>
            </a:pPr>
            <a:r>
              <a:rPr lang="en-US" sz="1800" dirty="0">
                <a:solidFill>
                  <a:srgbClr val="191A1D"/>
                </a:solidFill>
                <a:latin typeface="Arial" pitchFamily="34" charset="0"/>
                <a:ea typeface="Arial" pitchFamily="34" charset="-122"/>
                <a:cs typeface="Arial" pitchFamily="34" charset="-120"/>
              </a:rPr>
              <a:t>· CrowS-FR</a:t>
            </a:r>
            <a:endParaRPr lang="en-US" sz="1800" dirty="0"/>
          </a:p>
        </p:txBody>
      </p:sp>
      <p:sp>
        <p:nvSpPr>
          <p:cNvPr id="23" name="Text 21"/>
          <p:cNvSpPr/>
          <p:nvPr/>
        </p:nvSpPr>
        <p:spPr>
          <a:xfrm>
            <a:off x="4594622" y="5249763"/>
            <a:ext cx="1105346" cy="342900"/>
          </a:xfrm>
          <a:prstGeom prst="rect">
            <a:avLst/>
          </a:prstGeom>
          <a:noFill/>
          <a:ln/>
        </p:spPr>
        <p:txBody>
          <a:bodyPr wrap="square" lIns="25400" tIns="25400" rIns="25400" bIns="25400" rtlCol="0" anchor="ctr">
            <a:normAutofit/>
          </a:bodyPr>
          <a:lstStyle/>
          <a:p>
            <a:pPr algn="r" indent="0" marL="0">
              <a:buNone/>
            </a:pPr>
            <a:r>
              <a:rPr lang="en-US" sz="1800" dirty="0">
                <a:solidFill>
                  <a:srgbClr val="191A1D"/>
                </a:solidFill>
                <a:latin typeface="Courier New" pitchFamily="34" charset="0"/>
                <a:ea typeface="Courier New" pitchFamily="34" charset="-122"/>
                <a:cs typeface="Courier New" pitchFamily="34" charset="-120"/>
              </a:rPr>
              <a:t>0.670</a:t>
            </a:r>
            <a:endParaRPr lang="en-US" sz="1800" dirty="0"/>
          </a:p>
        </p:txBody>
      </p:sp>
      <p:sp>
        <p:nvSpPr>
          <p:cNvPr id="24" name="Text 22"/>
          <p:cNvSpPr/>
          <p:nvPr/>
        </p:nvSpPr>
        <p:spPr>
          <a:xfrm>
            <a:off x="5776168" y="5249763"/>
            <a:ext cx="1493341" cy="342900"/>
          </a:xfrm>
          <a:prstGeom prst="rect">
            <a:avLst/>
          </a:prstGeom>
          <a:noFill/>
          <a:ln/>
        </p:spPr>
        <p:txBody>
          <a:bodyPr wrap="square" lIns="25400" tIns="25400" rIns="25400" bIns="25400" rtlCol="0" anchor="ctr">
            <a:normAutofit/>
          </a:bodyPr>
          <a:lstStyle/>
          <a:p>
            <a:pPr algn="r" indent="0" marL="0">
              <a:buNone/>
            </a:pPr>
            <a:r>
              <a:rPr lang="en-US" sz="1800" b="1" dirty="0">
                <a:solidFill>
                  <a:srgbClr val="191A1D"/>
                </a:solidFill>
                <a:latin typeface="Courier New" pitchFamily="34" charset="0"/>
                <a:ea typeface="Courier New" pitchFamily="34" charset="-122"/>
                <a:cs typeface="Courier New" pitchFamily="34" charset="-120"/>
              </a:rPr>
              <a:t>7.02</a:t>
            </a:r>
            <a:endParaRPr lang="en-US" sz="1800" dirty="0"/>
          </a:p>
        </p:txBody>
      </p:sp>
      <p:sp>
        <p:nvSpPr>
          <p:cNvPr id="25" name="Text 23"/>
          <p:cNvSpPr/>
          <p:nvPr/>
        </p:nvSpPr>
        <p:spPr>
          <a:xfrm>
            <a:off x="7421910" y="5249763"/>
            <a:ext cx="1916162" cy="342900"/>
          </a:xfrm>
          <a:prstGeom prst="rect">
            <a:avLst/>
          </a:prstGeom>
          <a:noFill/>
          <a:ln/>
        </p:spPr>
        <p:txBody>
          <a:bodyPr wrap="square" lIns="25400" tIns="25400" rIns="25400" bIns="25400" rtlCol="0" anchor="ctr">
            <a:normAutofit/>
          </a:bodyPr>
          <a:lstStyle/>
          <a:p>
            <a:pPr algn="l" indent="0" marL="0">
              <a:buNone/>
            </a:pPr>
            <a:r>
              <a:rPr lang="en-US" sz="1800" dirty="0">
                <a:solidFill>
                  <a:srgbClr val="191A1D"/>
                </a:solidFill>
                <a:latin typeface="Arial" pitchFamily="34" charset="0"/>
                <a:ea typeface="Arial" pitchFamily="34" charset="-122"/>
                <a:cs typeface="Arial" pitchFamily="34" charset="-120"/>
              </a:rPr>
              <a:t>Extreme H₁</a:t>
            </a:r>
            <a:endParaRPr lang="en-US" sz="1800" dirty="0"/>
          </a:p>
        </p:txBody>
      </p:sp>
      <p:sp>
        <p:nvSpPr>
          <p:cNvPr id="26" name="Shape 24"/>
          <p:cNvSpPr/>
          <p:nvPr/>
        </p:nvSpPr>
        <p:spPr>
          <a:xfrm>
            <a:off x="876300" y="5659338"/>
            <a:ext cx="8461772" cy="514350"/>
          </a:xfrm>
          <a:prstGeom prst="rect">
            <a:avLst/>
          </a:prstGeom>
          <a:solidFill>
            <a:srgbClr val="E4EEED"/>
          </a:solidFill>
          <a:ln/>
        </p:spPr>
      </p:sp>
      <p:sp>
        <p:nvSpPr>
          <p:cNvPr id="27" name="Shape 25"/>
          <p:cNvSpPr/>
          <p:nvPr/>
        </p:nvSpPr>
        <p:spPr>
          <a:xfrm>
            <a:off x="876300" y="6164163"/>
            <a:ext cx="8461772" cy="9525"/>
          </a:xfrm>
          <a:prstGeom prst="rect">
            <a:avLst/>
          </a:prstGeom>
          <a:solidFill>
            <a:srgbClr val="E2DDD0"/>
          </a:solidFill>
          <a:ln/>
        </p:spPr>
      </p:sp>
      <p:sp>
        <p:nvSpPr>
          <p:cNvPr id="28" name="Text 26"/>
          <p:cNvSpPr/>
          <p:nvPr/>
        </p:nvSpPr>
        <p:spPr>
          <a:xfrm>
            <a:off x="952500" y="5764113"/>
            <a:ext cx="3677472" cy="342900"/>
          </a:xfrm>
          <a:prstGeom prst="rect">
            <a:avLst/>
          </a:prstGeom>
          <a:noFill/>
          <a:ln/>
        </p:spPr>
        <p:txBody>
          <a:bodyPr wrap="square" lIns="25400" tIns="25400" rIns="25400" bIns="25400" rtlCol="0" anchor="ctr">
            <a:normAutofit/>
          </a:bodyPr>
          <a:lstStyle/>
          <a:p>
            <a:pPr algn="l" indent="0" marL="0">
              <a:buNone/>
            </a:pPr>
            <a:r>
              <a:rPr lang="en-US" sz="1800" b="1" dirty="0">
                <a:solidFill>
                  <a:srgbClr val="0E9C99"/>
                </a:solidFill>
                <a:latin typeface="Arial" pitchFamily="34" charset="0"/>
                <a:ea typeface="Arial" pitchFamily="34" charset="-122"/>
                <a:cs typeface="Arial" pitchFamily="34" charset="-120"/>
              </a:rPr>
              <a:t>DeepSeek </a:t>
            </a:r>
            <a:pPr algn="l" indent="0" marL="0">
              <a:buNone/>
            </a:pPr>
            <a:r>
              <a:rPr lang="en-US" sz="1800" dirty="0">
                <a:solidFill>
                  <a:srgbClr val="191A1D"/>
                </a:solidFill>
                <a:latin typeface="Arial" pitchFamily="34" charset="0"/>
                <a:ea typeface="Arial" pitchFamily="34" charset="-122"/>
                <a:cs typeface="Arial" pitchFamily="34" charset="-120"/>
              </a:rPr>
              <a:t>· Winogender</a:t>
            </a:r>
            <a:endParaRPr lang="en-US" sz="1800" dirty="0"/>
          </a:p>
        </p:txBody>
      </p:sp>
      <p:sp>
        <p:nvSpPr>
          <p:cNvPr id="29" name="Text 27"/>
          <p:cNvSpPr/>
          <p:nvPr/>
        </p:nvSpPr>
        <p:spPr>
          <a:xfrm>
            <a:off x="4594622" y="5764113"/>
            <a:ext cx="1105346" cy="342900"/>
          </a:xfrm>
          <a:prstGeom prst="rect">
            <a:avLst/>
          </a:prstGeom>
          <a:noFill/>
          <a:ln/>
        </p:spPr>
        <p:txBody>
          <a:bodyPr wrap="square" lIns="25400" tIns="25400" rIns="25400" bIns="25400" rtlCol="0" anchor="ctr">
            <a:normAutofit/>
          </a:bodyPr>
          <a:lstStyle/>
          <a:p>
            <a:pPr algn="r" indent="0" marL="0">
              <a:buNone/>
            </a:pPr>
            <a:r>
              <a:rPr lang="en-US" sz="1800" dirty="0">
                <a:solidFill>
                  <a:srgbClr val="191A1D"/>
                </a:solidFill>
                <a:latin typeface="Courier New" pitchFamily="34" charset="0"/>
                <a:ea typeface="Courier New" pitchFamily="34" charset="-122"/>
                <a:cs typeface="Courier New" pitchFamily="34" charset="-120"/>
              </a:rPr>
              <a:t>0.450</a:t>
            </a:r>
            <a:endParaRPr lang="en-US" sz="1800" dirty="0"/>
          </a:p>
        </p:txBody>
      </p:sp>
      <p:sp>
        <p:nvSpPr>
          <p:cNvPr id="30" name="Text 28"/>
          <p:cNvSpPr/>
          <p:nvPr/>
        </p:nvSpPr>
        <p:spPr>
          <a:xfrm>
            <a:off x="5776168" y="5764113"/>
            <a:ext cx="1493341" cy="342900"/>
          </a:xfrm>
          <a:prstGeom prst="rect">
            <a:avLst/>
          </a:prstGeom>
          <a:noFill/>
          <a:ln/>
        </p:spPr>
        <p:txBody>
          <a:bodyPr wrap="square" lIns="25400" tIns="25400" rIns="25400" bIns="25400" rtlCol="0" anchor="ctr">
            <a:normAutofit/>
          </a:bodyPr>
          <a:lstStyle/>
          <a:p>
            <a:pPr algn="r" indent="0" marL="0">
              <a:buNone/>
            </a:pPr>
            <a:r>
              <a:rPr lang="en-US" sz="1800" b="1" dirty="0">
                <a:solidFill>
                  <a:srgbClr val="0E9C99"/>
                </a:solidFill>
                <a:latin typeface="Courier New" pitchFamily="34" charset="0"/>
                <a:ea typeface="Courier New" pitchFamily="34" charset="-122"/>
                <a:cs typeface="Courier New" pitchFamily="34" charset="-120"/>
              </a:rPr>
              <a:t>−0.57</a:t>
            </a:r>
            <a:endParaRPr lang="en-US" sz="1800" dirty="0"/>
          </a:p>
        </p:txBody>
      </p:sp>
      <p:sp>
        <p:nvSpPr>
          <p:cNvPr id="31" name="Text 29"/>
          <p:cNvSpPr/>
          <p:nvPr/>
        </p:nvSpPr>
        <p:spPr>
          <a:xfrm>
            <a:off x="7421910" y="5764113"/>
            <a:ext cx="1916162" cy="342900"/>
          </a:xfrm>
          <a:prstGeom prst="rect">
            <a:avLst/>
          </a:prstGeom>
          <a:noFill/>
          <a:ln/>
        </p:spPr>
        <p:txBody>
          <a:bodyPr wrap="square" lIns="25400" tIns="25400" rIns="25400" bIns="25400" rtlCol="0" anchor="ctr">
            <a:normAutofit/>
          </a:bodyPr>
          <a:lstStyle/>
          <a:p>
            <a:pPr algn="l" indent="0" marL="0">
              <a:buNone/>
            </a:pPr>
            <a:r>
              <a:rPr lang="en-US" sz="1800" b="1" dirty="0">
                <a:solidFill>
                  <a:srgbClr val="0E9C99"/>
                </a:solidFill>
                <a:latin typeface="Arial" pitchFamily="34" charset="0"/>
                <a:ea typeface="Arial" pitchFamily="34" charset="-122"/>
                <a:cs typeface="Arial" pitchFamily="34" charset="-120"/>
              </a:rPr>
              <a:t>Moderate H₀</a:t>
            </a:r>
            <a:endParaRPr lang="en-US" sz="1800" dirty="0"/>
          </a:p>
        </p:txBody>
      </p:sp>
      <p:sp>
        <p:nvSpPr>
          <p:cNvPr id="32" name="Shape 30"/>
          <p:cNvSpPr/>
          <p:nvPr/>
        </p:nvSpPr>
        <p:spPr>
          <a:xfrm>
            <a:off x="876300" y="6678513"/>
            <a:ext cx="8461772" cy="9525"/>
          </a:xfrm>
          <a:prstGeom prst="rect">
            <a:avLst/>
          </a:prstGeom>
          <a:solidFill>
            <a:srgbClr val="E2DDD0"/>
          </a:solidFill>
          <a:ln/>
        </p:spPr>
      </p:sp>
      <p:sp>
        <p:nvSpPr>
          <p:cNvPr id="33" name="Text 31"/>
          <p:cNvSpPr/>
          <p:nvPr/>
        </p:nvSpPr>
        <p:spPr>
          <a:xfrm>
            <a:off x="952500" y="6278463"/>
            <a:ext cx="3677472" cy="342900"/>
          </a:xfrm>
          <a:prstGeom prst="rect">
            <a:avLst/>
          </a:prstGeom>
          <a:noFill/>
          <a:ln/>
        </p:spPr>
        <p:txBody>
          <a:bodyPr wrap="square" lIns="25400" tIns="25400" rIns="25400" bIns="25400" rtlCol="0" anchor="ctr">
            <a:normAutofit/>
          </a:bodyPr>
          <a:lstStyle/>
          <a:p>
            <a:pPr algn="l" indent="0" marL="0">
              <a:buNone/>
            </a:pPr>
            <a:r>
              <a:rPr lang="en-US" sz="1800" b="1" dirty="0">
                <a:solidFill>
                  <a:srgbClr val="0E9C99"/>
                </a:solidFill>
                <a:latin typeface="Arial" pitchFamily="34" charset="0"/>
                <a:ea typeface="Arial" pitchFamily="34" charset="-122"/>
                <a:cs typeface="Arial" pitchFamily="34" charset="-120"/>
              </a:rPr>
              <a:t>DeepSeek </a:t>
            </a:r>
            <a:pPr algn="l" indent="0" marL="0">
              <a:buNone/>
            </a:pPr>
            <a:r>
              <a:rPr lang="en-US" sz="1800" dirty="0">
                <a:solidFill>
                  <a:srgbClr val="191A1D"/>
                </a:solidFill>
                <a:latin typeface="Arial" pitchFamily="34" charset="0"/>
                <a:ea typeface="Arial" pitchFamily="34" charset="-122"/>
                <a:cs typeface="Arial" pitchFamily="34" charset="-120"/>
              </a:rPr>
              <a:t>· CrowS-EN</a:t>
            </a:r>
            <a:endParaRPr lang="en-US" sz="1800" dirty="0"/>
          </a:p>
        </p:txBody>
      </p:sp>
      <p:sp>
        <p:nvSpPr>
          <p:cNvPr id="34" name="Text 32"/>
          <p:cNvSpPr/>
          <p:nvPr/>
        </p:nvSpPr>
        <p:spPr>
          <a:xfrm>
            <a:off x="4594622" y="6278463"/>
            <a:ext cx="1105346" cy="342900"/>
          </a:xfrm>
          <a:prstGeom prst="rect">
            <a:avLst/>
          </a:prstGeom>
          <a:noFill/>
          <a:ln/>
        </p:spPr>
        <p:txBody>
          <a:bodyPr wrap="square" lIns="25400" tIns="25400" rIns="25400" bIns="25400" rtlCol="0" anchor="ctr">
            <a:normAutofit/>
          </a:bodyPr>
          <a:lstStyle/>
          <a:p>
            <a:pPr algn="r" indent="0" marL="0">
              <a:buNone/>
            </a:pPr>
            <a:r>
              <a:rPr lang="en-US" sz="1800" dirty="0">
                <a:solidFill>
                  <a:srgbClr val="191A1D"/>
                </a:solidFill>
                <a:latin typeface="Courier New" pitchFamily="34" charset="0"/>
                <a:ea typeface="Courier New" pitchFamily="34" charset="-122"/>
                <a:cs typeface="Courier New" pitchFamily="34" charset="-120"/>
              </a:rPr>
              <a:t>0.578</a:t>
            </a:r>
            <a:endParaRPr lang="en-US" sz="1800" dirty="0"/>
          </a:p>
        </p:txBody>
      </p:sp>
      <p:sp>
        <p:nvSpPr>
          <p:cNvPr id="35" name="Text 33"/>
          <p:cNvSpPr/>
          <p:nvPr/>
        </p:nvSpPr>
        <p:spPr>
          <a:xfrm>
            <a:off x="5776168" y="6278463"/>
            <a:ext cx="1493341" cy="342900"/>
          </a:xfrm>
          <a:prstGeom prst="rect">
            <a:avLst/>
          </a:prstGeom>
          <a:noFill/>
          <a:ln/>
        </p:spPr>
        <p:txBody>
          <a:bodyPr wrap="square" lIns="25400" tIns="25400" rIns="25400" bIns="25400" rtlCol="0" anchor="ctr">
            <a:normAutofit/>
          </a:bodyPr>
          <a:lstStyle/>
          <a:p>
            <a:pPr algn="r" indent="0" marL="0">
              <a:buNone/>
            </a:pPr>
            <a:r>
              <a:rPr lang="en-US" sz="1800" dirty="0">
                <a:solidFill>
                  <a:srgbClr val="191A1D"/>
                </a:solidFill>
                <a:latin typeface="Courier New" pitchFamily="34" charset="0"/>
                <a:ea typeface="Courier New" pitchFamily="34" charset="-122"/>
                <a:cs typeface="Courier New" pitchFamily="34" charset="-120"/>
              </a:rPr>
              <a:t>0.54</a:t>
            </a:r>
            <a:endParaRPr lang="en-US" sz="1800" dirty="0"/>
          </a:p>
        </p:txBody>
      </p:sp>
      <p:sp>
        <p:nvSpPr>
          <p:cNvPr id="36" name="Text 34"/>
          <p:cNvSpPr/>
          <p:nvPr/>
        </p:nvSpPr>
        <p:spPr>
          <a:xfrm>
            <a:off x="7421910" y="6278463"/>
            <a:ext cx="1916162" cy="342900"/>
          </a:xfrm>
          <a:prstGeom prst="rect">
            <a:avLst/>
          </a:prstGeom>
          <a:noFill/>
          <a:ln/>
        </p:spPr>
        <p:txBody>
          <a:bodyPr wrap="square" lIns="25400" tIns="25400" rIns="25400" bIns="25400" rtlCol="0" anchor="ctr">
            <a:normAutofit/>
          </a:bodyPr>
          <a:lstStyle/>
          <a:p>
            <a:pPr algn="l" indent="0" marL="0">
              <a:buNone/>
            </a:pPr>
            <a:r>
              <a:rPr lang="en-US" sz="1800" dirty="0">
                <a:solidFill>
                  <a:srgbClr val="191A1D"/>
                </a:solidFill>
                <a:latin typeface="Arial" pitchFamily="34" charset="0"/>
                <a:ea typeface="Arial" pitchFamily="34" charset="-122"/>
                <a:cs typeface="Arial" pitchFamily="34" charset="-120"/>
              </a:rPr>
              <a:t>Moderate H₁</a:t>
            </a:r>
            <a:endParaRPr lang="en-US" sz="1800" dirty="0"/>
          </a:p>
        </p:txBody>
      </p:sp>
      <p:sp>
        <p:nvSpPr>
          <p:cNvPr id="37" name="Text 35"/>
          <p:cNvSpPr/>
          <p:nvPr/>
        </p:nvSpPr>
        <p:spPr>
          <a:xfrm>
            <a:off x="952500" y="6792813"/>
            <a:ext cx="3677472" cy="338138"/>
          </a:xfrm>
          <a:prstGeom prst="rect">
            <a:avLst/>
          </a:prstGeom>
          <a:noFill/>
          <a:ln/>
        </p:spPr>
        <p:txBody>
          <a:bodyPr wrap="square" lIns="25400" tIns="25400" rIns="25400" bIns="25400" rtlCol="0" anchor="ctr">
            <a:normAutofit/>
          </a:bodyPr>
          <a:lstStyle/>
          <a:p>
            <a:pPr algn="l" indent="0" marL="0">
              <a:buNone/>
            </a:pPr>
            <a:r>
              <a:rPr lang="en-US" sz="1800" b="1" dirty="0">
                <a:solidFill>
                  <a:srgbClr val="0E9C99"/>
                </a:solidFill>
                <a:latin typeface="Arial" pitchFamily="34" charset="0"/>
                <a:ea typeface="Arial" pitchFamily="34" charset="-122"/>
                <a:cs typeface="Arial" pitchFamily="34" charset="-120"/>
              </a:rPr>
              <a:t>DeepSeek </a:t>
            </a:r>
            <a:pPr algn="l" indent="0" marL="0">
              <a:buNone/>
            </a:pPr>
            <a:r>
              <a:rPr lang="en-US" sz="1800" dirty="0">
                <a:solidFill>
                  <a:srgbClr val="191A1D"/>
                </a:solidFill>
                <a:latin typeface="Arial" pitchFamily="34" charset="0"/>
                <a:ea typeface="Arial" pitchFamily="34" charset="-122"/>
                <a:cs typeface="Arial" pitchFamily="34" charset="-120"/>
              </a:rPr>
              <a:t>· CrowS-FR</a:t>
            </a:r>
            <a:endParaRPr lang="en-US" sz="1800" dirty="0"/>
          </a:p>
        </p:txBody>
      </p:sp>
      <p:sp>
        <p:nvSpPr>
          <p:cNvPr id="38" name="Text 36"/>
          <p:cNvSpPr/>
          <p:nvPr/>
        </p:nvSpPr>
        <p:spPr>
          <a:xfrm>
            <a:off x="4594622" y="6792813"/>
            <a:ext cx="1105346" cy="338138"/>
          </a:xfrm>
          <a:prstGeom prst="rect">
            <a:avLst/>
          </a:prstGeom>
          <a:noFill/>
          <a:ln/>
        </p:spPr>
        <p:txBody>
          <a:bodyPr wrap="square" lIns="25400" tIns="25400" rIns="25400" bIns="25400" rtlCol="0" anchor="ctr">
            <a:normAutofit/>
          </a:bodyPr>
          <a:lstStyle/>
          <a:p>
            <a:pPr algn="r" indent="0" marL="0">
              <a:buNone/>
            </a:pPr>
            <a:r>
              <a:rPr lang="en-US" sz="1800" dirty="0">
                <a:solidFill>
                  <a:srgbClr val="191A1D"/>
                </a:solidFill>
                <a:latin typeface="Courier New" pitchFamily="34" charset="0"/>
                <a:ea typeface="Courier New" pitchFamily="34" charset="-122"/>
                <a:cs typeface="Courier New" pitchFamily="34" charset="-120"/>
              </a:rPr>
              <a:t>0.411</a:t>
            </a:r>
            <a:endParaRPr lang="en-US" sz="1800" dirty="0"/>
          </a:p>
        </p:txBody>
      </p:sp>
      <p:sp>
        <p:nvSpPr>
          <p:cNvPr id="39" name="Text 37"/>
          <p:cNvSpPr/>
          <p:nvPr/>
        </p:nvSpPr>
        <p:spPr>
          <a:xfrm>
            <a:off x="5776168" y="6792813"/>
            <a:ext cx="1493341" cy="338138"/>
          </a:xfrm>
          <a:prstGeom prst="rect">
            <a:avLst/>
          </a:prstGeom>
          <a:noFill/>
          <a:ln/>
        </p:spPr>
        <p:txBody>
          <a:bodyPr wrap="square" lIns="25400" tIns="25400" rIns="25400" bIns="25400" rtlCol="0" anchor="ctr">
            <a:normAutofit/>
          </a:bodyPr>
          <a:lstStyle/>
          <a:p>
            <a:pPr algn="r" indent="0" marL="0">
              <a:buNone/>
            </a:pPr>
            <a:r>
              <a:rPr lang="en-US" sz="1800" dirty="0">
                <a:solidFill>
                  <a:srgbClr val="191A1D"/>
                </a:solidFill>
                <a:latin typeface="Courier New" pitchFamily="34" charset="0"/>
                <a:ea typeface="Courier New" pitchFamily="34" charset="-122"/>
                <a:cs typeface="Courier New" pitchFamily="34" charset="-120"/>
              </a:rPr>
              <a:t>1.05</a:t>
            </a:r>
            <a:endParaRPr lang="en-US" sz="1800" dirty="0"/>
          </a:p>
        </p:txBody>
      </p:sp>
      <p:sp>
        <p:nvSpPr>
          <p:cNvPr id="40" name="Text 38"/>
          <p:cNvSpPr/>
          <p:nvPr/>
        </p:nvSpPr>
        <p:spPr>
          <a:xfrm>
            <a:off x="7421910" y="6792813"/>
            <a:ext cx="1916162" cy="338138"/>
          </a:xfrm>
          <a:prstGeom prst="rect">
            <a:avLst/>
          </a:prstGeom>
          <a:noFill/>
          <a:ln/>
        </p:spPr>
        <p:txBody>
          <a:bodyPr wrap="square" lIns="25400" tIns="25400" rIns="25400" bIns="25400" rtlCol="0" anchor="ctr">
            <a:normAutofit/>
          </a:bodyPr>
          <a:lstStyle/>
          <a:p>
            <a:pPr algn="l" indent="0" marL="0">
              <a:buNone/>
            </a:pPr>
            <a:r>
              <a:rPr lang="en-US" sz="1800" dirty="0">
                <a:solidFill>
                  <a:srgbClr val="191A1D"/>
                </a:solidFill>
                <a:latin typeface="Arial" pitchFamily="34" charset="0"/>
                <a:ea typeface="Arial" pitchFamily="34" charset="-122"/>
                <a:cs typeface="Arial" pitchFamily="34" charset="-120"/>
              </a:rPr>
              <a:t>Strong H₁</a:t>
            </a:r>
            <a:endParaRPr lang="en-US" sz="1800" dirty="0"/>
          </a:p>
        </p:txBody>
      </p:sp>
      <p:sp>
        <p:nvSpPr>
          <p:cNvPr id="41" name="Text 39"/>
          <p:cNvSpPr/>
          <p:nvPr/>
        </p:nvSpPr>
        <p:spPr>
          <a:xfrm>
            <a:off x="876300" y="7350026"/>
            <a:ext cx="8715625" cy="682823"/>
          </a:xfrm>
          <a:prstGeom prst="rect">
            <a:avLst/>
          </a:prstGeom>
          <a:noFill/>
          <a:ln/>
        </p:spPr>
        <p:txBody>
          <a:bodyPr wrap="square" lIns="25400" tIns="25400" rIns="25400" bIns="25400" rtlCol="0" anchor="t">
            <a:normAutofit/>
          </a:bodyPr>
          <a:lstStyle/>
          <a:p>
            <a:pPr algn="l" indent="0" marL="0">
              <a:lnSpc>
                <a:spcPct val="140000"/>
              </a:lnSpc>
              <a:buNone/>
            </a:pPr>
            <a:r>
              <a:rPr lang="en-US" sz="1800" b="1" dirty="0">
                <a:solidFill>
                  <a:srgbClr val="E15D48"/>
                </a:solidFill>
                <a:latin typeface="Arial" pitchFamily="34" charset="0"/>
                <a:ea typeface="Arial" pitchFamily="34" charset="-122"/>
                <a:cs typeface="Arial" pitchFamily="34" charset="-120"/>
              </a:rPr>
              <a:t>ChatGPT</a:t>
            </a:r>
            <a:pPr algn="l" indent="0" marL="0">
              <a:lnSpc>
                <a:spcPct val="140000"/>
              </a:lnSpc>
              <a:buNone/>
            </a:pPr>
            <a:r>
              <a:rPr lang="en-US" sz="1800" dirty="0">
                <a:solidFill>
                  <a:srgbClr val="33353B"/>
                </a:solidFill>
                <a:latin typeface="Arial" pitchFamily="34" charset="0"/>
                <a:ea typeface="Arial" pitchFamily="34" charset="-122"/>
                <a:cs typeface="Arial" pitchFamily="34" charset="-120"/>
              </a:rPr>
              <a:t>: gender bias on all 3 benchmarks. </a:t>
            </a:r>
            <a:pPr algn="l" indent="0" marL="0">
              <a:lnSpc>
                <a:spcPct val="140000"/>
              </a:lnSpc>
              <a:buNone/>
            </a:pPr>
            <a:r>
              <a:rPr lang="en-US" sz="1800" b="1" dirty="0">
                <a:solidFill>
                  <a:srgbClr val="0E9C99"/>
                </a:solidFill>
                <a:latin typeface="Arial" pitchFamily="34" charset="0"/>
                <a:ea typeface="Arial" pitchFamily="34" charset="-122"/>
                <a:cs typeface="Arial" pitchFamily="34" charset="-120"/>
              </a:rPr>
              <a:t>DeepSeek </a:t>
            </a:r>
            <a:pPr algn="l" indent="0" marL="0">
              <a:lnSpc>
                <a:spcPct val="140000"/>
              </a:lnSpc>
              <a:buNone/>
            </a:pPr>
            <a:r>
              <a:rPr lang="en-US" sz="1800" dirty="0">
                <a:solidFill>
                  <a:srgbClr val="33353B"/>
                </a:solidFill>
                <a:latin typeface="Arial" pitchFamily="34" charset="0"/>
                <a:ea typeface="Arial" pitchFamily="34" charset="-122"/>
                <a:cs typeface="Arial" pitchFamily="34" charset="-120"/>
              </a:rPr>
              <a:t>: borderline — not significant on Winogender (favours H₀) → benchmark-dependent.</a:t>
            </a:r>
            <a:endParaRPr lang="en-US" sz="1800" dirty="0"/>
          </a:p>
        </p:txBody>
      </p:sp>
      <p:sp>
        <p:nvSpPr>
          <p:cNvPr id="42" name="Text 40"/>
          <p:cNvSpPr/>
          <p:nvPr/>
        </p:nvSpPr>
        <p:spPr>
          <a:xfrm>
            <a:off x="9719072" y="3670474"/>
            <a:ext cx="8461891" cy="333375"/>
          </a:xfrm>
          <a:prstGeom prst="rect">
            <a:avLst/>
          </a:prstGeom>
          <a:noFill/>
          <a:ln/>
        </p:spPr>
        <p:txBody>
          <a:bodyPr wrap="square" lIns="25400" tIns="25400" rIns="25400" bIns="25400" rtlCol="0" anchor="t">
            <a:normAutofit/>
          </a:bodyPr>
          <a:lstStyle/>
          <a:p>
            <a:pPr algn="l" indent="0" marL="0">
              <a:buNone/>
            </a:pPr>
            <a:r>
              <a:rPr lang="en-US" sz="1800" spc="150" kern="0" dirty="0">
                <a:solidFill>
                  <a:srgbClr val="2E3F66"/>
                </a:solidFill>
                <a:latin typeface="Courier New" pitchFamily="34" charset="0"/>
                <a:ea typeface="Courier New" pitchFamily="34" charset="-122"/>
                <a:cs typeface="Courier New" pitchFamily="34" charset="-120"/>
              </a:rPr>
              <a:t>FOUR CROSS-CUTTING FINDINGS</a:t>
            </a:r>
            <a:endParaRPr lang="en-US" sz="1800" dirty="0"/>
          </a:p>
        </p:txBody>
      </p:sp>
      <p:sp>
        <p:nvSpPr>
          <p:cNvPr id="43" name="Shape 41"/>
          <p:cNvSpPr/>
          <p:nvPr/>
        </p:nvSpPr>
        <p:spPr>
          <a:xfrm>
            <a:off x="9719072" y="4080049"/>
            <a:ext cx="7692628" cy="969615"/>
          </a:xfrm>
          <a:prstGeom prst="roundRect">
            <a:avLst>
              <a:gd name="adj" fmla="val 9823"/>
            </a:avLst>
          </a:prstGeom>
          <a:solidFill>
            <a:srgbClr val="FBFAF6"/>
          </a:solidFill>
          <a:ln w="14288">
            <a:solidFill>
              <a:srgbClr val="DAD5C7"/>
            </a:solidFill>
            <a:prstDash val="solid"/>
          </a:ln>
        </p:spPr>
      </p:sp>
      <p:sp>
        <p:nvSpPr>
          <p:cNvPr id="44" name="Text 42"/>
          <p:cNvSpPr/>
          <p:nvPr/>
        </p:nvSpPr>
        <p:spPr>
          <a:xfrm>
            <a:off x="9942909" y="4246736"/>
            <a:ext cx="259110" cy="342900"/>
          </a:xfrm>
          <a:prstGeom prst="rect">
            <a:avLst/>
          </a:prstGeom>
          <a:noFill/>
          <a:ln/>
        </p:spPr>
        <p:txBody>
          <a:bodyPr wrap="square" lIns="25400" tIns="25400" rIns="25400" bIns="25400" rtlCol="0" anchor="t">
            <a:normAutofit/>
          </a:bodyPr>
          <a:lstStyle/>
          <a:p>
            <a:pPr algn="l" indent="0" marL="0">
              <a:lnSpc>
                <a:spcPct val="100000"/>
              </a:lnSpc>
              <a:buNone/>
            </a:pPr>
            <a:r>
              <a:rPr lang="en-US" sz="2400" dirty="0">
                <a:solidFill>
                  <a:srgbClr val="E15D48"/>
                </a:solidFill>
                <a:latin typeface="Georgia" pitchFamily="34" charset="0"/>
                <a:ea typeface="Georgia" pitchFamily="34" charset="-122"/>
                <a:cs typeface="Georgia" pitchFamily="34" charset="-120"/>
              </a:rPr>
              <a:t>1</a:t>
            </a:r>
            <a:endParaRPr lang="en-US" sz="2400" dirty="0"/>
          </a:p>
        </p:txBody>
      </p:sp>
      <p:sp>
        <p:nvSpPr>
          <p:cNvPr id="45" name="Text 43"/>
          <p:cNvSpPr/>
          <p:nvPr/>
        </p:nvSpPr>
        <p:spPr>
          <a:xfrm>
            <a:off x="10278219" y="4246736"/>
            <a:ext cx="7116933" cy="674340"/>
          </a:xfrm>
          <a:prstGeom prst="rect">
            <a:avLst/>
          </a:prstGeom>
          <a:noFill/>
          <a:ln/>
        </p:spPr>
        <p:txBody>
          <a:bodyPr wrap="square" lIns="25400" tIns="25400" rIns="25400" bIns="25400" rtlCol="0" anchor="t">
            <a:normAutofit/>
          </a:bodyPr>
          <a:lstStyle/>
          <a:p>
            <a:pPr algn="l" indent="0" marL="0">
              <a:lnSpc>
                <a:spcPct val="135000"/>
              </a:lnSpc>
              <a:buNone/>
            </a:pPr>
            <a:r>
              <a:rPr lang="en-US" sz="1800" b="1" dirty="0">
                <a:solidFill>
                  <a:srgbClr val="191A1D"/>
                </a:solidFill>
                <a:latin typeface="Arial" pitchFamily="34" charset="0"/>
                <a:ea typeface="Arial" pitchFamily="34" charset="-122"/>
                <a:cs typeface="Arial" pitchFamily="34" charset="-120"/>
              </a:rPr>
              <a:t>Model drift is directional </a:t>
            </a:r>
            <a:pPr algn="l" indent="0" marL="0">
              <a:lnSpc>
                <a:spcPct val="135000"/>
              </a:lnSpc>
              <a:buNone/>
            </a:pPr>
            <a:r>
              <a:rPr lang="en-US" sz="1800" dirty="0">
                <a:solidFill>
                  <a:srgbClr val="191A1D"/>
                </a:solidFill>
                <a:latin typeface="Arial" pitchFamily="34" charset="0"/>
                <a:ea typeface="Arial" pitchFamily="34" charset="-122"/>
                <a:cs typeface="Arial" pitchFamily="34" charset="-120"/>
              </a:rPr>
              <a:t>— ChatGPT became </a:t>
            </a:r>
            <a:pPr algn="l" indent="0" marL="0">
              <a:lnSpc>
                <a:spcPct val="135000"/>
              </a:lnSpc>
              <a:buNone/>
            </a:pPr>
            <a:r>
              <a:rPr lang="en-US" sz="1800" i="1" dirty="0">
                <a:solidFill>
                  <a:srgbClr val="191A1D"/>
                </a:solidFill>
                <a:latin typeface="Arial" pitchFamily="34" charset="0"/>
                <a:ea typeface="Arial" pitchFamily="34" charset="-122"/>
                <a:cs typeface="Arial" pitchFamily="34" charset="-120"/>
              </a:rPr>
              <a:t>more </a:t>
            </a:r>
            <a:pPr algn="l" indent="0" marL="0">
              <a:lnSpc>
                <a:spcPct val="135000"/>
              </a:lnSpc>
              <a:buNone/>
            </a:pPr>
            <a:r>
              <a:rPr lang="en-US" sz="1800" dirty="0">
                <a:solidFill>
                  <a:srgbClr val="191A1D"/>
                </a:solidFill>
                <a:latin typeface="Arial" pitchFamily="34" charset="0"/>
                <a:ea typeface="Arial" pitchFamily="34" charset="-122"/>
                <a:cs typeface="Arial" pitchFamily="34" charset="-120"/>
              </a:rPr>
              <a:t>stereotypical, DeepSeek </a:t>
            </a:r>
            <a:pPr algn="l" indent="0" marL="0">
              <a:lnSpc>
                <a:spcPct val="135000"/>
              </a:lnSpc>
              <a:buNone/>
            </a:pPr>
            <a:r>
              <a:rPr lang="en-US" sz="1800" i="1" dirty="0">
                <a:solidFill>
                  <a:srgbClr val="191A1D"/>
                </a:solidFill>
                <a:latin typeface="Arial" pitchFamily="34" charset="0"/>
                <a:ea typeface="Arial" pitchFamily="34" charset="-122"/>
                <a:cs typeface="Arial" pitchFamily="34" charset="-120"/>
              </a:rPr>
              <a:t>less</a:t>
            </a:r>
            <a:pPr algn="l" indent="0" marL="0">
              <a:lnSpc>
                <a:spcPct val="135000"/>
              </a:lnSpc>
              <a:buNone/>
            </a:pPr>
            <a:r>
              <a:rPr lang="en-US" sz="1800" dirty="0">
                <a:solidFill>
                  <a:srgbClr val="191A1D"/>
                </a:solidFill>
                <a:latin typeface="Arial" pitchFamily="34" charset="0"/>
                <a:ea typeface="Arial" pitchFamily="34" charset="-122"/>
                <a:cs typeface="Arial" pitchFamily="34" charset="-120"/>
              </a:rPr>
              <a:t>, since 2024.</a:t>
            </a:r>
            <a:endParaRPr lang="en-US" sz="1800" dirty="0"/>
          </a:p>
        </p:txBody>
      </p:sp>
      <p:sp>
        <p:nvSpPr>
          <p:cNvPr id="46" name="Shape 44"/>
          <p:cNvSpPr/>
          <p:nvPr/>
        </p:nvSpPr>
        <p:spPr>
          <a:xfrm>
            <a:off x="9719072" y="5163964"/>
            <a:ext cx="7692628" cy="651495"/>
          </a:xfrm>
          <a:prstGeom prst="roundRect">
            <a:avLst>
              <a:gd name="adj" fmla="val 14620"/>
            </a:avLst>
          </a:prstGeom>
          <a:solidFill>
            <a:srgbClr val="FBFAF6"/>
          </a:solidFill>
          <a:ln w="14288">
            <a:solidFill>
              <a:srgbClr val="DAD5C7"/>
            </a:solidFill>
            <a:prstDash val="solid"/>
          </a:ln>
        </p:spPr>
      </p:sp>
      <p:sp>
        <p:nvSpPr>
          <p:cNvPr id="47" name="Text 45"/>
          <p:cNvSpPr/>
          <p:nvPr/>
        </p:nvSpPr>
        <p:spPr>
          <a:xfrm>
            <a:off x="9942909" y="5330651"/>
            <a:ext cx="259110" cy="342900"/>
          </a:xfrm>
          <a:prstGeom prst="rect">
            <a:avLst/>
          </a:prstGeom>
          <a:noFill/>
          <a:ln/>
        </p:spPr>
        <p:txBody>
          <a:bodyPr wrap="square" lIns="25400" tIns="25400" rIns="25400" bIns="25400" rtlCol="0" anchor="t">
            <a:normAutofit/>
          </a:bodyPr>
          <a:lstStyle/>
          <a:p>
            <a:pPr algn="l" indent="0" marL="0">
              <a:lnSpc>
                <a:spcPct val="100000"/>
              </a:lnSpc>
              <a:buNone/>
            </a:pPr>
            <a:r>
              <a:rPr lang="en-US" sz="2400" dirty="0">
                <a:solidFill>
                  <a:srgbClr val="E15D48"/>
                </a:solidFill>
                <a:latin typeface="Georgia" pitchFamily="34" charset="0"/>
                <a:ea typeface="Georgia" pitchFamily="34" charset="-122"/>
                <a:cs typeface="Georgia" pitchFamily="34" charset="-120"/>
              </a:rPr>
              <a:t>2</a:t>
            </a:r>
            <a:endParaRPr lang="en-US" sz="2400" dirty="0"/>
          </a:p>
        </p:txBody>
      </p:sp>
      <p:sp>
        <p:nvSpPr>
          <p:cNvPr id="48" name="Text 46"/>
          <p:cNvSpPr/>
          <p:nvPr/>
        </p:nvSpPr>
        <p:spPr>
          <a:xfrm>
            <a:off x="10278219" y="5330651"/>
            <a:ext cx="6329065" cy="356220"/>
          </a:xfrm>
          <a:prstGeom prst="rect">
            <a:avLst/>
          </a:prstGeom>
          <a:noFill/>
          <a:ln/>
        </p:spPr>
        <p:txBody>
          <a:bodyPr wrap="square" lIns="25400" tIns="25400" rIns="25400" bIns="25400" rtlCol="0" anchor="t">
            <a:normAutofit/>
          </a:bodyPr>
          <a:lstStyle/>
          <a:p>
            <a:pPr algn="l" indent="0" marL="0">
              <a:lnSpc>
                <a:spcPct val="135000"/>
              </a:lnSpc>
              <a:buNone/>
            </a:pPr>
            <a:r>
              <a:rPr lang="en-US" sz="1800" b="1" dirty="0">
                <a:solidFill>
                  <a:srgbClr val="191A1D"/>
                </a:solidFill>
                <a:latin typeface="Arial" pitchFamily="34" charset="0"/>
                <a:ea typeface="Arial" pitchFamily="34" charset="-122"/>
                <a:cs typeface="Arial" pitchFamily="34" charset="-120"/>
              </a:rPr>
              <a:t>Language-dependent for DeepSeek</a:t>
            </a:r>
            <a:pPr algn="l" indent="0" marL="0">
              <a:lnSpc>
                <a:spcPct val="135000"/>
              </a:lnSpc>
              <a:buNone/>
            </a:pPr>
            <a:r>
              <a:rPr lang="en-US" sz="1800" dirty="0">
                <a:solidFill>
                  <a:srgbClr val="191A1D"/>
                </a:solidFill>
                <a:latin typeface="Arial" pitchFamily="34" charset="0"/>
                <a:ea typeface="Arial" pitchFamily="34" charset="-122"/>
                <a:cs typeface="Arial" pitchFamily="34" charset="-120"/>
              </a:rPr>
              <a:t>, robust for ChatGPT.</a:t>
            </a:r>
            <a:endParaRPr lang="en-US" sz="1800" dirty="0"/>
          </a:p>
        </p:txBody>
      </p:sp>
      <p:sp>
        <p:nvSpPr>
          <p:cNvPr id="49" name="Shape 47"/>
          <p:cNvSpPr/>
          <p:nvPr/>
        </p:nvSpPr>
        <p:spPr>
          <a:xfrm>
            <a:off x="9719072" y="5929759"/>
            <a:ext cx="7692628" cy="960090"/>
          </a:xfrm>
          <a:prstGeom prst="roundRect">
            <a:avLst>
              <a:gd name="adj" fmla="val 9921"/>
            </a:avLst>
          </a:prstGeom>
          <a:solidFill>
            <a:srgbClr val="FBFAF6"/>
          </a:solidFill>
          <a:ln w="14288">
            <a:solidFill>
              <a:srgbClr val="DAD5C7"/>
            </a:solidFill>
            <a:prstDash val="solid"/>
          </a:ln>
        </p:spPr>
      </p:sp>
      <p:sp>
        <p:nvSpPr>
          <p:cNvPr id="50" name="Text 48"/>
          <p:cNvSpPr/>
          <p:nvPr/>
        </p:nvSpPr>
        <p:spPr>
          <a:xfrm>
            <a:off x="9942909" y="6096446"/>
            <a:ext cx="259110" cy="342900"/>
          </a:xfrm>
          <a:prstGeom prst="rect">
            <a:avLst/>
          </a:prstGeom>
          <a:noFill/>
          <a:ln/>
        </p:spPr>
        <p:txBody>
          <a:bodyPr wrap="square" lIns="25400" tIns="25400" rIns="25400" bIns="25400" rtlCol="0" anchor="t">
            <a:normAutofit/>
          </a:bodyPr>
          <a:lstStyle/>
          <a:p>
            <a:pPr algn="l" indent="0" marL="0">
              <a:lnSpc>
                <a:spcPct val="100000"/>
              </a:lnSpc>
              <a:buNone/>
            </a:pPr>
            <a:r>
              <a:rPr lang="en-US" sz="2400" dirty="0">
                <a:solidFill>
                  <a:srgbClr val="E15D48"/>
                </a:solidFill>
                <a:latin typeface="Georgia" pitchFamily="34" charset="0"/>
                <a:ea typeface="Georgia" pitchFamily="34" charset="-122"/>
                <a:cs typeface="Georgia" pitchFamily="34" charset="-120"/>
              </a:rPr>
              <a:t>3</a:t>
            </a:r>
            <a:endParaRPr lang="en-US" sz="2400" dirty="0"/>
          </a:p>
        </p:txBody>
      </p:sp>
      <p:sp>
        <p:nvSpPr>
          <p:cNvPr id="51" name="Text 49"/>
          <p:cNvSpPr/>
          <p:nvPr/>
        </p:nvSpPr>
        <p:spPr>
          <a:xfrm>
            <a:off x="10278219" y="6096446"/>
            <a:ext cx="7116933" cy="664815"/>
          </a:xfrm>
          <a:prstGeom prst="rect">
            <a:avLst/>
          </a:prstGeom>
          <a:noFill/>
          <a:ln/>
        </p:spPr>
        <p:txBody>
          <a:bodyPr wrap="square" lIns="25400" tIns="25400" rIns="25400" bIns="25400" rtlCol="0" anchor="t">
            <a:normAutofit/>
          </a:bodyPr>
          <a:lstStyle/>
          <a:p>
            <a:pPr algn="l" indent="0" marL="0">
              <a:lnSpc>
                <a:spcPct val="135000"/>
              </a:lnSpc>
              <a:buNone/>
            </a:pPr>
            <a:r>
              <a:rPr lang="en-US" sz="1800" b="1" dirty="0">
                <a:solidFill>
                  <a:srgbClr val="191A1D"/>
                </a:solidFill>
                <a:latin typeface="Arial" pitchFamily="34" charset="0"/>
                <a:ea typeface="Arial" pitchFamily="34" charset="-122"/>
                <a:cs typeface="Arial" pitchFamily="34" charset="-120"/>
              </a:rPr>
              <a:t>Task format changes apparent direction </a:t>
            </a:r>
            <a:pPr algn="l" indent="0" marL="0">
              <a:lnSpc>
                <a:spcPct val="135000"/>
              </a:lnSpc>
              <a:buNone/>
            </a:pPr>
            <a:r>
              <a:rPr lang="en-US" sz="1800" dirty="0">
                <a:solidFill>
                  <a:srgbClr val="191A1D"/>
                </a:solidFill>
                <a:latin typeface="Arial" pitchFamily="34" charset="0"/>
                <a:ea typeface="Arial" pitchFamily="34" charset="-122"/>
                <a:cs typeface="Arial" pitchFamily="34" charset="-120"/>
              </a:rPr>
              <a:t>— CrowS endorse vs BBQ avoid.</a:t>
            </a:r>
            <a:endParaRPr lang="en-US" sz="1800" dirty="0"/>
          </a:p>
        </p:txBody>
      </p:sp>
      <p:sp>
        <p:nvSpPr>
          <p:cNvPr id="52" name="Shape 50"/>
          <p:cNvSpPr/>
          <p:nvPr/>
        </p:nvSpPr>
        <p:spPr>
          <a:xfrm>
            <a:off x="9719072" y="7004149"/>
            <a:ext cx="7692628" cy="960090"/>
          </a:xfrm>
          <a:prstGeom prst="roundRect">
            <a:avLst>
              <a:gd name="adj" fmla="val 9921"/>
            </a:avLst>
          </a:prstGeom>
          <a:solidFill>
            <a:srgbClr val="FBFAF6"/>
          </a:solidFill>
          <a:ln w="14288">
            <a:solidFill>
              <a:srgbClr val="DAD5C7"/>
            </a:solidFill>
            <a:prstDash val="solid"/>
          </a:ln>
        </p:spPr>
      </p:sp>
      <p:sp>
        <p:nvSpPr>
          <p:cNvPr id="53" name="Text 51"/>
          <p:cNvSpPr/>
          <p:nvPr/>
        </p:nvSpPr>
        <p:spPr>
          <a:xfrm>
            <a:off x="9942909" y="7170837"/>
            <a:ext cx="259110" cy="342900"/>
          </a:xfrm>
          <a:prstGeom prst="rect">
            <a:avLst/>
          </a:prstGeom>
          <a:noFill/>
          <a:ln/>
        </p:spPr>
        <p:txBody>
          <a:bodyPr wrap="square" lIns="25400" tIns="25400" rIns="25400" bIns="25400" rtlCol="0" anchor="t">
            <a:normAutofit/>
          </a:bodyPr>
          <a:lstStyle/>
          <a:p>
            <a:pPr algn="l" indent="0" marL="0">
              <a:lnSpc>
                <a:spcPct val="100000"/>
              </a:lnSpc>
              <a:buNone/>
            </a:pPr>
            <a:r>
              <a:rPr lang="en-US" sz="2400" dirty="0">
                <a:solidFill>
                  <a:srgbClr val="E15D48"/>
                </a:solidFill>
                <a:latin typeface="Georgia" pitchFamily="34" charset="0"/>
                <a:ea typeface="Georgia" pitchFamily="34" charset="-122"/>
                <a:cs typeface="Georgia" pitchFamily="34" charset="-120"/>
              </a:rPr>
              <a:t>4</a:t>
            </a:r>
            <a:endParaRPr lang="en-US" sz="2400" dirty="0"/>
          </a:p>
        </p:txBody>
      </p:sp>
      <p:sp>
        <p:nvSpPr>
          <p:cNvPr id="54" name="Text 52"/>
          <p:cNvSpPr/>
          <p:nvPr/>
        </p:nvSpPr>
        <p:spPr>
          <a:xfrm>
            <a:off x="10278219" y="7170837"/>
            <a:ext cx="7116933" cy="664815"/>
          </a:xfrm>
          <a:prstGeom prst="rect">
            <a:avLst/>
          </a:prstGeom>
          <a:noFill/>
          <a:ln/>
        </p:spPr>
        <p:txBody>
          <a:bodyPr wrap="square" lIns="25400" tIns="25400" rIns="25400" bIns="25400" rtlCol="0" anchor="t">
            <a:normAutofit/>
          </a:bodyPr>
          <a:lstStyle/>
          <a:p>
            <a:pPr algn="l" indent="0" marL="0">
              <a:lnSpc>
                <a:spcPct val="135000"/>
              </a:lnSpc>
              <a:buNone/>
            </a:pPr>
            <a:r>
              <a:rPr lang="en-US" sz="1800" b="1" dirty="0">
                <a:solidFill>
                  <a:srgbClr val="191A1D"/>
                </a:solidFill>
                <a:latin typeface="Arial" pitchFamily="34" charset="0"/>
                <a:ea typeface="Arial" pitchFamily="34" charset="-122"/>
                <a:cs typeface="Arial" pitchFamily="34" charset="-120"/>
              </a:rPr>
              <a:t>The Bayesian test is well-behaved </a:t>
            </a:r>
            <a:pPr algn="l" indent="0" marL="0">
              <a:lnSpc>
                <a:spcPct val="135000"/>
              </a:lnSpc>
              <a:buNone/>
            </a:pPr>
            <a:r>
              <a:rPr lang="en-US" sz="1800" dirty="0">
                <a:solidFill>
                  <a:srgbClr val="191A1D"/>
                </a:solidFill>
                <a:latin typeface="Arial" pitchFamily="34" charset="0"/>
                <a:ea typeface="Arial" pitchFamily="34" charset="-122"/>
                <a:cs typeface="Arial" pitchFamily="34" charset="-120"/>
              </a:rPr>
              <a:t>— robust to temperature, strengthens with n.</a:t>
            </a:r>
            <a:endParaRPr lang="en-US" sz="1800" dirty="0"/>
          </a:p>
        </p:txBody>
      </p:sp>
      <p:sp>
        <p:nvSpPr>
          <p:cNvPr id="55" name="Text 53"/>
          <p:cNvSpPr/>
          <p:nvPr/>
        </p:nvSpPr>
        <p:spPr>
          <a:xfrm>
            <a:off x="876300" y="9572625"/>
            <a:ext cx="8551768"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8A8778"/>
                </a:solidFill>
                <a:latin typeface="Courier New" pitchFamily="34" charset="0"/>
                <a:ea typeface="Courier New" pitchFamily="34" charset="-122"/>
                <a:cs typeface="Courier New" pitchFamily="34" charset="-120"/>
              </a:rPr>
              <a:t>Bayesian Bias Detection · Statistics for Data Science</a:t>
            </a:r>
            <a:endParaRPr lang="en-US" sz="1800" dirty="0"/>
          </a:p>
        </p:txBody>
      </p:sp>
      <p:sp>
        <p:nvSpPr>
          <p:cNvPr id="56" name="Text 54"/>
          <p:cNvSpPr/>
          <p:nvPr/>
        </p:nvSpPr>
        <p:spPr>
          <a:xfrm>
            <a:off x="16384860" y="9572625"/>
            <a:ext cx="1103040"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8A8778"/>
                </a:solidFill>
                <a:latin typeface="Courier New" pitchFamily="34" charset="0"/>
                <a:ea typeface="Courier New" pitchFamily="34" charset="-122"/>
                <a:cs typeface="Courier New" pitchFamily="34" charset="-120"/>
              </a:rPr>
              <a:t>14 / 15</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0E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1B1C20"/>
          </a:solidFill>
          <a:ln/>
        </p:spPr>
      </p:sp>
      <p:sp>
        <p:nvSpPr>
          <p:cNvPr id="3" name="Text 1"/>
          <p:cNvSpPr/>
          <p:nvPr/>
        </p:nvSpPr>
        <p:spPr>
          <a:xfrm>
            <a:off x="952500" y="838200"/>
            <a:ext cx="8367921" cy="333375"/>
          </a:xfrm>
          <a:prstGeom prst="rect">
            <a:avLst/>
          </a:prstGeom>
          <a:noFill/>
          <a:ln/>
        </p:spPr>
        <p:txBody>
          <a:bodyPr wrap="square" lIns="25400" tIns="25400" rIns="25400" bIns="25400" rtlCol="0" anchor="t">
            <a:normAutofit/>
          </a:bodyPr>
          <a:lstStyle/>
          <a:p>
            <a:pPr algn="l" indent="0" marL="0">
              <a:buNone/>
            </a:pPr>
            <a:r>
              <a:rPr lang="en-US" sz="1800" spc="225" kern="0" dirty="0">
                <a:solidFill>
                  <a:srgbClr val="0EAAA6"/>
                </a:solidFill>
                <a:latin typeface="Courier New" pitchFamily="34" charset="0"/>
                <a:ea typeface="Courier New" pitchFamily="34" charset="-122"/>
                <a:cs typeface="Courier New" pitchFamily="34" charset="-120"/>
              </a:rPr>
              <a:t>CONCLUSIONS · 15</a:t>
            </a:r>
            <a:endParaRPr lang="en-US" sz="1800" dirty="0"/>
          </a:p>
        </p:txBody>
      </p:sp>
      <p:sp>
        <p:nvSpPr>
          <p:cNvPr id="4" name="Text 2"/>
          <p:cNvSpPr/>
          <p:nvPr/>
        </p:nvSpPr>
        <p:spPr>
          <a:xfrm>
            <a:off x="952500" y="1266825"/>
            <a:ext cx="8367921" cy="828675"/>
          </a:xfrm>
          <a:prstGeom prst="rect">
            <a:avLst/>
          </a:prstGeom>
          <a:noFill/>
          <a:ln/>
        </p:spPr>
        <p:txBody>
          <a:bodyPr wrap="square" lIns="25400" tIns="25400" rIns="25400" bIns="25400" rtlCol="0" anchor="t">
            <a:normAutofit/>
          </a:bodyPr>
          <a:lstStyle/>
          <a:p>
            <a:pPr algn="l" indent="0" marL="0">
              <a:buNone/>
            </a:pPr>
            <a:r>
              <a:rPr lang="en-US" sz="4800" b="1" dirty="0">
                <a:solidFill>
                  <a:srgbClr val="F4F1EA"/>
                </a:solidFill>
                <a:latin typeface="Georgia" pitchFamily="34" charset="0"/>
                <a:ea typeface="Georgia" pitchFamily="34" charset="-122"/>
                <a:cs typeface="Georgia" pitchFamily="34" charset="-120"/>
              </a:rPr>
              <a:t>Conclusions &amp; Takeaways</a:t>
            </a:r>
            <a:endParaRPr lang="en-US" sz="4800" dirty="0"/>
          </a:p>
        </p:txBody>
      </p:sp>
      <p:sp>
        <p:nvSpPr>
          <p:cNvPr id="5" name="Shape 3"/>
          <p:cNvSpPr/>
          <p:nvPr/>
        </p:nvSpPr>
        <p:spPr>
          <a:xfrm>
            <a:off x="16173450" y="990600"/>
            <a:ext cx="533400" cy="76200"/>
          </a:xfrm>
          <a:prstGeom prst="roundRect">
            <a:avLst>
              <a:gd name="adj" fmla="val 50000"/>
            </a:avLst>
          </a:prstGeom>
          <a:solidFill>
            <a:srgbClr val="E15D48"/>
          </a:solidFill>
          <a:ln/>
        </p:spPr>
      </p:sp>
      <p:sp>
        <p:nvSpPr>
          <p:cNvPr id="6" name="Shape 4"/>
          <p:cNvSpPr/>
          <p:nvPr/>
        </p:nvSpPr>
        <p:spPr>
          <a:xfrm>
            <a:off x="16802100" y="990600"/>
            <a:ext cx="533400" cy="76200"/>
          </a:xfrm>
          <a:prstGeom prst="roundRect">
            <a:avLst>
              <a:gd name="adj" fmla="val 50000"/>
            </a:avLst>
          </a:prstGeom>
          <a:solidFill>
            <a:srgbClr val="0E9C99"/>
          </a:solidFill>
          <a:ln/>
        </p:spPr>
      </p:sp>
      <p:sp>
        <p:nvSpPr>
          <p:cNvPr id="7" name="Text 5"/>
          <p:cNvSpPr/>
          <p:nvPr/>
        </p:nvSpPr>
        <p:spPr>
          <a:xfrm>
            <a:off x="952500" y="4389239"/>
            <a:ext cx="35056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0EAAA6"/>
                </a:solidFill>
                <a:latin typeface="Courier New" pitchFamily="34" charset="0"/>
                <a:ea typeface="Courier New" pitchFamily="34" charset="-122"/>
                <a:cs typeface="Courier New" pitchFamily="34" charset="-120"/>
              </a:rPr>
              <a:t>01</a:t>
            </a:r>
            <a:endParaRPr lang="en-US" sz="1800" dirty="0"/>
          </a:p>
        </p:txBody>
      </p:sp>
      <p:sp>
        <p:nvSpPr>
          <p:cNvPr id="8" name="Text 6"/>
          <p:cNvSpPr/>
          <p:nvPr/>
        </p:nvSpPr>
        <p:spPr>
          <a:xfrm>
            <a:off x="1398315" y="4341614"/>
            <a:ext cx="7703355" cy="816173"/>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F4F1EA"/>
                </a:solidFill>
                <a:latin typeface="Arial" pitchFamily="34" charset="0"/>
                <a:ea typeface="Arial" pitchFamily="34" charset="-122"/>
                <a:cs typeface="Arial" pitchFamily="34" charset="-120"/>
              </a:rPr>
              <a:t>Reproduced all </a:t>
            </a:r>
            <a:pPr algn="l" indent="0" marL="0">
              <a:lnSpc>
                <a:spcPct val="145000"/>
              </a:lnSpc>
              <a:buNone/>
            </a:pPr>
            <a:r>
              <a:rPr lang="en-US" sz="2100" b="1" dirty="0">
                <a:solidFill>
                  <a:srgbClr val="F4F1EA"/>
                </a:solidFill>
                <a:latin typeface="Arial" pitchFamily="34" charset="0"/>
                <a:ea typeface="Arial" pitchFamily="34" charset="-122"/>
                <a:cs typeface="Arial" pitchFamily="34" charset="-120"/>
              </a:rPr>
              <a:t>5 core experiments </a:t>
            </a:r>
            <a:pPr algn="l" indent="0" marL="0">
              <a:lnSpc>
                <a:spcPct val="145000"/>
              </a:lnSpc>
              <a:buNone/>
            </a:pPr>
            <a:r>
              <a:rPr lang="en-US" sz="2100" dirty="0">
                <a:solidFill>
                  <a:srgbClr val="F4F1EA"/>
                </a:solidFill>
                <a:latin typeface="Arial" pitchFamily="34" charset="0"/>
                <a:ea typeface="Arial" pitchFamily="34" charset="-122"/>
                <a:cs typeface="Arial" pitchFamily="34" charset="-120"/>
              </a:rPr>
              <a:t>(Tables 3, 4, 5, 6 + Fig 2, 3) on live, current models.</a:t>
            </a:r>
            <a:endParaRPr lang="en-US" sz="2100" dirty="0"/>
          </a:p>
        </p:txBody>
      </p:sp>
      <p:sp>
        <p:nvSpPr>
          <p:cNvPr id="9" name="Text 7"/>
          <p:cNvSpPr/>
          <p:nvPr/>
        </p:nvSpPr>
        <p:spPr>
          <a:xfrm>
            <a:off x="9410700" y="4389239"/>
            <a:ext cx="35056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0EAAA6"/>
                </a:solidFill>
                <a:latin typeface="Courier New" pitchFamily="34" charset="0"/>
                <a:ea typeface="Courier New" pitchFamily="34" charset="-122"/>
                <a:cs typeface="Courier New" pitchFamily="34" charset="-120"/>
              </a:rPr>
              <a:t>02</a:t>
            </a:r>
            <a:endParaRPr lang="en-US" sz="1800" dirty="0"/>
          </a:p>
        </p:txBody>
      </p:sp>
      <p:sp>
        <p:nvSpPr>
          <p:cNvPr id="10" name="Text 8"/>
          <p:cNvSpPr/>
          <p:nvPr/>
        </p:nvSpPr>
        <p:spPr>
          <a:xfrm>
            <a:off x="9856515" y="4341614"/>
            <a:ext cx="7703355" cy="816173"/>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F4F1EA"/>
                </a:solidFill>
                <a:latin typeface="Arial" pitchFamily="34" charset="0"/>
                <a:ea typeface="Arial" pitchFamily="34" charset="-122"/>
                <a:cs typeface="Arial" pitchFamily="34" charset="-120"/>
              </a:rPr>
              <a:t>Statistics validated offline against the paper's own fixtures → divergences are genuine </a:t>
            </a:r>
            <a:pPr algn="l" indent="0" marL="0">
              <a:lnSpc>
                <a:spcPct val="145000"/>
              </a:lnSpc>
              <a:buNone/>
            </a:pPr>
            <a:r>
              <a:rPr lang="en-US" sz="2100" b="1" dirty="0">
                <a:solidFill>
                  <a:srgbClr val="E8927F"/>
                </a:solidFill>
                <a:latin typeface="Arial" pitchFamily="34" charset="0"/>
                <a:ea typeface="Arial" pitchFamily="34" charset="-122"/>
                <a:cs typeface="Arial" pitchFamily="34" charset="-120"/>
              </a:rPr>
              <a:t>model drift</a:t>
            </a:r>
            <a:pPr algn="l" indent="0" marL="0">
              <a:lnSpc>
                <a:spcPct val="145000"/>
              </a:lnSpc>
              <a:buNone/>
            </a:pPr>
            <a:r>
              <a:rPr lang="en-US" sz="2100" dirty="0">
                <a:solidFill>
                  <a:srgbClr val="F4F1EA"/>
                </a:solidFill>
                <a:latin typeface="Arial" pitchFamily="34" charset="0"/>
                <a:ea typeface="Arial" pitchFamily="34" charset="-122"/>
                <a:cs typeface="Arial" pitchFamily="34" charset="-120"/>
              </a:rPr>
              <a:t>, not error.</a:t>
            </a:r>
            <a:endParaRPr lang="en-US" sz="2100" dirty="0"/>
          </a:p>
        </p:txBody>
      </p:sp>
      <p:sp>
        <p:nvSpPr>
          <p:cNvPr id="11" name="Text 9"/>
          <p:cNvSpPr/>
          <p:nvPr/>
        </p:nvSpPr>
        <p:spPr>
          <a:xfrm>
            <a:off x="952500" y="5491163"/>
            <a:ext cx="35056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0EAAA6"/>
                </a:solidFill>
                <a:latin typeface="Courier New" pitchFamily="34" charset="0"/>
                <a:ea typeface="Courier New" pitchFamily="34" charset="-122"/>
                <a:cs typeface="Courier New" pitchFamily="34" charset="-120"/>
              </a:rPr>
              <a:t>03</a:t>
            </a:r>
            <a:endParaRPr lang="en-US" sz="1800" dirty="0"/>
          </a:p>
        </p:txBody>
      </p:sp>
      <p:sp>
        <p:nvSpPr>
          <p:cNvPr id="12" name="Text 10"/>
          <p:cNvSpPr/>
          <p:nvPr/>
        </p:nvSpPr>
        <p:spPr>
          <a:xfrm>
            <a:off x="1398315" y="5443538"/>
            <a:ext cx="7703355" cy="816173"/>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F4F1EA"/>
                </a:solidFill>
                <a:latin typeface="Arial" pitchFamily="34" charset="0"/>
                <a:ea typeface="Arial" pitchFamily="34" charset="-122"/>
                <a:cs typeface="Arial" pitchFamily="34" charset="-120"/>
              </a:rPr>
              <a:t>Bayes factors quantify evidence </a:t>
            </a:r>
            <a:pPr algn="l" indent="0" marL="0">
              <a:lnSpc>
                <a:spcPct val="145000"/>
              </a:lnSpc>
              <a:buNone/>
            </a:pPr>
            <a:r>
              <a:rPr lang="en-US" sz="2100" b="1" dirty="0">
                <a:solidFill>
                  <a:srgbClr val="F4F1EA"/>
                </a:solidFill>
                <a:latin typeface="Arial" pitchFamily="34" charset="0"/>
                <a:ea typeface="Arial" pitchFamily="34" charset="-122"/>
                <a:cs typeface="Arial" pitchFamily="34" charset="-120"/>
              </a:rPr>
              <a:t>for and against </a:t>
            </a:r>
            <a:pPr algn="l" indent="0" marL="0">
              <a:lnSpc>
                <a:spcPct val="145000"/>
              </a:lnSpc>
              <a:buNone/>
            </a:pPr>
            <a:r>
              <a:rPr lang="en-US" sz="2100" dirty="0">
                <a:solidFill>
                  <a:srgbClr val="F4F1EA"/>
                </a:solidFill>
                <a:latin typeface="Arial" pitchFamily="34" charset="0"/>
                <a:ea typeface="Arial" pitchFamily="34" charset="-122"/>
                <a:cs typeface="Arial" pitchFamily="34" charset="-120"/>
              </a:rPr>
              <a:t>bias, robust to small n — an upgrade NLP fairness should adopt more widely.</a:t>
            </a:r>
            <a:endParaRPr lang="en-US" sz="2100" dirty="0"/>
          </a:p>
        </p:txBody>
      </p:sp>
      <p:sp>
        <p:nvSpPr>
          <p:cNvPr id="13" name="Text 11"/>
          <p:cNvSpPr/>
          <p:nvPr/>
        </p:nvSpPr>
        <p:spPr>
          <a:xfrm>
            <a:off x="9410700" y="5491163"/>
            <a:ext cx="35056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0EAAA6"/>
                </a:solidFill>
                <a:latin typeface="Courier New" pitchFamily="34" charset="0"/>
                <a:ea typeface="Courier New" pitchFamily="34" charset="-122"/>
                <a:cs typeface="Courier New" pitchFamily="34" charset="-120"/>
              </a:rPr>
              <a:t>04</a:t>
            </a:r>
            <a:endParaRPr lang="en-US" sz="1800" dirty="0"/>
          </a:p>
        </p:txBody>
      </p:sp>
      <p:sp>
        <p:nvSpPr>
          <p:cNvPr id="14" name="Text 12"/>
          <p:cNvSpPr/>
          <p:nvPr/>
        </p:nvSpPr>
        <p:spPr>
          <a:xfrm>
            <a:off x="9856515" y="5443538"/>
            <a:ext cx="7703355" cy="816173"/>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F4F1EA"/>
                </a:solidFill>
                <a:latin typeface="Arial" pitchFamily="34" charset="0"/>
                <a:ea typeface="Arial" pitchFamily="34" charset="-122"/>
                <a:cs typeface="Arial" pitchFamily="34" charset="-120"/>
              </a:rPr>
              <a:t>Practical implication: </a:t>
            </a:r>
            <a:pPr algn="l" indent="0" marL="0">
              <a:lnSpc>
                <a:spcPct val="145000"/>
              </a:lnSpc>
              <a:buNone/>
            </a:pPr>
            <a:r>
              <a:rPr lang="en-US" sz="2100" b="1" dirty="0">
                <a:solidFill>
                  <a:srgbClr val="F4F1EA"/>
                </a:solidFill>
                <a:latin typeface="Arial" pitchFamily="34" charset="0"/>
                <a:ea typeface="Arial" pitchFamily="34" charset="-122"/>
                <a:cs typeface="Arial" pitchFamily="34" charset="-120"/>
              </a:rPr>
              <a:t>LLM bias is not static </a:t>
            </a:r>
            <a:pPr algn="l" indent="0" marL="0">
              <a:lnSpc>
                <a:spcPct val="145000"/>
              </a:lnSpc>
              <a:buNone/>
            </a:pPr>
            <a:r>
              <a:rPr lang="en-US" sz="2100" dirty="0">
                <a:solidFill>
                  <a:srgbClr val="F4F1EA"/>
                </a:solidFill>
                <a:latin typeface="Arial" pitchFamily="34" charset="0"/>
                <a:ea typeface="Arial" pitchFamily="34" charset="-122"/>
                <a:cs typeface="Arial" pitchFamily="34" charset="-120"/>
              </a:rPr>
              <a:t>— periodic re-auditing matters as hosted models are silently updated.</a:t>
            </a:r>
            <a:endParaRPr lang="en-US" sz="2100" dirty="0"/>
          </a:p>
        </p:txBody>
      </p:sp>
      <p:sp>
        <p:nvSpPr>
          <p:cNvPr id="15" name="Shape 13"/>
          <p:cNvSpPr/>
          <p:nvPr/>
        </p:nvSpPr>
        <p:spPr>
          <a:xfrm>
            <a:off x="952500" y="8505825"/>
            <a:ext cx="16383000" cy="9525"/>
          </a:xfrm>
          <a:prstGeom prst="rect">
            <a:avLst/>
          </a:prstGeom>
          <a:solidFill>
            <a:srgbClr val="3A3B40"/>
          </a:solidFill>
          <a:ln/>
        </p:spPr>
      </p:sp>
      <p:sp>
        <p:nvSpPr>
          <p:cNvPr id="16" name="Text 14"/>
          <p:cNvSpPr/>
          <p:nvPr/>
        </p:nvSpPr>
        <p:spPr>
          <a:xfrm>
            <a:off x="952500" y="8763000"/>
            <a:ext cx="10301288"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C9C4B6"/>
                </a:solidFill>
                <a:latin typeface="Courier New" pitchFamily="34" charset="0"/>
                <a:ea typeface="Courier New" pitchFamily="34" charset="-122"/>
                <a:cs typeface="Courier New" pitchFamily="34" charset="-120"/>
              </a:rPr>
              <a:t>Limitations &amp; future work: </a:t>
            </a:r>
            <a:pPr algn="l" indent="0" marL="0">
              <a:lnSpc>
                <a:spcPct val="150000"/>
              </a:lnSpc>
              <a:buNone/>
            </a:pPr>
            <a:r>
              <a:rPr lang="en-US" sz="1800" dirty="0">
                <a:solidFill>
                  <a:srgbClr val="8A8778"/>
                </a:solidFill>
                <a:latin typeface="Arial" pitchFamily="34" charset="0"/>
                <a:ea typeface="Arial" pitchFamily="34" charset="-122"/>
                <a:cs typeface="Arial" pitchFamily="34" charset="-120"/>
              </a:rPr>
              <a:t>Llama-3.1 out of scope · BBQ 3-way resolver is our own design · only two languages tested.</a:t>
            </a:r>
            <a:endParaRPr lang="en-US" sz="1800" dirty="0"/>
          </a:p>
        </p:txBody>
      </p:sp>
      <p:sp>
        <p:nvSpPr>
          <p:cNvPr id="17" name="Text 15"/>
          <p:cNvSpPr/>
          <p:nvPr/>
        </p:nvSpPr>
        <p:spPr>
          <a:xfrm>
            <a:off x="14698191" y="9082088"/>
            <a:ext cx="2901040" cy="404813"/>
          </a:xfrm>
          <a:prstGeom prst="rect">
            <a:avLst/>
          </a:prstGeom>
          <a:noFill/>
          <a:ln/>
        </p:spPr>
        <p:txBody>
          <a:bodyPr wrap="square" lIns="25400" tIns="25400" rIns="25400" bIns="25400" rtlCol="0" anchor="t">
            <a:normAutofit/>
          </a:bodyPr>
          <a:lstStyle/>
          <a:p>
            <a:pPr algn="l" indent="0" marL="0">
              <a:buNone/>
            </a:pPr>
            <a:r>
              <a:rPr lang="en-US" sz="2550" i="1" dirty="0">
                <a:solidFill>
                  <a:srgbClr val="F4F1EA"/>
                </a:solidFill>
                <a:latin typeface="Georgia" pitchFamily="34" charset="0"/>
                <a:ea typeface="Georgia" pitchFamily="34" charset="-122"/>
                <a:cs typeface="Georgia" pitchFamily="34" charset="-120"/>
              </a:rPr>
              <a:t>Thank you — Q&amp;A</a:t>
            </a:r>
            <a:endParaRPr lang="en-US" sz="2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2026-07-07T19:46:06Z</dcterms:created>
  <dcterms:modified xsi:type="dcterms:W3CDTF">2026-07-07T19:46:06Z</dcterms:modified>
</cp:coreProperties>
</file>